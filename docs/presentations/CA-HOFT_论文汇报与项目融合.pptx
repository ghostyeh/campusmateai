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14144-A7DE-4EA5-903E-C7C050FFCF75}" type="datetimeFigureOut">
              <a:rPr lang="zh-CN" altLang="en-US" smtClean="0"/>
              <a:t>2026/9/27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BBF577-EB26-4586-A9F9-85F6390EAED1}" type="slidenum">
              <a:rPr lang="zh-CN" altLang="en-US" smtClean="0"/>
              <a:t>‹#›</a:t>
            </a:fld>
            <a:endParaRPr lang="zh-CN" altLang="en-US"/>
          </a:p>
        </p:txBody>
      </p:sp>
    </p:spTree>
    <p:extLst>
      <p:ext uri="{BB962C8B-B14F-4D97-AF65-F5344CB8AC3E}">
        <p14:creationId xmlns:p14="http://schemas.microsoft.com/office/powerpoint/2010/main" val="794793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原论文：</a:t>
            </a:r>
            <a:r>
              <a:rPr lang="en-US" altLang="zh-CN"/>
              <a:t>Zhao et al., Sensors 2026, 26(17), 5500, DOI: 10.3390/s26175500</a:t>
            </a:r>
            <a:r>
              <a:rPr lang="zh-CN" altLang="en-US"/>
              <a:t>。项目依据：</a:t>
            </a:r>
            <a:r>
              <a:rPr lang="en-US" altLang="zh-CN"/>
              <a:t>CampusMateAI </a:t>
            </a:r>
            <a:r>
              <a:rPr lang="zh-CN" altLang="en-US"/>
              <a:t>仓库 </a:t>
            </a:r>
            <a:r>
              <a:rPr lang="en-US" altLang="zh-CN"/>
              <a:t>README </a:t>
            </a:r>
            <a:r>
              <a:rPr lang="zh-CN" altLang="en-US"/>
              <a:t>与 </a:t>
            </a:r>
            <a:r>
              <a:rPr lang="en-US" altLang="zh-CN"/>
              <a:t>ml/expression_recognition/README.md</a:t>
            </a:r>
            <a:r>
              <a:rPr lang="zh-CN" altLang="en-US"/>
              <a:t>。</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a:t>
            </a:fld>
            <a:endParaRPr lang="zh-CN" altLang="en-US"/>
          </a:p>
        </p:txBody>
      </p:sp>
    </p:spTree>
    <p:extLst>
      <p:ext uri="{BB962C8B-B14F-4D97-AF65-F5344CB8AC3E}">
        <p14:creationId xmlns:p14="http://schemas.microsoft.com/office/powerpoint/2010/main" val="869268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先说明问题：口罩、手、头发遮挡表情线索，强遮挡训练又可能损害正常图像准确率。论文让一个固定教师在非 </a:t>
            </a:r>
            <a:r>
              <a:rPr lang="en-US" altLang="zh-CN"/>
              <a:t>HardMix </a:t>
            </a:r>
            <a:r>
              <a:rPr lang="zh-CN" altLang="en-US"/>
              <a:t>视图提供参考，并保留干净标签监督。结果是指定协议下的均值，不代表任何移动端现成效果。</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2</a:t>
            </a:fld>
            <a:endParaRPr lang="zh-CN" altLang="en-US"/>
          </a:p>
        </p:txBody>
      </p:sp>
    </p:spTree>
    <p:extLst>
      <p:ext uri="{BB962C8B-B14F-4D97-AF65-F5344CB8AC3E}">
        <p14:creationId xmlns:p14="http://schemas.microsoft.com/office/powerpoint/2010/main" val="3308280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可把难点分为证据缺失与分布偏移两层。随机擦除能产生缺失，但不一定遮住表情相关区域。专门的重建、注意力方案可能增加推理组件。</a:t>
            </a:r>
            <a:r>
              <a:rPr lang="en-US" altLang="zh-CN"/>
              <a:t>CA-HOFT </a:t>
            </a:r>
            <a:r>
              <a:rPr lang="zh-CN" altLang="en-US"/>
              <a:t>把额外复杂度放在训练中，既学习遮挡视图，又用原图标签和教师分布约束漂移。</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3</a:t>
            </a:fld>
            <a:endParaRPr lang="zh-CN" altLang="en-US"/>
          </a:p>
        </p:txBody>
      </p:sp>
    </p:spTree>
    <p:extLst>
      <p:ext uri="{BB962C8B-B14F-4D97-AF65-F5344CB8AC3E}">
        <p14:creationId xmlns:p14="http://schemas.microsoft.com/office/powerpoint/2010/main" val="1068455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第一阶段 </a:t>
            </a:r>
            <a:r>
              <a:rPr lang="en-US" altLang="zh-CN"/>
              <a:t>Strong Clean 80 </a:t>
            </a:r>
            <a:r>
              <a:rPr lang="zh-CN" altLang="en-US"/>
              <a:t>轮建立基础分类能力，通用增强仍可能含低概率随机擦除。第二阶段 </a:t>
            </a:r>
            <a:r>
              <a:rPr lang="en-US" altLang="zh-CN"/>
              <a:t>Mixed FT 30 </a:t>
            </a:r>
            <a:r>
              <a:rPr lang="zh-CN" altLang="en-US"/>
              <a:t>轮用八种遮挡模式接触遮挡，最终检查点同时初始化学生和固定教师。第三阶段 </a:t>
            </a:r>
            <a:r>
              <a:rPr lang="en-US" altLang="zh-CN"/>
              <a:t>CA-HOFT 24 </a:t>
            </a:r>
            <a:r>
              <a:rPr lang="zh-CN" altLang="en-US"/>
              <a:t>轮用更难的六模式 </a:t>
            </a:r>
            <a:r>
              <a:rPr lang="en-US" altLang="zh-CN"/>
              <a:t>HardMix </a:t>
            </a:r>
            <a:r>
              <a:rPr lang="zh-CN" altLang="en-US"/>
              <a:t>与四项损失训练学生。</a:t>
            </a:r>
            <a:r>
              <a:rPr lang="en-US" altLang="zh-CN"/>
              <a:t>Recovery FT </a:t>
            </a:r>
            <a:r>
              <a:rPr lang="zh-CN" altLang="en-US"/>
              <a:t>不是默认训练序列。</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4</a:t>
            </a:fld>
            <a:endParaRPr lang="zh-CN" altLang="en-US"/>
          </a:p>
        </p:txBody>
      </p:sp>
    </p:spTree>
    <p:extLst>
      <p:ext uri="{BB962C8B-B14F-4D97-AF65-F5344CB8AC3E}">
        <p14:creationId xmlns:p14="http://schemas.microsoft.com/office/powerpoint/2010/main" val="2502197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HardMix </a:t>
            </a:r>
            <a:r>
              <a:rPr lang="zh-CN" altLang="en-US"/>
              <a:t>指六种强遮挡模式的概率混合，完全不是 </a:t>
            </a:r>
            <a:r>
              <a:rPr lang="en-US" altLang="zh-CN"/>
              <a:t>CutMix </a:t>
            </a:r>
            <a:r>
              <a:rPr lang="zh-CN" altLang="en-US"/>
              <a:t>那种跨样本拼接，也不混合标签。遮挡激活后，口罩式 </a:t>
            </a:r>
            <a:r>
              <a:rPr lang="en-US" altLang="zh-CN"/>
              <a:t>35%</a:t>
            </a:r>
            <a:r>
              <a:rPr lang="zh-CN" altLang="en-US"/>
              <a:t>，口部和眼部各 </a:t>
            </a:r>
            <a:r>
              <a:rPr lang="en-US" altLang="zh-CN"/>
              <a:t>20%</a:t>
            </a:r>
            <a:r>
              <a:rPr lang="zh-CN" altLang="en-US"/>
              <a:t>，半脸和随机块各 </a:t>
            </a:r>
            <a:r>
              <a:rPr lang="en-US" altLang="zh-CN"/>
              <a:t>10%</a:t>
            </a:r>
            <a:r>
              <a:rPr lang="zh-CN" altLang="en-US"/>
              <a:t>，随机区域 </a:t>
            </a:r>
            <a:r>
              <a:rPr lang="en-US" altLang="zh-CN"/>
              <a:t>5%</a:t>
            </a:r>
            <a:r>
              <a:rPr lang="zh-CN" altLang="en-US"/>
              <a:t>。随机区域再从眉、眼、鼻、口四个位置选取。每轮在线重新采样。</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5</a:t>
            </a:fld>
            <a:endParaRPr lang="zh-CN" altLang="en-US"/>
          </a:p>
        </p:txBody>
      </p:sp>
    </p:spTree>
    <p:extLst>
      <p:ext uri="{BB962C8B-B14F-4D97-AF65-F5344CB8AC3E}">
        <p14:creationId xmlns:p14="http://schemas.microsoft.com/office/powerpoint/2010/main" val="2869156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同一张带标签源人脸先共享随机水平翻转，再产生非 </a:t>
            </a:r>
            <a:r>
              <a:rPr lang="en-US" altLang="zh-CN"/>
              <a:t>HardMix </a:t>
            </a:r>
            <a:r>
              <a:rPr lang="zh-CN" altLang="en-US"/>
              <a:t>视图 </a:t>
            </a:r>
            <a:r>
              <a:rPr lang="en-US" altLang="zh-CN"/>
              <a:t>x </a:t>
            </a:r>
            <a:r>
              <a:rPr lang="zh-CN" altLang="en-US"/>
              <a:t>与 </a:t>
            </a:r>
            <a:r>
              <a:rPr lang="en-US" altLang="zh-CN"/>
              <a:t>HardMix </a:t>
            </a:r>
            <a:r>
              <a:rPr lang="zh-CN" altLang="en-US"/>
              <a:t>视图 </a:t>
            </a:r>
            <a:r>
              <a:rPr lang="en-US" altLang="zh-CN"/>
              <a:t>x̃</a:t>
            </a:r>
            <a:r>
              <a:rPr lang="zh-CN" altLang="en-US"/>
              <a:t>。两分支随后有各自的增强，因此不是像素级配准。学生是同一套权重，分别处理两视图；固定教师只看 </a:t>
            </a:r>
            <a:r>
              <a:rPr lang="en-US" altLang="zh-CN"/>
              <a:t>x</a:t>
            </a:r>
            <a:r>
              <a:rPr lang="zh-CN" altLang="en-US"/>
              <a:t>，输出作为两个学生预测的参考。非 </a:t>
            </a:r>
            <a:r>
              <a:rPr lang="en-US" altLang="zh-CN"/>
              <a:t>HardMix </a:t>
            </a:r>
            <a:r>
              <a:rPr lang="zh-CN" altLang="en-US"/>
              <a:t>分支仍可能有低概率随机擦除，不能称为绝对无扰动。</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6</a:t>
            </a:fld>
            <a:endParaRPr lang="zh-CN" altLang="en-US"/>
          </a:p>
        </p:txBody>
      </p:sp>
    </p:spTree>
    <p:extLst>
      <p:ext uri="{BB962C8B-B14F-4D97-AF65-F5344CB8AC3E}">
        <p14:creationId xmlns:p14="http://schemas.microsoft.com/office/powerpoint/2010/main" val="2426576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公式可逐项讲：干净交叉熵保住真实标签，遮挡交叉熵让缺失线索时仍预测正确；教师在干净视图的 </a:t>
            </a:r>
            <a:r>
              <a:rPr lang="en-US" altLang="zh-CN"/>
              <a:t>KL </a:t>
            </a:r>
            <a:r>
              <a:rPr lang="zh-CN" altLang="en-US"/>
              <a:t>保住旧模型的类别间软关系；跨视图 </a:t>
            </a:r>
            <a:r>
              <a:rPr lang="en-US" altLang="zh-CN"/>
              <a:t>KL </a:t>
            </a:r>
            <a:r>
              <a:rPr lang="zh-CN" altLang="en-US"/>
              <a:t>把同一参考传给遮挡预测。</a:t>
            </a:r>
            <a:r>
              <a:rPr lang="en-US" altLang="zh-CN"/>
              <a:t>KL </a:t>
            </a:r>
            <a:r>
              <a:rPr lang="zh-CN" altLang="en-US"/>
              <a:t>方向为教师到学生，教师停止梯度。论文的默认权重在 </a:t>
            </a:r>
            <a:r>
              <a:rPr lang="en-US" altLang="zh-CN"/>
              <a:t>CA-HOFT </a:t>
            </a:r>
            <a:r>
              <a:rPr lang="zh-CN" altLang="en-US"/>
              <a:t>中随阶段调节遮挡分类项，其余教师权重为 </a:t>
            </a:r>
            <a:r>
              <a:rPr lang="en-US" altLang="zh-CN"/>
              <a:t>0.60 </a:t>
            </a:r>
            <a:r>
              <a:rPr lang="zh-CN" altLang="en-US"/>
              <a:t>与 </a:t>
            </a:r>
            <a:r>
              <a:rPr lang="en-US" altLang="zh-CN"/>
              <a:t>0.25</a:t>
            </a:r>
            <a:r>
              <a:rPr lang="zh-CN" altLang="en-US"/>
              <a:t>。</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7</a:t>
            </a:fld>
            <a:endParaRPr lang="zh-CN" altLang="en-US"/>
          </a:p>
        </p:txBody>
      </p:sp>
    </p:spTree>
    <p:extLst>
      <p:ext uri="{BB962C8B-B14F-4D97-AF65-F5344CB8AC3E}">
        <p14:creationId xmlns:p14="http://schemas.microsoft.com/office/powerpoint/2010/main" val="3841627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论文输入 </a:t>
            </a:r>
            <a:r>
              <a:rPr lang="en-US" altLang="zh-CN"/>
              <a:t>224×224</a:t>
            </a:r>
            <a:r>
              <a:rPr lang="zh-CN" altLang="en-US"/>
              <a:t>，预训练权重来自 </a:t>
            </a:r>
            <a:r>
              <a:rPr lang="en-US" altLang="zh-CN"/>
              <a:t>MS-Celeb-1M</a:t>
            </a:r>
            <a:r>
              <a:rPr lang="zh-CN" altLang="en-US"/>
              <a:t>；</a:t>
            </a:r>
            <a:r>
              <a:rPr lang="en-US" altLang="zh-CN"/>
              <a:t>RAF-DB </a:t>
            </a:r>
            <a:r>
              <a:rPr lang="zh-CN" altLang="en-US"/>
              <a:t>七类，</a:t>
            </a:r>
            <a:r>
              <a:rPr lang="en-US" altLang="zh-CN"/>
              <a:t>AffectNet </a:t>
            </a:r>
            <a:r>
              <a:rPr lang="zh-CN" altLang="en-US"/>
              <a:t>八类。五次种子独立训练报告均值和样本标准差，种子 </a:t>
            </a:r>
            <a:r>
              <a:rPr lang="en-US" altLang="zh-CN"/>
              <a:t>42 </a:t>
            </a:r>
            <a:r>
              <a:rPr lang="zh-CN" altLang="en-US"/>
              <a:t>是预先指定的固定检查点。</a:t>
            </a:r>
            <a:r>
              <a:rPr lang="en-US" altLang="zh-CN"/>
              <a:t>Occlusion-RAF-DB </a:t>
            </a:r>
            <a:r>
              <a:rPr lang="zh-CN" altLang="en-US"/>
              <a:t>和 </a:t>
            </a:r>
            <a:r>
              <a:rPr lang="en-US" altLang="zh-CN"/>
              <a:t>Occl.-AffectNet </a:t>
            </a:r>
            <a:r>
              <a:rPr lang="zh-CN" altLang="en-US"/>
              <a:t>是天然遮挡子集。对象叠加仅测试，评估素材与规则开发素材分开。不要用测试集调参。</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8</a:t>
            </a:fld>
            <a:endParaRPr lang="zh-CN" altLang="en-US"/>
          </a:p>
        </p:txBody>
      </p:sp>
    </p:spTree>
    <p:extLst>
      <p:ext uri="{BB962C8B-B14F-4D97-AF65-F5344CB8AC3E}">
        <p14:creationId xmlns:p14="http://schemas.microsoft.com/office/powerpoint/2010/main" val="1756302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最重要的是读清比较条件：</a:t>
            </a:r>
            <a:r>
              <a:rPr lang="en-US" altLang="zh-CN"/>
              <a:t>24 </a:t>
            </a:r>
            <a:r>
              <a:rPr lang="zh-CN" altLang="en-US"/>
              <a:t>轮末阶段变体共享同一种子的 </a:t>
            </a:r>
            <a:r>
              <a:rPr lang="en-US" altLang="zh-CN"/>
              <a:t>Mixed FT </a:t>
            </a:r>
            <a:r>
              <a:rPr lang="zh-CN" altLang="en-US"/>
              <a:t>初始化、架构、划分和检查点规则，但没有匹配计算量。</a:t>
            </a:r>
            <a:r>
              <a:rPr lang="en-US" altLang="zh-CN"/>
              <a:t>CA-HOFT </a:t>
            </a:r>
            <a:r>
              <a:rPr lang="zh-CN" altLang="en-US"/>
              <a:t>对 </a:t>
            </a:r>
            <a:r>
              <a:rPr lang="en-US" altLang="zh-CN"/>
              <a:t>Mixed FT </a:t>
            </a:r>
            <a:r>
              <a:rPr lang="zh-CN" altLang="en-US"/>
              <a:t>干净准确率高 </a:t>
            </a:r>
            <a:r>
              <a:rPr lang="en-US" altLang="zh-CN"/>
              <a:t>0.61 </a:t>
            </a:r>
            <a:r>
              <a:rPr lang="zh-CN" altLang="en-US"/>
              <a:t>点，天然遮挡准确率高 </a:t>
            </a:r>
            <a:r>
              <a:rPr lang="en-US" altLang="zh-CN"/>
              <a:t>1.03 </a:t>
            </a:r>
            <a:r>
              <a:rPr lang="zh-CN" altLang="en-US"/>
              <a:t>点，宏平均 </a:t>
            </a:r>
            <a:r>
              <a:rPr lang="en-US" altLang="zh-CN"/>
              <a:t>F1 </a:t>
            </a:r>
            <a:r>
              <a:rPr lang="zh-CN" altLang="en-US"/>
              <a:t>高 </a:t>
            </a:r>
            <a:r>
              <a:rPr lang="en-US" altLang="zh-CN"/>
              <a:t>1.45 </a:t>
            </a:r>
            <a:r>
              <a:rPr lang="zh-CN" altLang="en-US"/>
              <a:t>点。</a:t>
            </a:r>
            <a:r>
              <a:rPr lang="en-US" altLang="zh-CN"/>
              <a:t>Mixed FT </a:t>
            </a:r>
            <a:r>
              <a:rPr lang="zh-CN" altLang="en-US"/>
              <a:t>是初始化参照，不是额外再跑 </a:t>
            </a:r>
            <a:r>
              <a:rPr lang="en-US" altLang="zh-CN"/>
              <a:t>24 </a:t>
            </a:r>
            <a:r>
              <a:rPr lang="zh-CN" altLang="en-US"/>
              <a:t>轮。</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9</a:t>
            </a:fld>
            <a:endParaRPr lang="zh-CN" altLang="en-US"/>
          </a:p>
        </p:txBody>
      </p:sp>
    </p:spTree>
    <p:extLst>
      <p:ext uri="{BB962C8B-B14F-4D97-AF65-F5344CB8AC3E}">
        <p14:creationId xmlns:p14="http://schemas.microsoft.com/office/powerpoint/2010/main" val="4172234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先看无教师 </a:t>
            </a:r>
            <a:r>
              <a:rPr lang="en-US" altLang="zh-CN"/>
              <a:t>HardMix</a:t>
            </a:r>
            <a:r>
              <a:rPr lang="zh-CN" altLang="en-US"/>
              <a:t>，它甚至弱于 </a:t>
            </a:r>
            <a:r>
              <a:rPr lang="en-US" altLang="zh-CN"/>
              <a:t>Mixed FT</a:t>
            </a:r>
            <a:r>
              <a:rPr lang="zh-CN" altLang="en-US"/>
              <a:t>，说明单靠更强的遮挡不足。仅加入干净视图教师或仅加入跨视图教师，指标均改善；两项合用最高。干净标签交叉熵的匹配比较见论文表 </a:t>
            </a:r>
            <a:r>
              <a:rPr lang="en-US" altLang="zh-CN"/>
              <a:t>9a </a:t>
            </a:r>
            <a:r>
              <a:rPr lang="zh-CN" altLang="en-US"/>
              <a:t>与 </a:t>
            </a:r>
            <a:r>
              <a:rPr lang="en-US" altLang="zh-CN"/>
              <a:t>9b</a:t>
            </a:r>
            <a:r>
              <a:rPr lang="zh-CN" altLang="en-US"/>
              <a:t>，增加后天然遮挡准确率提高 </a:t>
            </a:r>
            <a:r>
              <a:rPr lang="en-US" altLang="zh-CN"/>
              <a:t>1.03 </a:t>
            </a:r>
            <a:r>
              <a:rPr lang="zh-CN" altLang="en-US"/>
              <a:t>点。不过消融不是完整因子设计，不可把所有差值都解释为独立因果效应。</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10</a:t>
            </a:fld>
            <a:endParaRPr lang="zh-CN" altLang="en-US"/>
          </a:p>
        </p:txBody>
      </p:sp>
    </p:spTree>
    <p:extLst>
      <p:ext uri="{BB962C8B-B14F-4D97-AF65-F5344CB8AC3E}">
        <p14:creationId xmlns:p14="http://schemas.microsoft.com/office/powerpoint/2010/main" val="1250953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论文用眼镜、口罩、杯子、围巾、手机五类 </a:t>
            </a:r>
            <a:r>
              <a:rPr lang="en-US" altLang="zh-CN"/>
              <a:t>RGBA </a:t>
            </a:r>
            <a:r>
              <a:rPr lang="zh-CN" altLang="en-US"/>
              <a:t>素材只做测试。每类 </a:t>
            </a:r>
            <a:r>
              <a:rPr lang="en-US" altLang="zh-CN"/>
              <a:t>3 </a:t>
            </a:r>
            <a:r>
              <a:rPr lang="zh-CN" altLang="en-US"/>
              <a:t>个开发素材确定规则，另 </a:t>
            </a:r>
            <a:r>
              <a:rPr lang="en-US" altLang="zh-CN"/>
              <a:t>2 </a:t>
            </a:r>
            <a:r>
              <a:rPr lang="zh-CN" altLang="en-US"/>
              <a:t>个保留素材评估；所有检查点输入完全相同。</a:t>
            </a:r>
            <a:r>
              <a:rPr lang="en-US" altLang="zh-CN"/>
              <a:t>CA-HOFT </a:t>
            </a:r>
            <a:r>
              <a:rPr lang="zh-CN" altLang="en-US"/>
              <a:t>对象平均准确率比 </a:t>
            </a:r>
            <a:r>
              <a:rPr lang="en-US" altLang="zh-CN"/>
              <a:t>Strong Clean </a:t>
            </a:r>
            <a:r>
              <a:rPr lang="zh-CN" altLang="en-US"/>
              <a:t>高 </a:t>
            </a:r>
            <a:r>
              <a:rPr lang="en-US" altLang="zh-CN"/>
              <a:t>3.88 </a:t>
            </a:r>
            <a:r>
              <a:rPr lang="zh-CN" altLang="en-US"/>
              <a:t>点，</a:t>
            </a:r>
            <a:r>
              <a:rPr lang="en-US" altLang="zh-CN"/>
              <a:t>F1 </a:t>
            </a:r>
            <a:r>
              <a:rPr lang="zh-CN" altLang="en-US"/>
              <a:t>高 </a:t>
            </a:r>
            <a:r>
              <a:rPr lang="en-US" altLang="zh-CN"/>
              <a:t>4.51 </a:t>
            </a:r>
            <a:r>
              <a:rPr lang="zh-CN" altLang="en-US"/>
              <a:t>点。但类别间遮挡面积和不透明度没有匹配，因此不能把每类差异归因于材质。</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11</a:t>
            </a:fld>
            <a:endParaRPr lang="zh-CN" altLang="en-US"/>
          </a:p>
        </p:txBody>
      </p:sp>
    </p:spTree>
    <p:extLst>
      <p:ext uri="{BB962C8B-B14F-4D97-AF65-F5344CB8AC3E}">
        <p14:creationId xmlns:p14="http://schemas.microsoft.com/office/powerpoint/2010/main" val="1961652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AffectNet </a:t>
            </a:r>
            <a:r>
              <a:rPr lang="zh-CN" altLang="en-US"/>
              <a:t>八类实验使用一个固定检查点；</a:t>
            </a:r>
            <a:r>
              <a:rPr lang="en-US" altLang="zh-CN"/>
              <a:t>CA-HOFT </a:t>
            </a:r>
            <a:r>
              <a:rPr lang="zh-CN" altLang="en-US"/>
              <a:t>在 </a:t>
            </a:r>
            <a:r>
              <a:rPr lang="en-US" altLang="zh-CN"/>
              <a:t>682 </a:t>
            </a:r>
            <a:r>
              <a:rPr lang="zh-CN" altLang="en-US"/>
              <a:t>张 </a:t>
            </a:r>
            <a:r>
              <a:rPr lang="en-US" altLang="zh-CN"/>
              <a:t>Occl.-AffectNet </a:t>
            </a:r>
            <a:r>
              <a:rPr lang="zh-CN" altLang="en-US"/>
              <a:t>上准确率 </a:t>
            </a:r>
            <a:r>
              <a:rPr lang="en-US" altLang="zh-CN"/>
              <a:t>63.78%</a:t>
            </a:r>
            <a:r>
              <a:rPr lang="zh-CN" altLang="en-US"/>
              <a:t>、</a:t>
            </a:r>
            <a:r>
              <a:rPr lang="en-US" altLang="zh-CN"/>
              <a:t>F1 63.15%</a:t>
            </a:r>
            <a:r>
              <a:rPr lang="zh-CN" altLang="en-US"/>
              <a:t>。</a:t>
            </a:r>
            <a:r>
              <a:rPr lang="en-US" altLang="zh-CN"/>
              <a:t>FED-RO </a:t>
            </a:r>
            <a:r>
              <a:rPr lang="zh-CN" altLang="en-US"/>
              <a:t>直接迁移使用 </a:t>
            </a:r>
            <a:r>
              <a:rPr lang="en-US" altLang="zh-CN"/>
              <a:t>RAF-DB </a:t>
            </a:r>
            <a:r>
              <a:rPr lang="zh-CN" altLang="en-US"/>
              <a:t>模型，不用目标域标签；五折适应按样本而非身份划分，可能身份泄漏。两组协议不可互相比较，更不能推断手机前摄效果。</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12</a:t>
            </a:fld>
            <a:endParaRPr lang="zh-CN" altLang="en-US"/>
          </a:p>
        </p:txBody>
      </p:sp>
    </p:spTree>
    <p:extLst>
      <p:ext uri="{BB962C8B-B14F-4D97-AF65-F5344CB8AC3E}">
        <p14:creationId xmlns:p14="http://schemas.microsoft.com/office/powerpoint/2010/main" val="1248199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要主动向老师交代：</a:t>
            </a:r>
            <a:r>
              <a:rPr lang="en-US" altLang="zh-CN"/>
              <a:t>Occlusion-RAF-DB </a:t>
            </a:r>
            <a:r>
              <a:rPr lang="zh-CN" altLang="en-US"/>
              <a:t>固定检查点与所有对照的配对比较，经 </a:t>
            </a:r>
            <a:r>
              <a:rPr lang="en-US" altLang="zh-CN"/>
              <a:t>Holm </a:t>
            </a:r>
            <a:r>
              <a:rPr lang="zh-CN" altLang="en-US"/>
              <a:t>校正都不显著。</a:t>
            </a:r>
            <a:r>
              <a:rPr lang="en-US" altLang="zh-CN"/>
              <a:t>Occl.-AffectNet </a:t>
            </a:r>
            <a:r>
              <a:rPr lang="zh-CN" altLang="en-US"/>
              <a:t>中，仅相对 </a:t>
            </a:r>
            <a:r>
              <a:rPr lang="en-US" altLang="zh-CN"/>
              <a:t>Strong Clean </a:t>
            </a:r>
            <a:r>
              <a:rPr lang="zh-CN" altLang="en-US"/>
              <a:t>的准确率比较显著，</a:t>
            </a:r>
            <a:r>
              <a:rPr lang="en-US" altLang="zh-CN"/>
              <a:t>p=0.034</a:t>
            </a:r>
            <a:r>
              <a:rPr lang="zh-CN" altLang="en-US"/>
              <a:t>；</a:t>
            </a:r>
            <a:r>
              <a:rPr lang="en-US" altLang="zh-CN"/>
              <a:t>F1 </a:t>
            </a:r>
            <a:r>
              <a:rPr lang="zh-CN" altLang="en-US"/>
              <a:t>不显著。五次训练标准差与固定检查点配对检验衡量不同的不确定性。更大、更接近目标场景的测试是项目融合的关键。</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13</a:t>
            </a:fld>
            <a:endParaRPr lang="zh-CN" altLang="en-US"/>
          </a:p>
        </p:txBody>
      </p:sp>
    </p:spTree>
    <p:extLst>
      <p:ext uri="{BB962C8B-B14F-4D97-AF65-F5344CB8AC3E}">
        <p14:creationId xmlns:p14="http://schemas.microsoft.com/office/powerpoint/2010/main" val="1738332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部署图只有单个 </a:t>
            </a:r>
            <a:r>
              <a:rPr lang="en-US" altLang="zh-CN"/>
              <a:t>ResNet-18</a:t>
            </a:r>
            <a:r>
              <a:rPr lang="zh-CN" altLang="en-US"/>
              <a:t>，</a:t>
            </a:r>
            <a:r>
              <a:rPr lang="en-US" altLang="zh-CN"/>
              <a:t>11.18M </a:t>
            </a:r>
            <a:r>
              <a:rPr lang="zh-CN" altLang="en-US"/>
              <a:t>参数、</a:t>
            </a:r>
            <a:r>
              <a:rPr lang="en-US" altLang="zh-CN"/>
              <a:t>1.814 GMAC</a:t>
            </a:r>
            <a:r>
              <a:rPr lang="zh-CN" altLang="en-US"/>
              <a:t>。作者硬件下 </a:t>
            </a:r>
            <a:r>
              <a:rPr lang="en-US" altLang="zh-CN"/>
              <a:t>GPU FP32 3.177±0.070ms</a:t>
            </a:r>
            <a:r>
              <a:rPr lang="zh-CN" altLang="en-US"/>
              <a:t>、</a:t>
            </a:r>
            <a:r>
              <a:rPr lang="en-US" altLang="zh-CN"/>
              <a:t>CPU </a:t>
            </a:r>
            <a:r>
              <a:rPr lang="zh-CN" altLang="en-US"/>
              <a:t>八线程 </a:t>
            </a:r>
            <a:r>
              <a:rPr lang="en-US" altLang="zh-CN"/>
              <a:t>14.308±0.858ms</a:t>
            </a:r>
            <a:r>
              <a:rPr lang="zh-CN" altLang="en-US"/>
              <a:t>；这些是批量 </a:t>
            </a:r>
            <a:r>
              <a:rPr lang="en-US" altLang="zh-CN"/>
              <a:t>1 </a:t>
            </a:r>
            <a:r>
              <a:rPr lang="zh-CN" altLang="en-US"/>
              <a:t>的网络前向，不含人脸检测、图像解码、预处理和拷贝。</a:t>
            </a:r>
            <a:r>
              <a:rPr lang="en-US" altLang="zh-CN"/>
              <a:t>CA-HOFT </a:t>
            </a:r>
            <a:r>
              <a:rPr lang="zh-CN" altLang="en-US"/>
              <a:t>每轮 </a:t>
            </a:r>
            <a:r>
              <a:rPr lang="en-US" altLang="zh-CN"/>
              <a:t>4.63 </a:t>
            </a:r>
            <a:r>
              <a:rPr lang="zh-CN" altLang="en-US"/>
              <a:t>分钟，比 </a:t>
            </a:r>
            <a:r>
              <a:rPr lang="en-US" altLang="zh-CN"/>
              <a:t>Mixed FT </a:t>
            </a:r>
            <a:r>
              <a:rPr lang="zh-CN" altLang="en-US"/>
              <a:t>的 </a:t>
            </a:r>
            <a:r>
              <a:rPr lang="en-US" altLang="zh-CN"/>
              <a:t>3.65 </a:t>
            </a:r>
            <a:r>
              <a:rPr lang="zh-CN" altLang="en-US"/>
              <a:t>分钟更贵。手机端延迟必须重新测量。</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14</a:t>
            </a:fld>
            <a:endParaRPr lang="zh-CN" altLang="en-US"/>
          </a:p>
        </p:txBody>
      </p:sp>
    </p:spTree>
    <p:extLst>
      <p:ext uri="{BB962C8B-B14F-4D97-AF65-F5344CB8AC3E}">
        <p14:creationId xmlns:p14="http://schemas.microsoft.com/office/powerpoint/2010/main" val="3964745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项目已有七类表情识别训练、评估、</a:t>
            </a:r>
            <a:r>
              <a:rPr lang="en-US" altLang="zh-CN"/>
              <a:t>LiteRT </a:t>
            </a:r>
            <a:r>
              <a:rPr lang="zh-CN" altLang="en-US"/>
              <a:t>导出和 </a:t>
            </a:r>
            <a:r>
              <a:rPr lang="en-US" altLang="zh-CN"/>
              <a:t>Android </a:t>
            </a:r>
            <a:r>
              <a:rPr lang="zh-CN" altLang="en-US"/>
              <a:t>资产生成。固定输入是 </a:t>
            </a:r>
            <a:r>
              <a:rPr lang="en-US" altLang="zh-CN"/>
              <a:t>1×96×96×3 RGB float32</a:t>
            </a:r>
            <a:r>
              <a:rPr lang="zh-CN" altLang="en-US"/>
              <a:t>，</a:t>
            </a:r>
            <a:r>
              <a:rPr lang="en-US" altLang="zh-CN"/>
              <a:t>ImageNet </a:t>
            </a:r>
            <a:r>
              <a:rPr lang="zh-CN" altLang="en-US"/>
              <a:t>均值方差；</a:t>
            </a:r>
            <a:r>
              <a:rPr lang="en-US" altLang="zh-CN"/>
              <a:t>NO_FACE </a:t>
            </a:r>
            <a:r>
              <a:rPr lang="zh-CN" altLang="en-US"/>
              <a:t>由人脸检测产生，</a:t>
            </a:r>
            <a:r>
              <a:rPr lang="en-US" altLang="zh-CN"/>
              <a:t>UNKNOWN </a:t>
            </a:r>
            <a:r>
              <a:rPr lang="zh-CN" altLang="en-US"/>
              <a:t>由置信度和稳定性等门槛产生。</a:t>
            </a:r>
            <a:r>
              <a:rPr lang="en-US" altLang="zh-CN"/>
              <a:t>Android </a:t>
            </a:r>
            <a:r>
              <a:rPr lang="zh-CN" altLang="en-US"/>
              <a:t>与 </a:t>
            </a:r>
            <a:r>
              <a:rPr lang="en-US" altLang="zh-CN"/>
              <a:t>HarmonyOS </a:t>
            </a:r>
            <a:r>
              <a:rPr lang="zh-CN" altLang="en-US"/>
              <a:t>本地相机链路接入表情信号，后端只接受经过控制的标签与置信度。它是可观察表情，不是心理诊断或专注程度。</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15</a:t>
            </a:fld>
            <a:endParaRPr lang="zh-CN" altLang="en-US"/>
          </a:p>
        </p:txBody>
      </p:sp>
    </p:spTree>
    <p:extLst>
      <p:ext uri="{BB962C8B-B14F-4D97-AF65-F5344CB8AC3E}">
        <p14:creationId xmlns:p14="http://schemas.microsoft.com/office/powerpoint/2010/main" val="2402905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仓库已有 </a:t>
            </a:r>
            <a:r>
              <a:rPr lang="en-US" altLang="zh-CN"/>
              <a:t>occlusion_experiment.py</a:t>
            </a:r>
            <a:r>
              <a:rPr lang="zh-CN" altLang="en-US"/>
              <a:t>，复用现有 </a:t>
            </a:r>
            <a:r>
              <a:rPr lang="en-US" altLang="zh-CN"/>
              <a:t>checkpoint </a:t>
            </a:r>
            <a:r>
              <a:rPr lang="zh-CN" altLang="en-US"/>
              <a:t>和清单，比较仅遮挡 </a:t>
            </a:r>
            <a:r>
              <a:rPr lang="en-US" altLang="zh-CN"/>
              <a:t>CE </a:t>
            </a:r>
            <a:r>
              <a:rPr lang="zh-CN" altLang="en-US"/>
              <a:t>与干净标签加固定教师目标，并在固定验证遮挡上报告准确率和 </a:t>
            </a:r>
            <a:r>
              <a:rPr lang="en-US" altLang="zh-CN"/>
              <a:t>F1</a:t>
            </a:r>
            <a:r>
              <a:rPr lang="zh-CN" altLang="en-US"/>
              <a:t>。这是论文思想的受控改造，不能说是原论文复现：掩码只有眼</a:t>
            </a:r>
            <a:r>
              <a:rPr lang="en-US" altLang="zh-CN"/>
              <a:t>/</a:t>
            </a:r>
            <a:r>
              <a:rPr lang="zh-CN" altLang="en-US"/>
              <a:t>口</a:t>
            </a:r>
            <a:r>
              <a:rPr lang="en-US" altLang="zh-CN"/>
              <a:t>/</a:t>
            </a:r>
            <a:r>
              <a:rPr lang="zh-CN" altLang="en-US"/>
              <a:t>随机三类近似；教师两项 </a:t>
            </a:r>
            <a:r>
              <a:rPr lang="en-US" altLang="zh-CN"/>
              <a:t>KL </a:t>
            </a:r>
            <a:r>
              <a:rPr lang="zh-CN" altLang="en-US"/>
              <a:t>使用同一 </a:t>
            </a:r>
            <a:r>
              <a:rPr lang="en-US" altLang="zh-CN"/>
              <a:t>0.5 </a:t>
            </a:r>
            <a:r>
              <a:rPr lang="zh-CN" altLang="en-US"/>
              <a:t>权重；输入 </a:t>
            </a:r>
            <a:r>
              <a:rPr lang="en-US" altLang="zh-CN"/>
              <a:t>96px</a:t>
            </a:r>
            <a:r>
              <a:rPr lang="zh-CN" altLang="en-US"/>
              <a:t>；数据集来自统一清单；训练安排和论文不同。当前仓库未见随仓库保存的比较结果，</a:t>
            </a:r>
            <a:r>
              <a:rPr lang="en-US" altLang="zh-CN"/>
              <a:t>PPT</a:t>
            </a:r>
            <a:r>
              <a:rPr lang="zh-CN" altLang="en-US"/>
              <a:t>不填写项目实测数值。</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16</a:t>
            </a:fld>
            <a:endParaRPr lang="zh-CN" altLang="en-US"/>
          </a:p>
        </p:txBody>
      </p:sp>
    </p:spTree>
    <p:extLst>
      <p:ext uri="{BB962C8B-B14F-4D97-AF65-F5344CB8AC3E}">
        <p14:creationId xmlns:p14="http://schemas.microsoft.com/office/powerpoint/2010/main" val="31182356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建议沿用项目现有七类标签、统一清单、训练服务和模型导出，不修改公开 </a:t>
            </a:r>
            <a:r>
              <a:rPr lang="en-US" altLang="zh-CN"/>
              <a:t>API </a:t>
            </a:r>
            <a:r>
              <a:rPr lang="zh-CN" altLang="en-US"/>
              <a:t>与数据库结构。先运行现有两臂基线，确认固定掩码一致与 </a:t>
            </a:r>
            <a:r>
              <a:rPr lang="en-US" altLang="zh-CN"/>
              <a:t>checkpoint </a:t>
            </a:r>
            <a:r>
              <a:rPr lang="zh-CN" altLang="en-US"/>
              <a:t>可复现；再新增六模式 </a:t>
            </a:r>
            <a:r>
              <a:rPr lang="en-US" altLang="zh-CN"/>
              <a:t>HardMix </a:t>
            </a:r>
            <a:r>
              <a:rPr lang="zh-CN" altLang="en-US"/>
              <a:t>和独立教师权重的实验变体；统一训练轮数，并记录实际 </a:t>
            </a:r>
            <a:r>
              <a:rPr lang="en-US" altLang="zh-CN"/>
              <a:t>GPU </a:t>
            </a:r>
            <a:r>
              <a:rPr lang="zh-CN" altLang="en-US"/>
              <a:t>时间与显存。目标数据需要按身份分组，避免同一人跨 </a:t>
            </a:r>
            <a:r>
              <a:rPr lang="en-US" altLang="zh-CN"/>
              <a:t>train/validation/test</a:t>
            </a:r>
            <a:r>
              <a:rPr lang="zh-CN" altLang="en-US"/>
              <a:t>。</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17</a:t>
            </a:fld>
            <a:endParaRPr lang="zh-CN" altLang="en-US"/>
          </a:p>
        </p:txBody>
      </p:sp>
    </p:spTree>
    <p:extLst>
      <p:ext uri="{BB962C8B-B14F-4D97-AF65-F5344CB8AC3E}">
        <p14:creationId xmlns:p14="http://schemas.microsoft.com/office/powerpoint/2010/main" val="18854994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目标域尽量采集用户授权的前置摄像头样本，标注身份、设备、光照、姿态与遮挡类型。训练</a:t>
            </a:r>
            <a:r>
              <a:rPr lang="en-US" altLang="zh-CN"/>
              <a:t>/</a:t>
            </a:r>
            <a:r>
              <a:rPr lang="zh-CN" altLang="en-US"/>
              <a:t>验证</a:t>
            </a:r>
            <a:r>
              <a:rPr lang="en-US" altLang="zh-CN"/>
              <a:t>/</a:t>
            </a:r>
            <a:r>
              <a:rPr lang="zh-CN" altLang="en-US"/>
              <a:t>测试按身份隔离，先用验证集选超参数和门槛，锁定后只在测试集评估一次。合成遮挡与真实遮挡都需要测，且同时保留干净图性能。测多次训练均值和配对置信区间，另外看 </a:t>
            </a:r>
            <a:r>
              <a:rPr lang="en-US" altLang="zh-CN"/>
              <a:t>UNKNOWN </a:t>
            </a:r>
            <a:r>
              <a:rPr lang="zh-CN" altLang="en-US"/>
              <a:t>覆盖率、误触发和端到端延迟。</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18</a:t>
            </a:fld>
            <a:endParaRPr lang="zh-CN" altLang="en-US"/>
          </a:p>
        </p:txBody>
      </p:sp>
    </p:spTree>
    <p:extLst>
      <p:ext uri="{BB962C8B-B14F-4D97-AF65-F5344CB8AC3E}">
        <p14:creationId xmlns:p14="http://schemas.microsoft.com/office/powerpoint/2010/main" val="2312968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新模型只应替换端侧模型资产及元数据，经原有七类顺序、输入形状、归一化和 </a:t>
            </a:r>
            <a:r>
              <a:rPr lang="en-US" altLang="zh-CN"/>
              <a:t>logits </a:t>
            </a:r>
            <a:r>
              <a:rPr lang="zh-CN" altLang="en-US"/>
              <a:t>对齐验证后再部署。</a:t>
            </a:r>
            <a:r>
              <a:rPr lang="en-US" altLang="zh-CN"/>
              <a:t>Android </a:t>
            </a:r>
            <a:r>
              <a:rPr lang="zh-CN" altLang="en-US"/>
              <a:t>保留 </a:t>
            </a:r>
            <a:r>
              <a:rPr lang="en-US" altLang="zh-CN"/>
              <a:t>ML Kit </a:t>
            </a:r>
            <a:r>
              <a:rPr lang="zh-CN" altLang="en-US"/>
              <a:t>人脸检测、</a:t>
            </a:r>
            <a:r>
              <a:rPr lang="en-US" altLang="zh-CN"/>
              <a:t>NO_FACE </a:t>
            </a:r>
            <a:r>
              <a:rPr lang="zh-CN" altLang="en-US"/>
              <a:t>与 </a:t>
            </a:r>
            <a:r>
              <a:rPr lang="en-US" altLang="zh-CN"/>
              <a:t>UNKNOWN</a:t>
            </a:r>
            <a:r>
              <a:rPr lang="zh-CN" altLang="en-US"/>
              <a:t>；</a:t>
            </a:r>
            <a:r>
              <a:rPr lang="en-US" altLang="zh-CN"/>
              <a:t>HarmonyOS </a:t>
            </a:r>
            <a:r>
              <a:rPr lang="zh-CN" altLang="en-US"/>
              <a:t>需转换并验证 </a:t>
            </a:r>
            <a:r>
              <a:rPr lang="en-US" altLang="zh-CN"/>
              <a:t>MindSpore </a:t>
            </a:r>
            <a:r>
              <a:rPr lang="zh-CN" altLang="en-US"/>
              <a:t>输入输出。后端继续只接收稳定标签与置信度，不上传原始相机帧，也不把表情当成真实情绪或学习效果。逐端灰度，验证真实设备在遮挡、低光和姿态变化下的误触发。</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19</a:t>
            </a:fld>
            <a:endParaRPr lang="zh-CN" altLang="en-US"/>
          </a:p>
        </p:txBody>
      </p:sp>
    </p:spTree>
    <p:extLst>
      <p:ext uri="{BB962C8B-B14F-4D97-AF65-F5344CB8AC3E}">
        <p14:creationId xmlns:p14="http://schemas.microsoft.com/office/powerpoint/2010/main" val="22121932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向老师汇报时可把贡献表述为把训练期干净锚定策略迁移到校园学习助手的端侧表情观察场景，并检验 </a:t>
            </a:r>
            <a:r>
              <a:rPr lang="en-US" altLang="zh-CN"/>
              <a:t>96px</a:t>
            </a:r>
            <a:r>
              <a:rPr lang="zh-CN" altLang="en-US"/>
              <a:t>、不同设备、真实遮挡和质量门槛下是否仍有效。不要声称发明 </a:t>
            </a:r>
            <a:r>
              <a:rPr lang="en-US" altLang="zh-CN"/>
              <a:t>CA-HOFT</a:t>
            </a:r>
            <a:r>
              <a:rPr lang="zh-CN" altLang="en-US"/>
              <a:t>，也不要声称已完成目标域提升。先完成离线受控实验，再做真实遮挡数据，最后推进手机端性能和交互验收。</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20</a:t>
            </a:fld>
            <a:endParaRPr lang="zh-CN" altLang="en-US"/>
          </a:p>
        </p:txBody>
      </p:sp>
    </p:spTree>
    <p:extLst>
      <p:ext uri="{BB962C8B-B14F-4D97-AF65-F5344CB8AC3E}">
        <p14:creationId xmlns:p14="http://schemas.microsoft.com/office/powerpoint/2010/main" val="26282270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一问：是否完全复现论文？答：目前仓库只有思想借鉴的离线两臂实验，</a:t>
            </a:r>
            <a:r>
              <a:rPr lang="en-US" altLang="zh-CN"/>
              <a:t>96px</a:t>
            </a:r>
            <a:r>
              <a:rPr lang="zh-CN" altLang="en-US"/>
              <a:t>、数据和掩码策略不同。二问：论文是否证明显著优于全部方法？答：没有，</a:t>
            </a:r>
            <a:r>
              <a:rPr lang="en-US" altLang="zh-CN"/>
              <a:t>Occlusion-RAF-DB </a:t>
            </a:r>
            <a:r>
              <a:rPr lang="zh-CN" altLang="en-US"/>
              <a:t>固定检查点经 </a:t>
            </a:r>
            <a:r>
              <a:rPr lang="en-US" altLang="zh-CN"/>
              <a:t>Holm </a:t>
            </a:r>
            <a:r>
              <a:rPr lang="zh-CN" altLang="en-US"/>
              <a:t>校正后不显著，跨论文协议也不同。三问：怎样保证系统价值？答：用目标域身份隔离测试、保留干净图准确率、减少 </a:t>
            </a:r>
            <a:r>
              <a:rPr lang="en-US" altLang="zh-CN"/>
              <a:t>UNKNOWN </a:t>
            </a:r>
            <a:r>
              <a:rPr lang="zh-CN" altLang="en-US"/>
              <a:t>和误触发，并完成端侧全链路测试。</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21</a:t>
            </a:fld>
            <a:endParaRPr lang="zh-CN" altLang="en-US"/>
          </a:p>
        </p:txBody>
      </p:sp>
    </p:spTree>
    <p:extLst>
      <p:ext uri="{BB962C8B-B14F-4D97-AF65-F5344CB8AC3E}">
        <p14:creationId xmlns:p14="http://schemas.microsoft.com/office/powerpoint/2010/main" val="2887549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结论是训练期方法具有项目适配价值，尤其适合保持单骨干端侧推理的现有架构；是否对 </a:t>
            </a:r>
            <a:r>
              <a:rPr lang="en-US" altLang="zh-CN"/>
              <a:t>CampusMateAI </a:t>
            </a:r>
            <a:r>
              <a:rPr lang="zh-CN" altLang="en-US"/>
              <a:t>有实测收益仍需完成目标域对照。文献页：</a:t>
            </a:r>
            <a:r>
              <a:rPr lang="en-US" altLang="zh-CN"/>
              <a:t>https://www.mdpi.com/1424-8220/26/17/5500</a:t>
            </a:r>
            <a:r>
              <a:rPr lang="zh-CN" altLang="en-US"/>
              <a:t>。项目关键文件：</a:t>
            </a:r>
            <a:r>
              <a:rPr lang="en-US" altLang="zh-CN"/>
              <a:t>ml/expression_recognition/README.md</a:t>
            </a:r>
            <a:r>
              <a:rPr lang="zh-CN" altLang="en-US"/>
              <a:t>、</a:t>
            </a:r>
            <a:r>
              <a:rPr lang="en-US" altLang="zh-CN"/>
              <a:t>src/expression_recognition/occlusion_experiment.py</a:t>
            </a:r>
            <a:r>
              <a:rPr lang="zh-CN" altLang="en-US"/>
              <a:t>、</a:t>
            </a:r>
            <a:r>
              <a:rPr lang="en-US" altLang="zh-CN"/>
              <a:t>android/README.md</a:t>
            </a:r>
            <a:r>
              <a:rPr lang="zh-CN" altLang="en-US"/>
              <a:t>、</a:t>
            </a:r>
            <a:r>
              <a:rPr lang="en-US" altLang="zh-CN"/>
              <a:t>harmony/README.md</a:t>
            </a:r>
            <a:r>
              <a:rPr lang="zh-CN" altLang="en-US"/>
              <a:t>、</a:t>
            </a:r>
            <a:r>
              <a:rPr lang="en-US" altLang="zh-CN"/>
              <a:t>backend/app/services/emotion_context.py</a:t>
            </a:r>
            <a:r>
              <a:rPr lang="zh-CN" altLang="en-US"/>
              <a:t>。</a:t>
            </a:r>
          </a:p>
        </p:txBody>
      </p:sp>
      <p:sp>
        <p:nvSpPr>
          <p:cNvPr id="4" name="灯片编号占位符 3"/>
          <p:cNvSpPr>
            <a:spLocks noGrp="1"/>
          </p:cNvSpPr>
          <p:nvPr>
            <p:ph type="sldNum" sz="quarter" idx="5"/>
          </p:nvPr>
        </p:nvSpPr>
        <p:spPr/>
        <p:txBody>
          <a:bodyPr/>
          <a:lstStyle/>
          <a:p>
            <a:fld id="{0DBBF577-EB26-4586-A9F9-85F6390EAED1}" type="slidenum">
              <a:rPr lang="zh-CN" altLang="en-US" smtClean="0"/>
              <a:t>22</a:t>
            </a:fld>
            <a:endParaRPr lang="zh-CN" altLang="en-US"/>
          </a:p>
        </p:txBody>
      </p:sp>
    </p:spTree>
    <p:extLst>
      <p:ext uri="{BB962C8B-B14F-4D97-AF65-F5344CB8AC3E}">
        <p14:creationId xmlns:p14="http://schemas.microsoft.com/office/powerpoint/2010/main" val="499708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C2E270-450C-8164-6FFB-0DCC85371F3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A634163-4FAC-821F-DA94-65C8951CA0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44711DC-EAF2-8DA3-1A38-CADA0A293EF9}"/>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5" name="页脚占位符 4">
            <a:extLst>
              <a:ext uri="{FF2B5EF4-FFF2-40B4-BE49-F238E27FC236}">
                <a16:creationId xmlns:a16="http://schemas.microsoft.com/office/drawing/2014/main" id="{B6A12F16-ACFF-7A13-36BD-9B8F13B00E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9B335E-30A7-6D66-5866-7E24485E313D}"/>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4229913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AE7ED6-A158-2F87-0A3B-2F2D09DB321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A5D734D-7BD4-A091-67CD-0C26871BA8C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283A815-DB6F-B944-FD79-D9E40A563360}"/>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5" name="页脚占位符 4">
            <a:extLst>
              <a:ext uri="{FF2B5EF4-FFF2-40B4-BE49-F238E27FC236}">
                <a16:creationId xmlns:a16="http://schemas.microsoft.com/office/drawing/2014/main" id="{38B45EE1-0336-0C12-F847-98359C56AA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17DC65-84EF-4ACC-F0C2-9C95038AEE1D}"/>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4111186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A9BF9C-CF80-B76A-517F-9670E2DF0C2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24AE3B4-8251-2D67-6A95-9AD9F9DF11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13B49CC-8853-B490-2C43-D721E325D0B9}"/>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5" name="页脚占位符 4">
            <a:extLst>
              <a:ext uri="{FF2B5EF4-FFF2-40B4-BE49-F238E27FC236}">
                <a16:creationId xmlns:a16="http://schemas.microsoft.com/office/drawing/2014/main" id="{AB891EA7-F0A4-9244-DE74-1347F7F507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8B948B6-CDCA-D01D-407F-E0618083C314}"/>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432348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06DF5D-E338-BF82-1C64-C96B6003888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33D6E73-C483-0165-18B7-BE2E0A5544A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E9B5A6A-3C53-7205-324B-52132C3CAD0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6D9EE51-E1C6-2AE2-4974-E085B8C40F3D}"/>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6" name="页脚占位符 5">
            <a:extLst>
              <a:ext uri="{FF2B5EF4-FFF2-40B4-BE49-F238E27FC236}">
                <a16:creationId xmlns:a16="http://schemas.microsoft.com/office/drawing/2014/main" id="{17EE06B6-0BFB-DD80-E707-0CDBCC07E29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0CB2EA-7830-1595-4892-50D06796603B}"/>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102336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DCF06F-C26D-D2EB-08FD-ECFA1833590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ECFDCD3-5AB6-BFC2-4E6F-DFE8CE2C72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2AEA974-AE2B-D3FF-DC28-19A5DD52730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BC92CE9-A60E-FEB1-E442-2630E478C0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2A87B75-3B05-1F8E-855E-E15D121B706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E7EFC16-4CBC-16F8-9172-E9820B0ADBE4}"/>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8" name="页脚占位符 7">
            <a:extLst>
              <a:ext uri="{FF2B5EF4-FFF2-40B4-BE49-F238E27FC236}">
                <a16:creationId xmlns:a16="http://schemas.microsoft.com/office/drawing/2014/main" id="{6F51BD67-B311-3952-CC91-C010636027E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C0ED15F-B4D6-61EC-4C54-8DD6BA05893B}"/>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3942044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DF3ECA-91B8-C429-E498-812FFC89DEA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15F7A70-363E-AE65-AF25-948BAEA70444}"/>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4" name="页脚占位符 3">
            <a:extLst>
              <a:ext uri="{FF2B5EF4-FFF2-40B4-BE49-F238E27FC236}">
                <a16:creationId xmlns:a16="http://schemas.microsoft.com/office/drawing/2014/main" id="{E5BF4C00-35F2-9525-F10E-F470E9D6B14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E54899B-D72A-E23A-7A79-0A9F7ACA661C}"/>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1553671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334C94B-6D1E-D139-FA50-14284180FAB6}"/>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3" name="页脚占位符 2">
            <a:extLst>
              <a:ext uri="{FF2B5EF4-FFF2-40B4-BE49-F238E27FC236}">
                <a16:creationId xmlns:a16="http://schemas.microsoft.com/office/drawing/2014/main" id="{31E7CD7D-085F-8923-9B2F-7BA07B8236F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3983B5C-54EA-27A5-AEED-13162B6F42B6}"/>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1030697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F33BCF-8DFA-CB17-B1CA-53B72D12575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C7CFC05-BF5B-F50C-4AC6-FB05AD5A3F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C690D25-EBD6-CCA7-E56D-0108DDBD5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AF21BC-4F09-9B8D-5CC3-DF9CADA653E5}"/>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6" name="页脚占位符 5">
            <a:extLst>
              <a:ext uri="{FF2B5EF4-FFF2-40B4-BE49-F238E27FC236}">
                <a16:creationId xmlns:a16="http://schemas.microsoft.com/office/drawing/2014/main" id="{E68C4F2F-B945-FD99-E172-E6C71239680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68E7D7-84CC-FCCE-7FAC-F85153E874B6}"/>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1551136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3CCE04-992B-FF20-D6EF-C309972602A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96ADF00-12F8-2B3D-2AA5-8203FD503F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D4F42C4-6899-A547-2323-B16D2A6337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F4D02CA-A937-5D38-448F-CD81241F900D}"/>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6" name="页脚占位符 5">
            <a:extLst>
              <a:ext uri="{FF2B5EF4-FFF2-40B4-BE49-F238E27FC236}">
                <a16:creationId xmlns:a16="http://schemas.microsoft.com/office/drawing/2014/main" id="{C0045864-D2C7-29D4-B1A1-81AA8764BB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61F236B-9E42-D77D-5E90-E6E3249F628A}"/>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3411913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0BB24F-7748-B0AC-C0C9-B0BBD94C3E5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0C85B2-58AC-5AF7-0BCE-2EA4CBEE3D1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C5A7E8B-6AFF-BE3C-B450-6C253258BA39}"/>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5" name="页脚占位符 4">
            <a:extLst>
              <a:ext uri="{FF2B5EF4-FFF2-40B4-BE49-F238E27FC236}">
                <a16:creationId xmlns:a16="http://schemas.microsoft.com/office/drawing/2014/main" id="{6E85EB00-324D-A5B2-29E4-CB037D2D36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D9BEF0-DF6F-833A-06A6-6B7D7BB39874}"/>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1213394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D5E8815-642C-3DBA-43EE-EC26FE5C5EC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48F6915-7818-4BD3-4DE1-9168E21A99F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1A63CD5-43FF-AECD-3B88-BB3A13E38B9B}"/>
              </a:ext>
            </a:extLst>
          </p:cNvPr>
          <p:cNvSpPr>
            <a:spLocks noGrp="1"/>
          </p:cNvSpPr>
          <p:nvPr>
            <p:ph type="dt" sz="half" idx="10"/>
          </p:nvPr>
        </p:nvSpPr>
        <p:spPr/>
        <p:txBody>
          <a:bodyPr/>
          <a:lstStyle/>
          <a:p>
            <a:fld id="{4FC2F694-0CB6-4D2E-A072-876FA8567C14}" type="datetimeFigureOut">
              <a:rPr lang="zh-CN" altLang="en-US" smtClean="0"/>
              <a:t>2026/9/27</a:t>
            </a:fld>
            <a:endParaRPr lang="zh-CN" altLang="en-US"/>
          </a:p>
        </p:txBody>
      </p:sp>
      <p:sp>
        <p:nvSpPr>
          <p:cNvPr id="5" name="页脚占位符 4">
            <a:extLst>
              <a:ext uri="{FF2B5EF4-FFF2-40B4-BE49-F238E27FC236}">
                <a16:creationId xmlns:a16="http://schemas.microsoft.com/office/drawing/2014/main" id="{7062931E-7D96-F0E7-80F1-4F24676F41C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E44653-C0DC-A818-B2AB-754FD1785549}"/>
              </a:ext>
            </a:extLst>
          </p:cNvPr>
          <p:cNvSpPr>
            <a:spLocks noGrp="1"/>
          </p:cNvSpPr>
          <p:nvPr>
            <p:ph type="sldNum" sz="quarter" idx="12"/>
          </p:nvPr>
        </p:nvSpPr>
        <p:spPr/>
        <p:txBody>
          <a:body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667346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ABA0F75-FD61-2DF4-EE97-6902315F83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0E011FE-B9FE-C0BA-970C-6BC2B78CB1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87329A-F9D6-1CEC-2510-E0D04C1E35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C2F694-0CB6-4D2E-A072-876FA8567C14}" type="datetimeFigureOut">
              <a:rPr lang="zh-CN" altLang="en-US" smtClean="0"/>
              <a:t>2026/9/27</a:t>
            </a:fld>
            <a:endParaRPr lang="zh-CN" altLang="en-US"/>
          </a:p>
        </p:txBody>
      </p:sp>
      <p:sp>
        <p:nvSpPr>
          <p:cNvPr id="5" name="页脚占位符 4">
            <a:extLst>
              <a:ext uri="{FF2B5EF4-FFF2-40B4-BE49-F238E27FC236}">
                <a16:creationId xmlns:a16="http://schemas.microsoft.com/office/drawing/2014/main" id="{95F166DE-54DB-EC69-AC45-1BA5115EA6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9AADF86-2229-8F49-679A-5C38E953E7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244AE-05D1-4801-A5EE-73D248FE0E50}" type="slidenum">
              <a:rPr lang="zh-CN" altLang="en-US" smtClean="0"/>
              <a:t>‹#›</a:t>
            </a:fld>
            <a:endParaRPr lang="zh-CN" altLang="en-US"/>
          </a:p>
        </p:txBody>
      </p:sp>
    </p:spTree>
    <p:extLst>
      <p:ext uri="{BB962C8B-B14F-4D97-AF65-F5344CB8AC3E}">
        <p14:creationId xmlns:p14="http://schemas.microsoft.com/office/powerpoint/2010/main" val="173647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FC81BA0-1FC4-F9F3-E190-89F40203C707}"/>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01</a:t>
            </a:r>
            <a:endParaRPr lang="zh-CN" altLang="en-US" sz="1000">
              <a:solidFill>
                <a:srgbClr val="61737E"/>
              </a:solidFill>
              <a:latin typeface="Microsoft YaHei" panose="020B0503020204020204" pitchFamily="34" charset="-122"/>
              <a:ea typeface="Microsoft YaHei" panose="020B0503020204020204" pitchFamily="34" charset="-122"/>
            </a:endParaRPr>
          </a:p>
        </p:txBody>
      </p:sp>
      <p:sp>
        <p:nvSpPr>
          <p:cNvPr id="3" name="文本框 2">
            <a:extLst>
              <a:ext uri="{FF2B5EF4-FFF2-40B4-BE49-F238E27FC236}">
                <a16:creationId xmlns:a16="http://schemas.microsoft.com/office/drawing/2014/main" id="{8EC2F43C-0E71-114D-95D3-08F203367B92}"/>
              </a:ext>
            </a:extLst>
          </p:cNvPr>
          <p:cNvSpPr txBox="1"/>
          <p:nvPr/>
        </p:nvSpPr>
        <p:spPr>
          <a:xfrm>
            <a:off x="787400" y="1206500"/>
            <a:ext cx="10541000" cy="630942"/>
          </a:xfrm>
          <a:prstGeom prst="rect">
            <a:avLst/>
          </a:prstGeom>
          <a:noFill/>
        </p:spPr>
        <p:txBody>
          <a:bodyPr vert="horz" wrap="square" lIns="0" tIns="0" rIns="0" bIns="0" rtlCol="0">
            <a:spAutoFit/>
          </a:bodyPr>
          <a:lstStyle/>
          <a:p>
            <a:r>
              <a:rPr lang="en-US" altLang="zh-CN" sz="4100" b="1">
                <a:solidFill>
                  <a:srgbClr val="142D42"/>
                </a:solidFill>
                <a:latin typeface="Microsoft YaHei" panose="020B0503020204020204" pitchFamily="34" charset="-122"/>
                <a:ea typeface="Microsoft YaHei" panose="020B0503020204020204" pitchFamily="34" charset="-122"/>
              </a:rPr>
              <a:t>CA-HOFT </a:t>
            </a:r>
            <a:r>
              <a:rPr lang="zh-CN" altLang="en-US" sz="4100" b="1">
                <a:solidFill>
                  <a:srgbClr val="142D42"/>
                </a:solidFill>
                <a:latin typeface="Microsoft YaHei" panose="020B0503020204020204" pitchFamily="34" charset="-122"/>
                <a:ea typeface="Microsoft YaHei" panose="020B0503020204020204" pitchFamily="34" charset="-122"/>
              </a:rPr>
              <a:t>论文汇报</a:t>
            </a:r>
          </a:p>
        </p:txBody>
      </p:sp>
      <p:sp>
        <p:nvSpPr>
          <p:cNvPr id="4" name="文本框 3">
            <a:extLst>
              <a:ext uri="{FF2B5EF4-FFF2-40B4-BE49-F238E27FC236}">
                <a16:creationId xmlns:a16="http://schemas.microsoft.com/office/drawing/2014/main" id="{724D77D4-98E1-6862-FE2E-15178BF4ADD7}"/>
              </a:ext>
            </a:extLst>
          </p:cNvPr>
          <p:cNvSpPr txBox="1"/>
          <p:nvPr/>
        </p:nvSpPr>
        <p:spPr>
          <a:xfrm>
            <a:off x="812800" y="2349500"/>
            <a:ext cx="10160000" cy="384721"/>
          </a:xfrm>
          <a:prstGeom prst="rect">
            <a:avLst/>
          </a:prstGeom>
          <a:noFill/>
        </p:spPr>
        <p:txBody>
          <a:bodyPr vert="horz" wrap="square" lIns="0" tIns="0" rIns="0" bIns="0" rtlCol="0">
            <a:spAutoFit/>
          </a:bodyPr>
          <a:lstStyle/>
          <a:p>
            <a:r>
              <a:rPr lang="zh-CN" altLang="en-US" sz="2500">
                <a:solidFill>
                  <a:srgbClr val="007F83"/>
                </a:solidFill>
                <a:latin typeface="Microsoft YaHei" panose="020B0503020204020204" pitchFamily="34" charset="-122"/>
                <a:ea typeface="Microsoft YaHei" panose="020B0503020204020204" pitchFamily="34" charset="-122"/>
              </a:rPr>
              <a:t>抗遮挡表情识别方法与 </a:t>
            </a:r>
            <a:r>
              <a:rPr lang="en-US" altLang="zh-CN" sz="2500">
                <a:solidFill>
                  <a:srgbClr val="007F83"/>
                </a:solidFill>
                <a:latin typeface="Microsoft YaHei" panose="020B0503020204020204" pitchFamily="34" charset="-122"/>
                <a:ea typeface="Microsoft YaHei" panose="020B0503020204020204" pitchFamily="34" charset="-122"/>
              </a:rPr>
              <a:t>CampusMateAI </a:t>
            </a:r>
            <a:r>
              <a:rPr lang="zh-CN" altLang="en-US" sz="2500">
                <a:solidFill>
                  <a:srgbClr val="007F83"/>
                </a:solidFill>
                <a:latin typeface="Microsoft YaHei" panose="020B0503020204020204" pitchFamily="34" charset="-122"/>
                <a:ea typeface="Microsoft YaHei" panose="020B0503020204020204" pitchFamily="34" charset="-122"/>
              </a:rPr>
              <a:t>融合方案</a:t>
            </a:r>
          </a:p>
        </p:txBody>
      </p:sp>
      <p:sp>
        <p:nvSpPr>
          <p:cNvPr id="5" name="文本框 4">
            <a:extLst>
              <a:ext uri="{FF2B5EF4-FFF2-40B4-BE49-F238E27FC236}">
                <a16:creationId xmlns:a16="http://schemas.microsoft.com/office/drawing/2014/main" id="{9711E6BC-2A53-B347-1B70-C15BEF3ABC26}"/>
              </a:ext>
            </a:extLst>
          </p:cNvPr>
          <p:cNvSpPr txBox="1"/>
          <p:nvPr/>
        </p:nvSpPr>
        <p:spPr>
          <a:xfrm>
            <a:off x="825500" y="3746500"/>
            <a:ext cx="10033000" cy="261610"/>
          </a:xfrm>
          <a:prstGeom prst="rect">
            <a:avLst/>
          </a:prstGeom>
          <a:noFill/>
        </p:spPr>
        <p:txBody>
          <a:bodyPr vert="horz" wrap="square" lIns="0" tIns="0" rIns="0" bIns="0" rtlCol="0">
            <a:spAutoFit/>
          </a:bodyPr>
          <a:lstStyle/>
          <a:p>
            <a:r>
              <a:rPr lang="zh-CN" altLang="en-US" sz="1700">
                <a:solidFill>
                  <a:srgbClr val="304553"/>
                </a:solidFill>
                <a:latin typeface="Microsoft YaHei" panose="020B0503020204020204" pitchFamily="34" charset="-122"/>
                <a:ea typeface="Microsoft YaHei" panose="020B0503020204020204" pitchFamily="34" charset="-122"/>
              </a:rPr>
              <a:t>面向导师汇报  </a:t>
            </a:r>
            <a:r>
              <a:rPr lang="en-US" altLang="zh-CN" sz="1700">
                <a:solidFill>
                  <a:srgbClr val="304553"/>
                </a:solidFill>
                <a:latin typeface="Microsoft YaHei" panose="020B0503020204020204" pitchFamily="34" charset="-122"/>
                <a:ea typeface="Microsoft YaHei" panose="020B0503020204020204" pitchFamily="34" charset="-122"/>
              </a:rPr>
              <a:t>·  </a:t>
            </a:r>
            <a:r>
              <a:rPr lang="zh-CN" altLang="en-US" sz="1700">
                <a:solidFill>
                  <a:srgbClr val="304553"/>
                </a:solidFill>
                <a:latin typeface="Microsoft YaHei" panose="020B0503020204020204" pitchFamily="34" charset="-122"/>
                <a:ea typeface="Microsoft YaHei" panose="020B0503020204020204" pitchFamily="34" charset="-122"/>
              </a:rPr>
              <a:t>论文解析、证据边界、现有系统接入</a:t>
            </a:r>
          </a:p>
        </p:txBody>
      </p:sp>
      <p:sp>
        <p:nvSpPr>
          <p:cNvPr id="6" name="文本框 5">
            <a:extLst>
              <a:ext uri="{FF2B5EF4-FFF2-40B4-BE49-F238E27FC236}">
                <a16:creationId xmlns:a16="http://schemas.microsoft.com/office/drawing/2014/main" id="{97E4F6FC-B020-7750-37DC-9898374CC612}"/>
              </a:ext>
            </a:extLst>
          </p:cNvPr>
          <p:cNvSpPr txBox="1"/>
          <p:nvPr/>
        </p:nvSpPr>
        <p:spPr>
          <a:xfrm>
            <a:off x="825500" y="5461000"/>
            <a:ext cx="10160000" cy="200055"/>
          </a:xfrm>
          <a:prstGeom prst="rect">
            <a:avLst/>
          </a:prstGeom>
          <a:noFill/>
        </p:spPr>
        <p:txBody>
          <a:bodyPr vert="horz" wrap="square" lIns="0" tIns="0" rIns="0" bIns="0" rtlCol="0">
            <a:spAutoFit/>
          </a:bodyPr>
          <a:lstStyle/>
          <a:p>
            <a:r>
              <a:rPr lang="en-US" altLang="zh-CN" sz="1300">
                <a:solidFill>
                  <a:srgbClr val="61737E"/>
                </a:solidFill>
                <a:latin typeface="Microsoft YaHei" panose="020B0503020204020204" pitchFamily="34" charset="-122"/>
                <a:ea typeface="Microsoft YaHei" panose="020B0503020204020204" pitchFamily="34" charset="-122"/>
              </a:rPr>
              <a:t>Zhao </a:t>
            </a:r>
            <a:r>
              <a:rPr lang="zh-CN" altLang="en-US" sz="1300">
                <a:solidFill>
                  <a:srgbClr val="61737E"/>
                </a:solidFill>
                <a:latin typeface="Microsoft YaHei" panose="020B0503020204020204" pitchFamily="34" charset="-122"/>
                <a:ea typeface="Microsoft YaHei" panose="020B0503020204020204" pitchFamily="34" charset="-122"/>
              </a:rPr>
              <a:t>等，</a:t>
            </a:r>
            <a:r>
              <a:rPr lang="en-US" altLang="zh-CN" sz="1300">
                <a:solidFill>
                  <a:srgbClr val="61737E"/>
                </a:solidFill>
                <a:latin typeface="Microsoft YaHei" panose="020B0503020204020204" pitchFamily="34" charset="-122"/>
                <a:ea typeface="Microsoft YaHei" panose="020B0503020204020204" pitchFamily="34" charset="-122"/>
              </a:rPr>
              <a:t>Sensors 2026</a:t>
            </a:r>
            <a:r>
              <a:rPr lang="zh-CN" altLang="en-US" sz="1300">
                <a:solidFill>
                  <a:srgbClr val="61737E"/>
                </a:solidFill>
                <a:latin typeface="Microsoft YaHei" panose="020B0503020204020204" pitchFamily="34" charset="-122"/>
                <a:ea typeface="Microsoft YaHei" panose="020B0503020204020204" pitchFamily="34" charset="-122"/>
              </a:rPr>
              <a:t>，</a:t>
            </a:r>
            <a:r>
              <a:rPr lang="en-US" altLang="zh-CN" sz="1300">
                <a:solidFill>
                  <a:srgbClr val="61737E"/>
                </a:solidFill>
                <a:latin typeface="Microsoft YaHei" panose="020B0503020204020204" pitchFamily="34" charset="-122"/>
                <a:ea typeface="Microsoft YaHei" panose="020B0503020204020204" pitchFamily="34" charset="-122"/>
              </a:rPr>
              <a:t>26(17):5500</a:t>
            </a:r>
            <a:r>
              <a:rPr lang="zh-CN" altLang="en-US" sz="1300">
                <a:solidFill>
                  <a:srgbClr val="61737E"/>
                </a:solidFill>
                <a:latin typeface="Microsoft YaHei" panose="020B0503020204020204" pitchFamily="34" charset="-122"/>
                <a:ea typeface="Microsoft YaHei" panose="020B0503020204020204" pitchFamily="34" charset="-122"/>
              </a:rPr>
              <a:t>。</a:t>
            </a:r>
            <a:r>
              <a:rPr lang="en-US" altLang="zh-CN" sz="1300">
                <a:solidFill>
                  <a:srgbClr val="61737E"/>
                </a:solidFill>
                <a:latin typeface="Microsoft YaHei" panose="020B0503020204020204" pitchFamily="34" charset="-122"/>
                <a:ea typeface="Microsoft YaHei" panose="020B0503020204020204" pitchFamily="34" charset="-122"/>
              </a:rPr>
              <a:t>DOI 10.3390/s26175500</a:t>
            </a:r>
            <a:endParaRPr lang="zh-CN" altLang="en-US" sz="1300">
              <a:solidFill>
                <a:srgbClr val="61737E"/>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428701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FC00B44-45BA-64A5-29F5-B6A5A05C93A9}"/>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研究问题与结论</a:t>
            </a:r>
          </a:p>
        </p:txBody>
      </p:sp>
      <p:sp>
        <p:nvSpPr>
          <p:cNvPr id="3" name="文本框 2">
            <a:extLst>
              <a:ext uri="{FF2B5EF4-FFF2-40B4-BE49-F238E27FC236}">
                <a16:creationId xmlns:a16="http://schemas.microsoft.com/office/drawing/2014/main" id="{7B4BB851-F4D4-EA8C-3197-493E200E3AE7}"/>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来源：论文摘要、</a:t>
            </a:r>
            <a:r>
              <a:rPr lang="en-US" altLang="zh-CN" sz="950">
                <a:solidFill>
                  <a:srgbClr val="61737E"/>
                </a:solidFill>
                <a:latin typeface="Microsoft YaHei" panose="020B0503020204020204" pitchFamily="34" charset="-122"/>
                <a:ea typeface="Microsoft YaHei" panose="020B0503020204020204" pitchFamily="34" charset="-122"/>
              </a:rPr>
              <a:t>§1</a:t>
            </a:r>
            <a:r>
              <a:rPr lang="zh-CN" altLang="en-US" sz="950">
                <a:solidFill>
                  <a:srgbClr val="61737E"/>
                </a:solidFill>
                <a:latin typeface="Microsoft YaHei" panose="020B0503020204020204" pitchFamily="34" charset="-122"/>
                <a:ea typeface="Microsoft YaHei" panose="020B0503020204020204" pitchFamily="34" charset="-122"/>
              </a:rPr>
              <a:t>、表</a:t>
            </a:r>
            <a:r>
              <a:rPr lang="en-US" altLang="zh-CN" sz="950">
                <a:solidFill>
                  <a:srgbClr val="61737E"/>
                </a:solidFill>
                <a:latin typeface="Microsoft YaHei" panose="020B0503020204020204" pitchFamily="34" charset="-122"/>
                <a:ea typeface="Microsoft YaHei" panose="020B0503020204020204" pitchFamily="34" charset="-122"/>
              </a:rPr>
              <a:t>4</a:t>
            </a:r>
            <a:r>
              <a:rPr lang="zh-CN" altLang="en-US" sz="950">
                <a:solidFill>
                  <a:srgbClr val="61737E"/>
                </a:solidFill>
                <a:latin typeface="Microsoft YaHei" panose="020B0503020204020204" pitchFamily="34" charset="-122"/>
                <a:ea typeface="Microsoft YaHei" panose="020B0503020204020204" pitchFamily="34" charset="-122"/>
              </a:rPr>
              <a:t>；数值为五次训练均值。</a:t>
            </a:r>
          </a:p>
        </p:txBody>
      </p:sp>
      <p:sp>
        <p:nvSpPr>
          <p:cNvPr id="4" name="文本框 3">
            <a:extLst>
              <a:ext uri="{FF2B5EF4-FFF2-40B4-BE49-F238E27FC236}">
                <a16:creationId xmlns:a16="http://schemas.microsoft.com/office/drawing/2014/main" id="{6ED2DE4A-3900-7E1C-51B9-088B62324A4D}"/>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02</a:t>
            </a:r>
            <a:endParaRPr lang="zh-CN" altLang="en-US" sz="1000">
              <a:solidFill>
                <a:srgbClr val="61737E"/>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702D0A20-8DE5-5C72-C49F-D3A9092BC0CC}"/>
              </a:ext>
            </a:extLst>
          </p:cNvPr>
          <p:cNvSpPr txBox="1"/>
          <p:nvPr/>
        </p:nvSpPr>
        <p:spPr>
          <a:xfrm>
            <a:off x="711200" y="15875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问题</a:t>
            </a:r>
          </a:p>
        </p:txBody>
      </p:sp>
      <p:sp>
        <p:nvSpPr>
          <p:cNvPr id="6" name="文本框 5">
            <a:extLst>
              <a:ext uri="{FF2B5EF4-FFF2-40B4-BE49-F238E27FC236}">
                <a16:creationId xmlns:a16="http://schemas.microsoft.com/office/drawing/2014/main" id="{6487CBF6-655E-55E5-83B2-F2CFB2F2960E}"/>
              </a:ext>
            </a:extLst>
          </p:cNvPr>
          <p:cNvSpPr txBox="1"/>
          <p:nvPr/>
        </p:nvSpPr>
        <p:spPr>
          <a:xfrm>
            <a:off x="711200" y="20320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遮挡会移除眼、口等关键线索；单纯加大遮挡增强，可能把模型带离原有干净图像决策。</a:t>
            </a:r>
          </a:p>
        </p:txBody>
      </p:sp>
      <p:sp>
        <p:nvSpPr>
          <p:cNvPr id="7" name="文本框 6">
            <a:extLst>
              <a:ext uri="{FF2B5EF4-FFF2-40B4-BE49-F238E27FC236}">
                <a16:creationId xmlns:a16="http://schemas.microsoft.com/office/drawing/2014/main" id="{C202D34E-DDE1-D303-8F74-22AD1F52F9FD}"/>
              </a:ext>
            </a:extLst>
          </p:cNvPr>
          <p:cNvSpPr txBox="1"/>
          <p:nvPr/>
        </p:nvSpPr>
        <p:spPr>
          <a:xfrm>
            <a:off x="711200" y="29845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方法</a:t>
            </a:r>
          </a:p>
        </p:txBody>
      </p:sp>
      <p:sp>
        <p:nvSpPr>
          <p:cNvPr id="8" name="文本框 7">
            <a:extLst>
              <a:ext uri="{FF2B5EF4-FFF2-40B4-BE49-F238E27FC236}">
                <a16:creationId xmlns:a16="http://schemas.microsoft.com/office/drawing/2014/main" id="{CCE15353-9288-9499-8A79-333A68A6E375}"/>
              </a:ext>
            </a:extLst>
          </p:cNvPr>
          <p:cNvSpPr txBox="1"/>
          <p:nvPr/>
        </p:nvSpPr>
        <p:spPr>
          <a:xfrm>
            <a:off x="711200" y="34290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分阶段微调 </a:t>
            </a:r>
            <a:r>
              <a:rPr lang="en-US" altLang="zh-CN" sz="1650">
                <a:solidFill>
                  <a:srgbClr val="304553"/>
                </a:solidFill>
                <a:latin typeface="Microsoft YaHei" panose="020B0503020204020204" pitchFamily="34" charset="-122"/>
                <a:ea typeface="Microsoft YaHei" panose="020B0503020204020204" pitchFamily="34" charset="-122"/>
              </a:rPr>
              <a:t>+ </a:t>
            </a:r>
            <a:r>
              <a:rPr lang="zh-CN" altLang="en-US" sz="1650">
                <a:solidFill>
                  <a:srgbClr val="304553"/>
                </a:solidFill>
                <a:latin typeface="Microsoft YaHei" panose="020B0503020204020204" pitchFamily="34" charset="-122"/>
                <a:ea typeface="Microsoft YaHei" panose="020B0503020204020204" pitchFamily="34" charset="-122"/>
              </a:rPr>
              <a:t>面部区域加权 </a:t>
            </a:r>
            <a:r>
              <a:rPr lang="en-US" altLang="zh-CN" sz="1650">
                <a:solidFill>
                  <a:srgbClr val="304553"/>
                </a:solidFill>
                <a:latin typeface="Microsoft YaHei" panose="020B0503020204020204" pitchFamily="34" charset="-122"/>
                <a:ea typeface="Microsoft YaHei" panose="020B0503020204020204" pitchFamily="34" charset="-122"/>
              </a:rPr>
              <a:t>HardMix + </a:t>
            </a:r>
            <a:r>
              <a:rPr lang="zh-CN" altLang="en-US" sz="1650">
                <a:solidFill>
                  <a:srgbClr val="304553"/>
                </a:solidFill>
                <a:latin typeface="Microsoft YaHei" panose="020B0503020204020204" pitchFamily="34" charset="-122"/>
                <a:ea typeface="Microsoft YaHei" panose="020B0503020204020204" pitchFamily="34" charset="-122"/>
              </a:rPr>
              <a:t>两种学生视图的真实标签监督 </a:t>
            </a:r>
            <a:r>
              <a:rPr lang="en-US" altLang="zh-CN" sz="1650">
                <a:solidFill>
                  <a:srgbClr val="304553"/>
                </a:solidFill>
                <a:latin typeface="Microsoft YaHei" panose="020B0503020204020204" pitchFamily="34" charset="-122"/>
                <a:ea typeface="Microsoft YaHei" panose="020B0503020204020204" pitchFamily="34" charset="-122"/>
              </a:rPr>
              <a:t>+ </a:t>
            </a:r>
            <a:r>
              <a:rPr lang="zh-CN" altLang="en-US" sz="1650">
                <a:solidFill>
                  <a:srgbClr val="304553"/>
                </a:solidFill>
                <a:latin typeface="Microsoft YaHei" panose="020B0503020204020204" pitchFamily="34" charset="-122"/>
                <a:ea typeface="Microsoft YaHei" panose="020B0503020204020204" pitchFamily="34" charset="-122"/>
              </a:rPr>
              <a:t>固定教师蒸馏。</a:t>
            </a:r>
          </a:p>
        </p:txBody>
      </p:sp>
      <p:sp>
        <p:nvSpPr>
          <p:cNvPr id="9" name="文本框 8">
            <a:extLst>
              <a:ext uri="{FF2B5EF4-FFF2-40B4-BE49-F238E27FC236}">
                <a16:creationId xmlns:a16="http://schemas.microsoft.com/office/drawing/2014/main" id="{90A42A9A-55A3-3764-6338-AFF89A685E7A}"/>
              </a:ext>
            </a:extLst>
          </p:cNvPr>
          <p:cNvSpPr txBox="1"/>
          <p:nvPr/>
        </p:nvSpPr>
        <p:spPr>
          <a:xfrm>
            <a:off x="711200" y="43815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主要结果</a:t>
            </a:r>
          </a:p>
        </p:txBody>
      </p:sp>
      <p:sp>
        <p:nvSpPr>
          <p:cNvPr id="10" name="文本框 9">
            <a:extLst>
              <a:ext uri="{FF2B5EF4-FFF2-40B4-BE49-F238E27FC236}">
                <a16:creationId xmlns:a16="http://schemas.microsoft.com/office/drawing/2014/main" id="{78DCAF09-8ED9-3AE8-1E1A-71822F500798}"/>
              </a:ext>
            </a:extLst>
          </p:cNvPr>
          <p:cNvSpPr txBox="1"/>
          <p:nvPr/>
        </p:nvSpPr>
        <p:spPr>
          <a:xfrm>
            <a:off x="711200" y="4826000"/>
            <a:ext cx="10795000" cy="253916"/>
          </a:xfrm>
          <a:prstGeom prst="rect">
            <a:avLst/>
          </a:prstGeom>
          <a:noFill/>
        </p:spPr>
        <p:txBody>
          <a:bodyPr vert="horz" wrap="square" lIns="0" tIns="0" rIns="0" bIns="0" rtlCol="0">
            <a:spAutoFit/>
          </a:bodyPr>
          <a:lstStyle/>
          <a:p>
            <a:r>
              <a:rPr lang="en-US" altLang="zh-CN" sz="1650">
                <a:solidFill>
                  <a:srgbClr val="304553"/>
                </a:solidFill>
                <a:latin typeface="Microsoft YaHei" panose="020B0503020204020204" pitchFamily="34" charset="-122"/>
                <a:ea typeface="Microsoft YaHei" panose="020B0503020204020204" pitchFamily="34" charset="-122"/>
              </a:rPr>
              <a:t>RAF-DB 90.08% </a:t>
            </a:r>
            <a:r>
              <a:rPr lang="zh-CN" altLang="en-US" sz="1650">
                <a:solidFill>
                  <a:srgbClr val="304553"/>
                </a:solidFill>
                <a:latin typeface="Microsoft YaHei" panose="020B0503020204020204" pitchFamily="34" charset="-122"/>
                <a:ea typeface="Microsoft YaHei" panose="020B0503020204020204" pitchFamily="34" charset="-122"/>
              </a:rPr>
              <a:t>准确率；</a:t>
            </a:r>
            <a:r>
              <a:rPr lang="en-US" altLang="zh-CN" sz="1650">
                <a:solidFill>
                  <a:srgbClr val="304553"/>
                </a:solidFill>
                <a:latin typeface="Microsoft YaHei" panose="020B0503020204020204" pitchFamily="34" charset="-122"/>
                <a:ea typeface="Microsoft YaHei" panose="020B0503020204020204" pitchFamily="34" charset="-122"/>
              </a:rPr>
              <a:t>Occlusion-RAF-DB 87.38% </a:t>
            </a:r>
            <a:r>
              <a:rPr lang="zh-CN" altLang="en-US" sz="1650">
                <a:solidFill>
                  <a:srgbClr val="304553"/>
                </a:solidFill>
                <a:latin typeface="Microsoft YaHei" panose="020B0503020204020204" pitchFamily="34" charset="-122"/>
                <a:ea typeface="Microsoft YaHei" panose="020B0503020204020204" pitchFamily="34" charset="-122"/>
              </a:rPr>
              <a:t>准确率、</a:t>
            </a:r>
            <a:r>
              <a:rPr lang="en-US" altLang="zh-CN" sz="1650">
                <a:solidFill>
                  <a:srgbClr val="304553"/>
                </a:solidFill>
                <a:latin typeface="Microsoft YaHei" panose="020B0503020204020204" pitchFamily="34" charset="-122"/>
                <a:ea typeface="Microsoft YaHei" panose="020B0503020204020204" pitchFamily="34" charset="-122"/>
              </a:rPr>
              <a:t>83.34% </a:t>
            </a:r>
            <a:r>
              <a:rPr lang="zh-CN" altLang="en-US" sz="1650">
                <a:solidFill>
                  <a:srgbClr val="304553"/>
                </a:solidFill>
                <a:latin typeface="Microsoft YaHei" panose="020B0503020204020204" pitchFamily="34" charset="-122"/>
                <a:ea typeface="Microsoft YaHei" panose="020B0503020204020204" pitchFamily="34" charset="-122"/>
              </a:rPr>
              <a:t>宏平均 </a:t>
            </a:r>
            <a:r>
              <a:rPr lang="en-US" altLang="zh-CN" sz="1650">
                <a:solidFill>
                  <a:srgbClr val="304553"/>
                </a:solidFill>
                <a:latin typeface="Microsoft YaHei" panose="020B0503020204020204" pitchFamily="34" charset="-122"/>
                <a:ea typeface="Microsoft YaHei" panose="020B0503020204020204" pitchFamily="34" charset="-122"/>
              </a:rPr>
              <a:t>F1</a:t>
            </a:r>
            <a:r>
              <a:rPr lang="zh-CN" altLang="en-US" sz="1650">
                <a:solidFill>
                  <a:srgbClr val="304553"/>
                </a:solidFill>
                <a:latin typeface="Microsoft YaHei" panose="020B0503020204020204" pitchFamily="34" charset="-122"/>
                <a:ea typeface="Microsoft YaHei" panose="020B0503020204020204" pitchFamily="34" charset="-122"/>
              </a:rPr>
              <a:t>。推理仍是单个 </a:t>
            </a:r>
            <a:r>
              <a:rPr lang="en-US" altLang="zh-CN" sz="1650">
                <a:solidFill>
                  <a:srgbClr val="304553"/>
                </a:solidFill>
                <a:latin typeface="Microsoft YaHei" panose="020B0503020204020204" pitchFamily="34" charset="-122"/>
                <a:ea typeface="Microsoft YaHei" panose="020B0503020204020204" pitchFamily="34" charset="-122"/>
              </a:rPr>
              <a:t>ResNet-18</a:t>
            </a:r>
            <a:r>
              <a:rPr lang="zh-CN" altLang="en-US" sz="1650">
                <a:solidFill>
                  <a:srgbClr val="304553"/>
                </a:solidFill>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3738788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FF01B57-A4B1-7741-59D0-2C21B5F5B417}"/>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为什么需要“干净锚”</a:t>
            </a:r>
          </a:p>
        </p:txBody>
      </p:sp>
      <p:sp>
        <p:nvSpPr>
          <p:cNvPr id="3" name="文本框 2">
            <a:extLst>
              <a:ext uri="{FF2B5EF4-FFF2-40B4-BE49-F238E27FC236}">
                <a16:creationId xmlns:a16="http://schemas.microsoft.com/office/drawing/2014/main" id="{1DAABD6C-1FE0-A274-9076-17623DBADEA6}"/>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a:t>
            </a:r>
            <a:r>
              <a:rPr lang="en-US" altLang="zh-CN" sz="950">
                <a:solidFill>
                  <a:srgbClr val="61737E"/>
                </a:solidFill>
                <a:latin typeface="Microsoft YaHei" panose="020B0503020204020204" pitchFamily="34" charset="-122"/>
                <a:ea typeface="Microsoft YaHei" panose="020B0503020204020204" pitchFamily="34" charset="-122"/>
              </a:rPr>
              <a:t>§1</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§2</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§5</a:t>
            </a:r>
            <a:r>
              <a:rPr lang="zh-CN" altLang="en-US" sz="950">
                <a:solidFill>
                  <a:srgbClr val="61737E"/>
                </a:solidFill>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0474E35C-2CE3-36A0-A479-013B7B0E1F86}"/>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03</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D49110D6-17B6-E9BE-1631-32E428009061}"/>
              </a:ext>
            </a:extLst>
          </p:cNvPr>
          <p:cNvGraphicFramePr>
            <a:graphicFrameLocks noGrp="1"/>
          </p:cNvGraphicFramePr>
          <p:nvPr>
            <p:extLst>
              <p:ext uri="{D42A27DB-BD31-4B8C-83A1-F6EECF244321}">
                <p14:modId xmlns:p14="http://schemas.microsoft.com/office/powerpoint/2010/main" val="3714556004"/>
              </p:ext>
            </p:extLst>
          </p:nvPr>
        </p:nvGraphicFramePr>
        <p:xfrm>
          <a:off x="673100" y="1651000"/>
          <a:ext cx="10833100" cy="4000500"/>
        </p:xfrm>
        <a:graphic>
          <a:graphicData uri="http://schemas.openxmlformats.org/drawingml/2006/table">
            <a:tbl>
              <a:tblPr firstRow="1" bandRow="1">
                <a:tableStyleId>{5C22544A-7EE6-4342-B048-85BDC9FD1C3A}</a:tableStyleId>
              </a:tblPr>
              <a:tblGrid>
                <a:gridCol w="2491613">
                  <a:extLst>
                    <a:ext uri="{9D8B030D-6E8A-4147-A177-3AD203B41FA5}">
                      <a16:colId xmlns:a16="http://schemas.microsoft.com/office/drawing/2014/main" val="1786318684"/>
                    </a:ext>
                  </a:extLst>
                </a:gridCol>
                <a:gridCol w="3574923">
                  <a:extLst>
                    <a:ext uri="{9D8B030D-6E8A-4147-A177-3AD203B41FA5}">
                      <a16:colId xmlns:a16="http://schemas.microsoft.com/office/drawing/2014/main" val="1234861582"/>
                    </a:ext>
                  </a:extLst>
                </a:gridCol>
                <a:gridCol w="4766564">
                  <a:extLst>
                    <a:ext uri="{9D8B030D-6E8A-4147-A177-3AD203B41FA5}">
                      <a16:colId xmlns:a16="http://schemas.microsoft.com/office/drawing/2014/main" val="2489327556"/>
                    </a:ext>
                  </a:extLst>
                </a:gridCol>
              </a:tblGrid>
              <a:tr h="800100">
                <a:tc>
                  <a:txBody>
                    <a:bodyPr/>
                    <a:lstStyle/>
                    <a:p>
                      <a:r>
                        <a:rPr lang="zh-CN" altLang="en-US" sz="1520" b="1">
                          <a:solidFill>
                            <a:srgbClr val="FFFFFF"/>
                          </a:solidFill>
                          <a:latin typeface="Microsoft YaHei" panose="020B0503020204020204" pitchFamily="34" charset="-122"/>
                          <a:ea typeface="Microsoft YaHei" panose="020B0503020204020204" pitchFamily="34" charset="-122"/>
                        </a:rPr>
                        <a:t>方案</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20" b="1">
                          <a:solidFill>
                            <a:srgbClr val="FFFFFF"/>
                          </a:solidFill>
                          <a:latin typeface="Microsoft YaHei" panose="020B0503020204020204" pitchFamily="34" charset="-122"/>
                          <a:ea typeface="Microsoft YaHei" panose="020B0503020204020204" pitchFamily="34" charset="-122"/>
                        </a:rPr>
                        <a:t>能解决什么</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20" b="1">
                          <a:solidFill>
                            <a:srgbClr val="FFFFFF"/>
                          </a:solidFill>
                          <a:latin typeface="Microsoft YaHei" panose="020B0503020204020204" pitchFamily="34" charset="-122"/>
                          <a:ea typeface="Microsoft YaHei" panose="020B0503020204020204" pitchFamily="34" charset="-122"/>
                        </a:rPr>
                        <a:t>仍存在的问题</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3135824509"/>
                  </a:ext>
                </a:extLst>
              </a:tr>
              <a:tr h="800100">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普通随机擦除</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增加遮挡样本</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区域采样未针对表情线索</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464363196"/>
                  </a:ext>
                </a:extLst>
              </a:tr>
              <a:tr h="800100">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强遮挡微调</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提高缺失线索容忍度</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干净图像决策可能退化</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4025782884"/>
                  </a:ext>
                </a:extLst>
              </a:tr>
              <a:tr h="800100">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注意力、重建等</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专门处理被遮挡区域</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可能增加推理组件与工程成本</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2143580091"/>
                  </a:ext>
                </a:extLst>
              </a:tr>
              <a:tr h="800100">
                <a:tc>
                  <a:txBody>
                    <a:bodyPr/>
                    <a:lstStyle/>
                    <a:p>
                      <a:r>
                        <a:rPr lang="en-US" altLang="zh-CN" sz="1520" b="0">
                          <a:solidFill>
                            <a:srgbClr val="304553"/>
                          </a:solidFill>
                          <a:latin typeface="Microsoft YaHei" panose="020B0503020204020204" pitchFamily="34" charset="-122"/>
                          <a:ea typeface="Microsoft YaHei" panose="020B0503020204020204" pitchFamily="34" charset="-122"/>
                        </a:rPr>
                        <a:t>CA-HOFT</a:t>
                      </a:r>
                      <a:endParaRPr lang="zh-CN" altLang="en-US" sz="152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训练时保留干净参考</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20" b="0">
                          <a:solidFill>
                            <a:srgbClr val="304553"/>
                          </a:solidFill>
                          <a:latin typeface="Microsoft YaHei" panose="020B0503020204020204" pitchFamily="34" charset="-122"/>
                          <a:ea typeface="Microsoft YaHei" panose="020B0503020204020204" pitchFamily="34" charset="-122"/>
                        </a:rPr>
                        <a:t>训练计算增加，收益需跨域验证</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4053724417"/>
                  </a:ext>
                </a:extLst>
              </a:tr>
            </a:tbl>
          </a:graphicData>
        </a:graphic>
      </p:graphicFrame>
    </p:spTree>
    <p:extLst>
      <p:ext uri="{BB962C8B-B14F-4D97-AF65-F5344CB8AC3E}">
        <p14:creationId xmlns:p14="http://schemas.microsoft.com/office/powerpoint/2010/main" val="229447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E6E4C05-682A-55F6-5665-6644888208C6}"/>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方法全貌：分阶段训练</a:t>
            </a:r>
          </a:p>
        </p:txBody>
      </p:sp>
      <p:sp>
        <p:nvSpPr>
          <p:cNvPr id="3" name="文本框 2">
            <a:extLst>
              <a:ext uri="{FF2B5EF4-FFF2-40B4-BE49-F238E27FC236}">
                <a16:creationId xmlns:a16="http://schemas.microsoft.com/office/drawing/2014/main" id="{614C0258-4328-B598-07E7-7A976261EADC}"/>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a:t>
            </a:r>
            <a:r>
              <a:rPr lang="en-US" altLang="zh-CN" sz="950">
                <a:solidFill>
                  <a:srgbClr val="61737E"/>
                </a:solidFill>
                <a:latin typeface="Microsoft YaHei" panose="020B0503020204020204" pitchFamily="34" charset="-122"/>
                <a:ea typeface="Microsoft YaHei" panose="020B0503020204020204" pitchFamily="34" charset="-122"/>
              </a:rPr>
              <a:t>§3.2</a:t>
            </a:r>
            <a:r>
              <a:rPr lang="zh-CN" altLang="en-US" sz="950">
                <a:solidFill>
                  <a:srgbClr val="61737E"/>
                </a:solidFill>
                <a:latin typeface="Microsoft YaHei" panose="020B0503020204020204" pitchFamily="34" charset="-122"/>
                <a:ea typeface="Microsoft YaHei" panose="020B0503020204020204" pitchFamily="34" charset="-122"/>
              </a:rPr>
              <a:t>、表</a:t>
            </a:r>
            <a:r>
              <a:rPr lang="en-US" altLang="zh-CN" sz="950">
                <a:solidFill>
                  <a:srgbClr val="61737E"/>
                </a:solidFill>
                <a:latin typeface="Microsoft YaHei" panose="020B0503020204020204" pitchFamily="34" charset="-122"/>
                <a:ea typeface="Microsoft YaHei" panose="020B0503020204020204" pitchFamily="34" charset="-122"/>
              </a:rPr>
              <a:t>1</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Recovery FT </a:t>
            </a:r>
            <a:r>
              <a:rPr lang="zh-CN" altLang="en-US" sz="950">
                <a:solidFill>
                  <a:srgbClr val="61737E"/>
                </a:solidFill>
                <a:latin typeface="Microsoft YaHei" panose="020B0503020204020204" pitchFamily="34" charset="-122"/>
                <a:ea typeface="Microsoft YaHei" panose="020B0503020204020204" pitchFamily="34" charset="-122"/>
              </a:rPr>
              <a:t>为事后诊断。</a:t>
            </a:r>
          </a:p>
        </p:txBody>
      </p:sp>
      <p:sp>
        <p:nvSpPr>
          <p:cNvPr id="4" name="文本框 3">
            <a:extLst>
              <a:ext uri="{FF2B5EF4-FFF2-40B4-BE49-F238E27FC236}">
                <a16:creationId xmlns:a16="http://schemas.microsoft.com/office/drawing/2014/main" id="{8930485A-34DF-F158-E119-5648C0583AA8}"/>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04</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48206731-60E6-88C0-00BB-A3D07B118A28}"/>
              </a:ext>
            </a:extLst>
          </p:cNvPr>
          <p:cNvGraphicFramePr>
            <a:graphicFrameLocks noGrp="1"/>
          </p:cNvGraphicFramePr>
          <p:nvPr>
            <p:extLst>
              <p:ext uri="{D42A27DB-BD31-4B8C-83A1-F6EECF244321}">
                <p14:modId xmlns:p14="http://schemas.microsoft.com/office/powerpoint/2010/main" val="3336905408"/>
              </p:ext>
            </p:extLst>
          </p:nvPr>
        </p:nvGraphicFramePr>
        <p:xfrm>
          <a:off x="673100" y="1663700"/>
          <a:ext cx="10833100" cy="3873500"/>
        </p:xfrm>
        <a:graphic>
          <a:graphicData uri="http://schemas.openxmlformats.org/drawingml/2006/table">
            <a:tbl>
              <a:tblPr firstRow="1" bandRow="1">
                <a:tableStyleId>{5C22544A-7EE6-4342-B048-85BDC9FD1C3A}</a:tableStyleId>
              </a:tblPr>
              <a:tblGrid>
                <a:gridCol w="2274951">
                  <a:extLst>
                    <a:ext uri="{9D8B030D-6E8A-4147-A177-3AD203B41FA5}">
                      <a16:colId xmlns:a16="http://schemas.microsoft.com/office/drawing/2014/main" val="383679185"/>
                    </a:ext>
                  </a:extLst>
                </a:gridCol>
                <a:gridCol w="1191641">
                  <a:extLst>
                    <a:ext uri="{9D8B030D-6E8A-4147-A177-3AD203B41FA5}">
                      <a16:colId xmlns:a16="http://schemas.microsoft.com/office/drawing/2014/main" val="2273461060"/>
                    </a:ext>
                  </a:extLst>
                </a:gridCol>
                <a:gridCol w="5524881">
                  <a:extLst>
                    <a:ext uri="{9D8B030D-6E8A-4147-A177-3AD203B41FA5}">
                      <a16:colId xmlns:a16="http://schemas.microsoft.com/office/drawing/2014/main" val="2677721957"/>
                    </a:ext>
                  </a:extLst>
                </a:gridCol>
                <a:gridCol w="1841627">
                  <a:extLst>
                    <a:ext uri="{9D8B030D-6E8A-4147-A177-3AD203B41FA5}">
                      <a16:colId xmlns:a16="http://schemas.microsoft.com/office/drawing/2014/main" val="3509665993"/>
                    </a:ext>
                  </a:extLst>
                </a:gridCol>
              </a:tblGrid>
              <a:tr h="774700">
                <a:tc>
                  <a:txBody>
                    <a:bodyPr/>
                    <a:lstStyle/>
                    <a:p>
                      <a:r>
                        <a:rPr lang="zh-CN" altLang="en-US" sz="1540" b="1">
                          <a:solidFill>
                            <a:srgbClr val="FFFFFF"/>
                          </a:solidFill>
                          <a:latin typeface="Microsoft YaHei" panose="020B0503020204020204" pitchFamily="34" charset="-122"/>
                          <a:ea typeface="Microsoft YaHei" panose="020B0503020204020204" pitchFamily="34" charset="-122"/>
                        </a:rPr>
                        <a:t>阶段</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40" b="1">
                          <a:solidFill>
                            <a:srgbClr val="FFFFFF"/>
                          </a:solidFill>
                          <a:latin typeface="Microsoft YaHei" panose="020B0503020204020204" pitchFamily="34" charset="-122"/>
                          <a:ea typeface="Microsoft YaHei" panose="020B0503020204020204" pitchFamily="34" charset="-122"/>
                        </a:rPr>
                        <a:t>轮数</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40" b="1">
                          <a:solidFill>
                            <a:srgbClr val="FFFFFF"/>
                          </a:solidFill>
                          <a:latin typeface="Microsoft YaHei" panose="020B0503020204020204" pitchFamily="34" charset="-122"/>
                          <a:ea typeface="Microsoft YaHei" panose="020B0503020204020204" pitchFamily="34" charset="-122"/>
                        </a:rPr>
                        <a:t>训练输入与作用</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40" b="1">
                          <a:solidFill>
                            <a:srgbClr val="FFFFFF"/>
                          </a:solidFill>
                          <a:latin typeface="Microsoft YaHei" panose="020B0503020204020204" pitchFamily="34" charset="-122"/>
                          <a:ea typeface="Microsoft YaHei" panose="020B0503020204020204" pitchFamily="34" charset="-122"/>
                        </a:rPr>
                        <a:t>教师</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2010585299"/>
                  </a:ext>
                </a:extLst>
              </a:tr>
              <a:tr h="774700">
                <a:tc>
                  <a:txBody>
                    <a:bodyPr/>
                    <a:lstStyle/>
                    <a:p>
                      <a:r>
                        <a:rPr lang="en-US" altLang="zh-CN" sz="1540" b="0">
                          <a:solidFill>
                            <a:srgbClr val="304553"/>
                          </a:solidFill>
                          <a:latin typeface="Microsoft YaHei" panose="020B0503020204020204" pitchFamily="34" charset="-122"/>
                          <a:ea typeface="Microsoft YaHei" panose="020B0503020204020204" pitchFamily="34" charset="-122"/>
                        </a:rPr>
                        <a:t>Strong Clean</a:t>
                      </a:r>
                      <a:endParaRPr lang="zh-CN" altLang="en-US" sz="15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540" b="0">
                          <a:solidFill>
                            <a:srgbClr val="304553"/>
                          </a:solidFill>
                          <a:latin typeface="Microsoft YaHei" panose="020B0503020204020204" pitchFamily="34" charset="-122"/>
                          <a:ea typeface="Microsoft YaHei" panose="020B0503020204020204" pitchFamily="34" charset="-122"/>
                        </a:rPr>
                        <a:t>80</a:t>
                      </a:r>
                      <a:endParaRPr lang="zh-CN" altLang="en-US" sz="15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540" b="0">
                          <a:solidFill>
                            <a:srgbClr val="304553"/>
                          </a:solidFill>
                          <a:latin typeface="Microsoft YaHei" panose="020B0503020204020204" pitchFamily="34" charset="-122"/>
                          <a:ea typeface="Microsoft YaHei" panose="020B0503020204020204" pitchFamily="34" charset="-122"/>
                        </a:rPr>
                        <a:t>建立七类表情判别能力</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540" b="0">
                          <a:solidFill>
                            <a:srgbClr val="304553"/>
                          </a:solidFill>
                          <a:latin typeface="Microsoft YaHei" panose="020B0503020204020204" pitchFamily="34" charset="-122"/>
                          <a:ea typeface="Microsoft YaHei" panose="020B0503020204020204" pitchFamily="34" charset="-122"/>
                        </a:rPr>
                        <a:t>无</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3265409718"/>
                  </a:ext>
                </a:extLst>
              </a:tr>
              <a:tr h="774700">
                <a:tc>
                  <a:txBody>
                    <a:bodyPr/>
                    <a:lstStyle/>
                    <a:p>
                      <a:r>
                        <a:rPr lang="en-US" altLang="zh-CN" sz="1540" b="0">
                          <a:solidFill>
                            <a:srgbClr val="304553"/>
                          </a:solidFill>
                          <a:latin typeface="Microsoft YaHei" panose="020B0503020204020204" pitchFamily="34" charset="-122"/>
                          <a:ea typeface="Microsoft YaHei" panose="020B0503020204020204" pitchFamily="34" charset="-122"/>
                        </a:rPr>
                        <a:t>Mixed FT</a:t>
                      </a:r>
                      <a:endParaRPr lang="zh-CN" altLang="en-US" sz="15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40" b="0">
                          <a:solidFill>
                            <a:srgbClr val="304553"/>
                          </a:solidFill>
                          <a:latin typeface="Microsoft YaHei" panose="020B0503020204020204" pitchFamily="34" charset="-122"/>
                          <a:ea typeface="Microsoft YaHei" panose="020B0503020204020204" pitchFamily="34" charset="-122"/>
                        </a:rPr>
                        <a:t>30</a:t>
                      </a:r>
                      <a:endParaRPr lang="zh-CN" altLang="en-US" sz="15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40" b="0">
                          <a:solidFill>
                            <a:srgbClr val="304553"/>
                          </a:solidFill>
                          <a:latin typeface="Microsoft YaHei" panose="020B0503020204020204" pitchFamily="34" charset="-122"/>
                          <a:ea typeface="Microsoft YaHei" panose="020B0503020204020204" pitchFamily="34" charset="-122"/>
                        </a:rPr>
                        <a:t>双视图、八种混合遮挡，扩大扰动分布</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40" b="0">
                          <a:solidFill>
                            <a:srgbClr val="304553"/>
                          </a:solidFill>
                          <a:latin typeface="Microsoft YaHei" panose="020B0503020204020204" pitchFamily="34" charset="-122"/>
                          <a:ea typeface="Microsoft YaHei" panose="020B0503020204020204" pitchFamily="34" charset="-122"/>
                        </a:rPr>
                        <a:t>无</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2789090608"/>
                  </a:ext>
                </a:extLst>
              </a:tr>
              <a:tr h="774700">
                <a:tc>
                  <a:txBody>
                    <a:bodyPr/>
                    <a:lstStyle/>
                    <a:p>
                      <a:r>
                        <a:rPr lang="en-US" altLang="zh-CN" sz="1540" b="0">
                          <a:solidFill>
                            <a:srgbClr val="304553"/>
                          </a:solidFill>
                          <a:latin typeface="Microsoft YaHei" panose="020B0503020204020204" pitchFamily="34" charset="-122"/>
                          <a:ea typeface="Microsoft YaHei" panose="020B0503020204020204" pitchFamily="34" charset="-122"/>
                        </a:rPr>
                        <a:t>CA-HOFT</a:t>
                      </a:r>
                      <a:endParaRPr lang="zh-CN" altLang="en-US" sz="15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540" b="0">
                          <a:solidFill>
                            <a:srgbClr val="304553"/>
                          </a:solidFill>
                          <a:latin typeface="Microsoft YaHei" panose="020B0503020204020204" pitchFamily="34" charset="-122"/>
                          <a:ea typeface="Microsoft YaHei" panose="020B0503020204020204" pitchFamily="34" charset="-122"/>
                        </a:rPr>
                        <a:t>24</a:t>
                      </a:r>
                      <a:endParaRPr lang="zh-CN" altLang="en-US" sz="15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540" b="0">
                          <a:solidFill>
                            <a:srgbClr val="304553"/>
                          </a:solidFill>
                          <a:latin typeface="Microsoft YaHei" panose="020B0503020204020204" pitchFamily="34" charset="-122"/>
                          <a:ea typeface="Microsoft YaHei" panose="020B0503020204020204" pitchFamily="34" charset="-122"/>
                        </a:rPr>
                        <a:t>双视图、</a:t>
                      </a:r>
                      <a:r>
                        <a:rPr lang="en-US" altLang="zh-CN" sz="1540" b="0">
                          <a:solidFill>
                            <a:srgbClr val="304553"/>
                          </a:solidFill>
                          <a:latin typeface="Microsoft YaHei" panose="020B0503020204020204" pitchFamily="34" charset="-122"/>
                          <a:ea typeface="Microsoft YaHei" panose="020B0503020204020204" pitchFamily="34" charset="-122"/>
                        </a:rPr>
                        <a:t>HardMix</a:t>
                      </a:r>
                      <a:r>
                        <a:rPr lang="zh-CN" altLang="en-US" sz="1540" b="0">
                          <a:solidFill>
                            <a:srgbClr val="304553"/>
                          </a:solidFill>
                          <a:latin typeface="Microsoft YaHei" panose="020B0503020204020204" pitchFamily="34" charset="-122"/>
                          <a:ea typeface="Microsoft YaHei" panose="020B0503020204020204" pitchFamily="34" charset="-122"/>
                        </a:rPr>
                        <a:t>、干净锚与跨视图约束</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540" b="0">
                          <a:solidFill>
                            <a:srgbClr val="304553"/>
                          </a:solidFill>
                          <a:latin typeface="Microsoft YaHei" panose="020B0503020204020204" pitchFamily="34" charset="-122"/>
                          <a:ea typeface="Microsoft YaHei" panose="020B0503020204020204" pitchFamily="34" charset="-122"/>
                        </a:rPr>
                        <a:t>固定 </a:t>
                      </a:r>
                      <a:r>
                        <a:rPr lang="en-US" altLang="zh-CN" sz="1540" b="0">
                          <a:solidFill>
                            <a:srgbClr val="304553"/>
                          </a:solidFill>
                          <a:latin typeface="Microsoft YaHei" panose="020B0503020204020204" pitchFamily="34" charset="-122"/>
                          <a:ea typeface="Microsoft YaHei" panose="020B0503020204020204" pitchFamily="34" charset="-122"/>
                        </a:rPr>
                        <a:t>Mixed FT</a:t>
                      </a:r>
                      <a:endParaRPr lang="zh-CN" altLang="en-US" sz="15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1121931139"/>
                  </a:ext>
                </a:extLst>
              </a:tr>
              <a:tr h="774700">
                <a:tc>
                  <a:txBody>
                    <a:bodyPr/>
                    <a:lstStyle/>
                    <a:p>
                      <a:r>
                        <a:rPr lang="en-US" altLang="zh-CN" sz="1540" b="0">
                          <a:solidFill>
                            <a:srgbClr val="304553"/>
                          </a:solidFill>
                          <a:latin typeface="Microsoft YaHei" panose="020B0503020204020204" pitchFamily="34" charset="-122"/>
                          <a:ea typeface="Microsoft YaHei" panose="020B0503020204020204" pitchFamily="34" charset="-122"/>
                        </a:rPr>
                        <a:t>Recovery FT</a:t>
                      </a:r>
                      <a:endParaRPr lang="zh-CN" altLang="en-US" sz="15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40" b="0">
                          <a:solidFill>
                            <a:srgbClr val="304553"/>
                          </a:solidFill>
                          <a:latin typeface="Microsoft YaHei" panose="020B0503020204020204" pitchFamily="34" charset="-122"/>
                          <a:ea typeface="Microsoft YaHei" panose="020B0503020204020204" pitchFamily="34" charset="-122"/>
                        </a:rPr>
                        <a:t>12</a:t>
                      </a:r>
                      <a:endParaRPr lang="zh-CN" altLang="en-US" sz="15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40" b="0">
                          <a:solidFill>
                            <a:srgbClr val="304553"/>
                          </a:solidFill>
                          <a:latin typeface="Microsoft YaHei" panose="020B0503020204020204" pitchFamily="34" charset="-122"/>
                          <a:ea typeface="Microsoft YaHei" panose="020B0503020204020204" pitchFamily="34" charset="-122"/>
                        </a:rPr>
                        <a:t>更温和的事后诊断，不属于默认模型</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40" b="0">
                          <a:solidFill>
                            <a:srgbClr val="304553"/>
                          </a:solidFill>
                          <a:latin typeface="Microsoft YaHei" panose="020B0503020204020204" pitchFamily="34" charset="-122"/>
                          <a:ea typeface="Microsoft YaHei" panose="020B0503020204020204" pitchFamily="34" charset="-122"/>
                        </a:rPr>
                        <a:t>固定 </a:t>
                      </a:r>
                      <a:r>
                        <a:rPr lang="en-US" altLang="zh-CN" sz="1540" b="0">
                          <a:solidFill>
                            <a:srgbClr val="304553"/>
                          </a:solidFill>
                          <a:latin typeface="Microsoft YaHei" panose="020B0503020204020204" pitchFamily="34" charset="-122"/>
                          <a:ea typeface="Microsoft YaHei" panose="020B0503020204020204" pitchFamily="34" charset="-122"/>
                        </a:rPr>
                        <a:t>Mixed FT</a:t>
                      </a:r>
                      <a:endParaRPr lang="zh-CN" altLang="en-US" sz="15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842902755"/>
                  </a:ext>
                </a:extLst>
              </a:tr>
            </a:tbl>
          </a:graphicData>
        </a:graphic>
      </p:graphicFrame>
    </p:spTree>
    <p:extLst>
      <p:ext uri="{BB962C8B-B14F-4D97-AF65-F5344CB8AC3E}">
        <p14:creationId xmlns:p14="http://schemas.microsoft.com/office/powerpoint/2010/main" val="3627052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1323AFF-D163-97CC-67FD-4758265764BC}"/>
              </a:ext>
            </a:extLst>
          </p:cNvPr>
          <p:cNvSpPr txBox="1"/>
          <p:nvPr/>
        </p:nvSpPr>
        <p:spPr>
          <a:xfrm>
            <a:off x="660400" y="431800"/>
            <a:ext cx="10922000" cy="446276"/>
          </a:xfrm>
          <a:prstGeom prst="rect">
            <a:avLst/>
          </a:prstGeom>
          <a:noFill/>
        </p:spPr>
        <p:txBody>
          <a:bodyPr vert="horz" wrap="square" lIns="0" tIns="0" rIns="0" bIns="0" rtlCol="0">
            <a:spAutoFit/>
          </a:bodyPr>
          <a:lstStyle/>
          <a:p>
            <a:r>
              <a:rPr lang="en-US" altLang="zh-CN" sz="2900" b="1">
                <a:solidFill>
                  <a:srgbClr val="142D42"/>
                </a:solidFill>
                <a:latin typeface="Microsoft YaHei" panose="020B0503020204020204" pitchFamily="34" charset="-122"/>
                <a:ea typeface="Microsoft YaHei" panose="020B0503020204020204" pitchFamily="34" charset="-122"/>
              </a:rPr>
              <a:t>HardMix</a:t>
            </a:r>
            <a:r>
              <a:rPr lang="zh-CN" altLang="en-US" sz="2900" b="1">
                <a:solidFill>
                  <a:srgbClr val="142D42"/>
                </a:solidFill>
                <a:latin typeface="Microsoft YaHei" panose="020B0503020204020204" pitchFamily="34" charset="-122"/>
                <a:ea typeface="Microsoft YaHei" panose="020B0503020204020204" pitchFamily="34" charset="-122"/>
              </a:rPr>
              <a:t>：按面部区域抽样</a:t>
            </a:r>
          </a:p>
        </p:txBody>
      </p:sp>
      <p:sp>
        <p:nvSpPr>
          <p:cNvPr id="3" name="文本框 2">
            <a:extLst>
              <a:ext uri="{FF2B5EF4-FFF2-40B4-BE49-F238E27FC236}">
                <a16:creationId xmlns:a16="http://schemas.microsoft.com/office/drawing/2014/main" id="{D9A167FD-A0B1-1C74-5741-C0D393D134EA}"/>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a:t>
            </a:r>
            <a:r>
              <a:rPr lang="en-US" altLang="zh-CN" sz="950">
                <a:solidFill>
                  <a:srgbClr val="61737E"/>
                </a:solidFill>
                <a:latin typeface="Microsoft YaHei" panose="020B0503020204020204" pitchFamily="34" charset="-122"/>
                <a:ea typeface="Microsoft YaHei" panose="020B0503020204020204" pitchFamily="34" charset="-122"/>
              </a:rPr>
              <a:t>§3.2</a:t>
            </a:r>
            <a:r>
              <a:rPr lang="zh-CN" altLang="en-US" sz="950">
                <a:solidFill>
                  <a:srgbClr val="61737E"/>
                </a:solidFill>
                <a:latin typeface="Microsoft YaHei" panose="020B0503020204020204" pitchFamily="34" charset="-122"/>
                <a:ea typeface="Microsoft YaHei" panose="020B0503020204020204" pitchFamily="34" charset="-122"/>
              </a:rPr>
              <a:t>、式</a:t>
            </a:r>
            <a:r>
              <a:rPr lang="en-US" altLang="zh-CN" sz="950">
                <a:solidFill>
                  <a:srgbClr val="61737E"/>
                </a:solidFill>
                <a:latin typeface="Microsoft YaHei" panose="020B0503020204020204" pitchFamily="34" charset="-122"/>
                <a:ea typeface="Microsoft YaHei" panose="020B0503020204020204" pitchFamily="34" charset="-122"/>
              </a:rPr>
              <a:t>(5)–(6)</a:t>
            </a:r>
            <a:r>
              <a:rPr lang="zh-CN" altLang="en-US" sz="950">
                <a:solidFill>
                  <a:srgbClr val="61737E"/>
                </a:solidFill>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E87FA0C0-798C-8213-7EEB-0DD3CDAEFDE6}"/>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05</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DD0AF116-F487-E508-6712-4A21342492BE}"/>
              </a:ext>
            </a:extLst>
          </p:cNvPr>
          <p:cNvGraphicFramePr>
            <a:graphicFrameLocks noGrp="1"/>
          </p:cNvGraphicFramePr>
          <p:nvPr>
            <p:extLst>
              <p:ext uri="{D42A27DB-BD31-4B8C-83A1-F6EECF244321}">
                <p14:modId xmlns:p14="http://schemas.microsoft.com/office/powerpoint/2010/main" val="2973304674"/>
              </p:ext>
            </p:extLst>
          </p:nvPr>
        </p:nvGraphicFramePr>
        <p:xfrm>
          <a:off x="673100" y="1625600"/>
          <a:ext cx="10833100" cy="3987800"/>
        </p:xfrm>
        <a:graphic>
          <a:graphicData uri="http://schemas.openxmlformats.org/drawingml/2006/table">
            <a:tbl>
              <a:tblPr firstRow="1" bandRow="1">
                <a:tableStyleId>{5C22544A-7EE6-4342-B048-85BDC9FD1C3A}</a:tableStyleId>
              </a:tblPr>
              <a:tblGrid>
                <a:gridCol w="3358261">
                  <a:extLst>
                    <a:ext uri="{9D8B030D-6E8A-4147-A177-3AD203B41FA5}">
                      <a16:colId xmlns:a16="http://schemas.microsoft.com/office/drawing/2014/main" val="1904827203"/>
                    </a:ext>
                  </a:extLst>
                </a:gridCol>
                <a:gridCol w="2166620">
                  <a:extLst>
                    <a:ext uri="{9D8B030D-6E8A-4147-A177-3AD203B41FA5}">
                      <a16:colId xmlns:a16="http://schemas.microsoft.com/office/drawing/2014/main" val="2631383905"/>
                    </a:ext>
                  </a:extLst>
                </a:gridCol>
                <a:gridCol w="5308219">
                  <a:extLst>
                    <a:ext uri="{9D8B030D-6E8A-4147-A177-3AD203B41FA5}">
                      <a16:colId xmlns:a16="http://schemas.microsoft.com/office/drawing/2014/main" val="234232840"/>
                    </a:ext>
                  </a:extLst>
                </a:gridCol>
              </a:tblGrid>
              <a:tr h="664633">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遮挡模式</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激活后概率</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主要区域</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1263439535"/>
                  </a:ext>
                </a:extLst>
              </a:tr>
              <a:tr h="664633">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口罩式</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35%</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鼻下至下巴</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4249690649"/>
                  </a:ext>
                </a:extLst>
              </a:tr>
              <a:tr h="664633">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口部</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20%</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嘴部</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3044312689"/>
                  </a:ext>
                </a:extLst>
              </a:tr>
              <a:tr h="664633">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眼部</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20%</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眼睛</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283883056"/>
                  </a:ext>
                </a:extLst>
              </a:tr>
              <a:tr h="664633">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半脸 </a:t>
                      </a:r>
                      <a:r>
                        <a:rPr lang="en-US" altLang="zh-CN" sz="1550" b="0">
                          <a:solidFill>
                            <a:srgbClr val="304553"/>
                          </a:solidFill>
                          <a:latin typeface="Microsoft YaHei" panose="020B0503020204020204" pitchFamily="34" charset="-122"/>
                          <a:ea typeface="Microsoft YaHei" panose="020B0503020204020204" pitchFamily="34" charset="-122"/>
                        </a:rPr>
                        <a:t>/ </a:t>
                      </a:r>
                      <a:r>
                        <a:rPr lang="zh-CN" altLang="en-US" sz="1550" b="0">
                          <a:solidFill>
                            <a:srgbClr val="304553"/>
                          </a:solidFill>
                          <a:latin typeface="Microsoft YaHei" panose="020B0503020204020204" pitchFamily="34" charset="-122"/>
                          <a:ea typeface="Microsoft YaHei" panose="020B0503020204020204" pitchFamily="34" charset="-122"/>
                        </a:rPr>
                        <a:t>随机块</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各 </a:t>
                      </a:r>
                      <a:r>
                        <a:rPr lang="en-US" altLang="zh-CN" sz="1550" b="0">
                          <a:solidFill>
                            <a:srgbClr val="304553"/>
                          </a:solidFill>
                          <a:latin typeface="Microsoft YaHei" panose="020B0503020204020204" pitchFamily="34" charset="-122"/>
                          <a:ea typeface="Microsoft YaHei" panose="020B0503020204020204" pitchFamily="34" charset="-122"/>
                        </a:rPr>
                        <a:t>10%</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左或右半脸 </a:t>
                      </a:r>
                      <a:r>
                        <a:rPr lang="en-US" altLang="zh-CN" sz="1550" b="0">
                          <a:solidFill>
                            <a:srgbClr val="304553"/>
                          </a:solidFill>
                          <a:latin typeface="Microsoft YaHei" panose="020B0503020204020204" pitchFamily="34" charset="-122"/>
                          <a:ea typeface="Microsoft YaHei" panose="020B0503020204020204" pitchFamily="34" charset="-122"/>
                        </a:rPr>
                        <a:t>/ </a:t>
                      </a:r>
                      <a:r>
                        <a:rPr lang="zh-CN" altLang="en-US" sz="1550" b="0">
                          <a:solidFill>
                            <a:srgbClr val="304553"/>
                          </a:solidFill>
                          <a:latin typeface="Microsoft YaHei" panose="020B0503020204020204" pitchFamily="34" charset="-122"/>
                          <a:ea typeface="Microsoft YaHei" panose="020B0503020204020204" pitchFamily="34" charset="-122"/>
                        </a:rPr>
                        <a:t>图像内块</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878373860"/>
                  </a:ext>
                </a:extLst>
              </a:tr>
              <a:tr h="664633">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随机区域</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5%</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眉、眼、鼻、口等概率</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71969840"/>
                  </a:ext>
                </a:extLst>
              </a:tr>
            </a:tbl>
          </a:graphicData>
        </a:graphic>
      </p:graphicFrame>
      <p:sp>
        <p:nvSpPr>
          <p:cNvPr id="6" name="文本框 5">
            <a:extLst>
              <a:ext uri="{FF2B5EF4-FFF2-40B4-BE49-F238E27FC236}">
                <a16:creationId xmlns:a16="http://schemas.microsoft.com/office/drawing/2014/main" id="{BF7D58AD-CDEF-CA48-D10A-057AB6D74DD0}"/>
              </a:ext>
            </a:extLst>
          </p:cNvPr>
          <p:cNvSpPr txBox="1"/>
          <p:nvPr/>
        </p:nvSpPr>
        <p:spPr>
          <a:xfrm>
            <a:off x="723900" y="5816600"/>
            <a:ext cx="10693400" cy="230832"/>
          </a:xfrm>
          <a:prstGeom prst="rect">
            <a:avLst/>
          </a:prstGeom>
          <a:noFill/>
        </p:spPr>
        <p:txBody>
          <a:bodyPr vert="horz" wrap="square" lIns="0" tIns="0" rIns="0" bIns="0" rtlCol="0">
            <a:spAutoFit/>
          </a:bodyPr>
          <a:lstStyle/>
          <a:p>
            <a:r>
              <a:rPr lang="zh-CN" altLang="en-US" sz="1500" b="1">
                <a:solidFill>
                  <a:srgbClr val="D25B41"/>
                </a:solidFill>
                <a:latin typeface="Microsoft YaHei" panose="020B0503020204020204" pitchFamily="34" charset="-122"/>
                <a:ea typeface="Microsoft YaHei" panose="020B0503020204020204" pitchFamily="34" charset="-122"/>
              </a:rPr>
              <a:t>关键点：</a:t>
            </a:r>
            <a:r>
              <a:rPr lang="en-US" altLang="zh-CN" sz="1500" b="1">
                <a:solidFill>
                  <a:srgbClr val="D25B41"/>
                </a:solidFill>
                <a:latin typeface="Microsoft YaHei" panose="020B0503020204020204" pitchFamily="34" charset="-122"/>
                <a:ea typeface="Microsoft YaHei" panose="020B0503020204020204" pitchFamily="34" charset="-122"/>
              </a:rPr>
              <a:t>HardMix </a:t>
            </a:r>
            <a:r>
              <a:rPr lang="zh-CN" altLang="en-US" sz="1500" b="1">
                <a:solidFill>
                  <a:srgbClr val="D25B41"/>
                </a:solidFill>
                <a:latin typeface="Microsoft YaHei" panose="020B0503020204020204" pitchFamily="34" charset="-122"/>
                <a:ea typeface="Microsoft YaHei" panose="020B0503020204020204" pitchFamily="34" charset="-122"/>
              </a:rPr>
              <a:t>只改变训练图像，不改变真实标签；遮挡激活概率另由训练日程控制。</a:t>
            </a:r>
          </a:p>
        </p:txBody>
      </p:sp>
    </p:spTree>
    <p:extLst>
      <p:ext uri="{BB962C8B-B14F-4D97-AF65-F5344CB8AC3E}">
        <p14:creationId xmlns:p14="http://schemas.microsoft.com/office/powerpoint/2010/main" val="2809468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38B9343-9AE3-E28A-C3CB-F5345D85923D}"/>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双视图与固定教师</a:t>
            </a:r>
          </a:p>
        </p:txBody>
      </p:sp>
      <p:sp>
        <p:nvSpPr>
          <p:cNvPr id="3" name="文本框 2">
            <a:extLst>
              <a:ext uri="{FF2B5EF4-FFF2-40B4-BE49-F238E27FC236}">
                <a16:creationId xmlns:a16="http://schemas.microsoft.com/office/drawing/2014/main" id="{FFA04B23-877A-BC31-6141-DFDD526D640D}"/>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a:t>
            </a:r>
            <a:r>
              <a:rPr lang="en-US" altLang="zh-CN" sz="950">
                <a:solidFill>
                  <a:srgbClr val="61737E"/>
                </a:solidFill>
                <a:latin typeface="Microsoft YaHei" panose="020B0503020204020204" pitchFamily="34" charset="-122"/>
                <a:ea typeface="Microsoft YaHei" panose="020B0503020204020204" pitchFamily="34" charset="-122"/>
              </a:rPr>
              <a:t>§3.1</a:t>
            </a:r>
            <a:r>
              <a:rPr lang="zh-CN" altLang="en-US" sz="950">
                <a:solidFill>
                  <a:srgbClr val="61737E"/>
                </a:solidFill>
                <a:latin typeface="Microsoft YaHei" panose="020B0503020204020204" pitchFamily="34" charset="-122"/>
                <a:ea typeface="Microsoft YaHei" panose="020B0503020204020204" pitchFamily="34" charset="-122"/>
              </a:rPr>
              <a:t>、图</a:t>
            </a:r>
            <a:r>
              <a:rPr lang="en-US" altLang="zh-CN" sz="950">
                <a:solidFill>
                  <a:srgbClr val="61737E"/>
                </a:solidFill>
                <a:latin typeface="Microsoft YaHei" panose="020B0503020204020204" pitchFamily="34" charset="-122"/>
                <a:ea typeface="Microsoft YaHei" panose="020B0503020204020204" pitchFamily="34" charset="-122"/>
              </a:rPr>
              <a:t>1–2</a:t>
            </a:r>
            <a:r>
              <a:rPr lang="zh-CN" altLang="en-US" sz="950">
                <a:solidFill>
                  <a:srgbClr val="61737E"/>
                </a:solidFill>
                <a:latin typeface="Microsoft YaHei" panose="020B0503020204020204" pitchFamily="34" charset="-122"/>
                <a:ea typeface="Microsoft YaHei" panose="020B0503020204020204" pitchFamily="34" charset="-122"/>
              </a:rPr>
              <a:t>、式</a:t>
            </a:r>
            <a:r>
              <a:rPr lang="en-US" altLang="zh-CN" sz="950">
                <a:solidFill>
                  <a:srgbClr val="61737E"/>
                </a:solidFill>
                <a:latin typeface="Microsoft YaHei" panose="020B0503020204020204" pitchFamily="34" charset="-122"/>
                <a:ea typeface="Microsoft YaHei" panose="020B0503020204020204" pitchFamily="34" charset="-122"/>
              </a:rPr>
              <a:t>(1)–(2)</a:t>
            </a:r>
            <a:r>
              <a:rPr lang="zh-CN" altLang="en-US" sz="950">
                <a:solidFill>
                  <a:srgbClr val="61737E"/>
                </a:solidFill>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9BE87123-4B2B-85A4-DFD4-00701C3E0D4F}"/>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06</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795E11EB-479E-91C7-5AE7-B02E0CD8052C}"/>
              </a:ext>
            </a:extLst>
          </p:cNvPr>
          <p:cNvGraphicFramePr>
            <a:graphicFrameLocks noGrp="1"/>
          </p:cNvGraphicFramePr>
          <p:nvPr>
            <p:extLst>
              <p:ext uri="{D42A27DB-BD31-4B8C-83A1-F6EECF244321}">
                <p14:modId xmlns:p14="http://schemas.microsoft.com/office/powerpoint/2010/main" val="872730038"/>
              </p:ext>
            </p:extLst>
          </p:nvPr>
        </p:nvGraphicFramePr>
        <p:xfrm>
          <a:off x="673100" y="1828800"/>
          <a:ext cx="10833100" cy="3302000"/>
        </p:xfrm>
        <a:graphic>
          <a:graphicData uri="http://schemas.openxmlformats.org/drawingml/2006/table">
            <a:tbl>
              <a:tblPr firstRow="1" bandRow="1">
                <a:tableStyleId>{5C22544A-7EE6-4342-B048-85BDC9FD1C3A}</a:tableStyleId>
              </a:tblPr>
              <a:tblGrid>
                <a:gridCol w="2599944">
                  <a:extLst>
                    <a:ext uri="{9D8B030D-6E8A-4147-A177-3AD203B41FA5}">
                      <a16:colId xmlns:a16="http://schemas.microsoft.com/office/drawing/2014/main" val="3069784569"/>
                    </a:ext>
                  </a:extLst>
                </a:gridCol>
                <a:gridCol w="2058289">
                  <a:extLst>
                    <a:ext uri="{9D8B030D-6E8A-4147-A177-3AD203B41FA5}">
                      <a16:colId xmlns:a16="http://schemas.microsoft.com/office/drawing/2014/main" val="3288583423"/>
                    </a:ext>
                  </a:extLst>
                </a:gridCol>
                <a:gridCol w="4224909">
                  <a:extLst>
                    <a:ext uri="{9D8B030D-6E8A-4147-A177-3AD203B41FA5}">
                      <a16:colId xmlns:a16="http://schemas.microsoft.com/office/drawing/2014/main" val="1008832308"/>
                    </a:ext>
                  </a:extLst>
                </a:gridCol>
                <a:gridCol w="1949958">
                  <a:extLst>
                    <a:ext uri="{9D8B030D-6E8A-4147-A177-3AD203B41FA5}">
                      <a16:colId xmlns:a16="http://schemas.microsoft.com/office/drawing/2014/main" val="940910275"/>
                    </a:ext>
                  </a:extLst>
                </a:gridCol>
              </a:tblGrid>
              <a:tr h="825500">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对象</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输入</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训练信号</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是否部署</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2537203010"/>
                  </a:ext>
                </a:extLst>
              </a:tr>
              <a:tr h="825500">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学生</a:t>
                      </a:r>
                      <a:r>
                        <a:rPr lang="en-US" altLang="zh-CN" sz="1550" b="0">
                          <a:solidFill>
                            <a:srgbClr val="304553"/>
                          </a:solidFill>
                          <a:latin typeface="Microsoft YaHei" panose="020B0503020204020204" pitchFamily="34" charset="-122"/>
                          <a:ea typeface="Microsoft YaHei" panose="020B0503020204020204" pitchFamily="34" charset="-122"/>
                        </a:rPr>
                        <a:t>·</a:t>
                      </a:r>
                      <a:r>
                        <a:rPr lang="zh-CN" altLang="en-US" sz="1550" b="0">
                          <a:solidFill>
                            <a:srgbClr val="304553"/>
                          </a:solidFill>
                          <a:latin typeface="Microsoft YaHei" panose="020B0503020204020204" pitchFamily="34" charset="-122"/>
                          <a:ea typeface="Microsoft YaHei" panose="020B0503020204020204" pitchFamily="34" charset="-122"/>
                        </a:rPr>
                        <a:t>非 </a:t>
                      </a:r>
                      <a:r>
                        <a:rPr lang="en-US" altLang="zh-CN" sz="1550" b="0">
                          <a:solidFill>
                            <a:srgbClr val="304553"/>
                          </a:solidFill>
                          <a:latin typeface="Microsoft YaHei" panose="020B0503020204020204" pitchFamily="34" charset="-122"/>
                          <a:ea typeface="Microsoft YaHei" panose="020B0503020204020204" pitchFamily="34" charset="-122"/>
                        </a:rPr>
                        <a:t>HardMix</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x</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真实标签 </a:t>
                      </a:r>
                      <a:r>
                        <a:rPr lang="en-US" altLang="zh-CN" sz="1550" b="0">
                          <a:solidFill>
                            <a:srgbClr val="304553"/>
                          </a:solidFill>
                          <a:latin typeface="Microsoft YaHei" panose="020B0503020204020204" pitchFamily="34" charset="-122"/>
                          <a:ea typeface="Microsoft YaHei" panose="020B0503020204020204" pitchFamily="34" charset="-122"/>
                        </a:rPr>
                        <a:t>+ </a:t>
                      </a:r>
                      <a:r>
                        <a:rPr lang="zh-CN" altLang="en-US" sz="1550" b="0">
                          <a:solidFill>
                            <a:srgbClr val="304553"/>
                          </a:solidFill>
                          <a:latin typeface="Microsoft YaHei" panose="020B0503020204020204" pitchFamily="34" charset="-122"/>
                          <a:ea typeface="Microsoft YaHei" panose="020B0503020204020204" pitchFamily="34" charset="-122"/>
                        </a:rPr>
                        <a:t>教师 </a:t>
                      </a:r>
                      <a:r>
                        <a:rPr lang="en-US" altLang="zh-CN" sz="1550" b="0">
                          <a:solidFill>
                            <a:srgbClr val="304553"/>
                          </a:solidFill>
                          <a:latin typeface="Microsoft YaHei" panose="020B0503020204020204" pitchFamily="34" charset="-122"/>
                          <a:ea typeface="Microsoft YaHei" panose="020B0503020204020204" pitchFamily="34" charset="-122"/>
                        </a:rPr>
                        <a:t>KL</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同一学生</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3158350425"/>
                  </a:ext>
                </a:extLst>
              </a:tr>
              <a:tr h="825500">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学生</a:t>
                      </a:r>
                      <a:r>
                        <a:rPr lang="en-US" altLang="zh-CN" sz="1550" b="0">
                          <a:solidFill>
                            <a:srgbClr val="304553"/>
                          </a:solidFill>
                          <a:latin typeface="Microsoft YaHei" panose="020B0503020204020204" pitchFamily="34" charset="-122"/>
                          <a:ea typeface="Microsoft YaHei" panose="020B0503020204020204" pitchFamily="34" charset="-122"/>
                        </a:rPr>
                        <a:t>·HardMix</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x̃</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真实标签 </a:t>
                      </a:r>
                      <a:r>
                        <a:rPr lang="en-US" altLang="zh-CN" sz="1550" b="0">
                          <a:solidFill>
                            <a:srgbClr val="304553"/>
                          </a:solidFill>
                          <a:latin typeface="Microsoft YaHei" panose="020B0503020204020204" pitchFamily="34" charset="-122"/>
                          <a:ea typeface="Microsoft YaHei" panose="020B0503020204020204" pitchFamily="34" charset="-122"/>
                        </a:rPr>
                        <a:t>+ </a:t>
                      </a:r>
                      <a:r>
                        <a:rPr lang="zh-CN" altLang="en-US" sz="1550" b="0">
                          <a:solidFill>
                            <a:srgbClr val="304553"/>
                          </a:solidFill>
                          <a:latin typeface="Microsoft YaHei" panose="020B0503020204020204" pitchFamily="34" charset="-122"/>
                          <a:ea typeface="Microsoft YaHei" panose="020B0503020204020204" pitchFamily="34" charset="-122"/>
                        </a:rPr>
                        <a:t>跨视图教师 </a:t>
                      </a:r>
                      <a:r>
                        <a:rPr lang="en-US" altLang="zh-CN" sz="1550" b="0">
                          <a:solidFill>
                            <a:srgbClr val="304553"/>
                          </a:solidFill>
                          <a:latin typeface="Microsoft YaHei" panose="020B0503020204020204" pitchFamily="34" charset="-122"/>
                          <a:ea typeface="Microsoft YaHei" panose="020B0503020204020204" pitchFamily="34" charset="-122"/>
                        </a:rPr>
                        <a:t>KL</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同一学生</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1540994093"/>
                  </a:ext>
                </a:extLst>
              </a:tr>
              <a:tr h="825500">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固定教师</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x</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提供停止梯度的软分布</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不部署</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3646061436"/>
                  </a:ext>
                </a:extLst>
              </a:tr>
            </a:tbl>
          </a:graphicData>
        </a:graphic>
      </p:graphicFrame>
      <p:sp>
        <p:nvSpPr>
          <p:cNvPr id="6" name="文本框 5">
            <a:extLst>
              <a:ext uri="{FF2B5EF4-FFF2-40B4-BE49-F238E27FC236}">
                <a16:creationId xmlns:a16="http://schemas.microsoft.com/office/drawing/2014/main" id="{7478EAE3-795C-9FC7-F382-3B944C0D2F8B}"/>
              </a:ext>
            </a:extLst>
          </p:cNvPr>
          <p:cNvSpPr txBox="1"/>
          <p:nvPr/>
        </p:nvSpPr>
        <p:spPr>
          <a:xfrm>
            <a:off x="723900" y="5511800"/>
            <a:ext cx="10668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两条学生分支共享参数；推理时只调用一次学生网络。</a:t>
            </a:r>
          </a:p>
        </p:txBody>
      </p:sp>
    </p:spTree>
    <p:extLst>
      <p:ext uri="{BB962C8B-B14F-4D97-AF65-F5344CB8AC3E}">
        <p14:creationId xmlns:p14="http://schemas.microsoft.com/office/powerpoint/2010/main" val="847212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C64D93C-46CF-B673-BAD3-FCCB9A979CBF}"/>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四项损失如何协作</a:t>
            </a:r>
          </a:p>
        </p:txBody>
      </p:sp>
      <p:sp>
        <p:nvSpPr>
          <p:cNvPr id="3" name="文本框 2">
            <a:extLst>
              <a:ext uri="{FF2B5EF4-FFF2-40B4-BE49-F238E27FC236}">
                <a16:creationId xmlns:a16="http://schemas.microsoft.com/office/drawing/2014/main" id="{1F31F27C-9744-7E19-1545-3D3B459E987E}"/>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a:t>
            </a:r>
            <a:r>
              <a:rPr lang="en-US" altLang="zh-CN" sz="950">
                <a:solidFill>
                  <a:srgbClr val="61737E"/>
                </a:solidFill>
                <a:latin typeface="Microsoft YaHei" panose="020B0503020204020204" pitchFamily="34" charset="-122"/>
                <a:ea typeface="Microsoft YaHei" panose="020B0503020204020204" pitchFamily="34" charset="-122"/>
              </a:rPr>
              <a:t>§3.3</a:t>
            </a:r>
            <a:r>
              <a:rPr lang="zh-CN" altLang="en-US" sz="950">
                <a:solidFill>
                  <a:srgbClr val="61737E"/>
                </a:solidFill>
                <a:latin typeface="Microsoft YaHei" panose="020B0503020204020204" pitchFamily="34" charset="-122"/>
                <a:ea typeface="Microsoft YaHei" panose="020B0503020204020204" pitchFamily="34" charset="-122"/>
              </a:rPr>
              <a:t>、式</a:t>
            </a:r>
            <a:r>
              <a:rPr lang="en-US" altLang="zh-CN" sz="950">
                <a:solidFill>
                  <a:srgbClr val="61737E"/>
                </a:solidFill>
                <a:latin typeface="Microsoft YaHei" panose="020B0503020204020204" pitchFamily="34" charset="-122"/>
                <a:ea typeface="Microsoft YaHei" panose="020B0503020204020204" pitchFamily="34" charset="-122"/>
              </a:rPr>
              <a:t>(7)–(10)</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T=2</a:t>
            </a:r>
            <a:r>
              <a:rPr lang="zh-CN" altLang="en-US" sz="950">
                <a:solidFill>
                  <a:srgbClr val="61737E"/>
                </a:solidFill>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465A982E-6C0D-CF4B-DD0F-E39EE5E917DD}"/>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07</a:t>
            </a:r>
            <a:endParaRPr lang="zh-CN" altLang="en-US" sz="1000">
              <a:solidFill>
                <a:srgbClr val="61737E"/>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425D47E3-6A96-A10C-4BAB-B6B9C619EF55}"/>
              </a:ext>
            </a:extLst>
          </p:cNvPr>
          <p:cNvSpPr txBox="1"/>
          <p:nvPr/>
        </p:nvSpPr>
        <p:spPr>
          <a:xfrm>
            <a:off x="698500" y="1574800"/>
            <a:ext cx="10922000" cy="307777"/>
          </a:xfrm>
          <a:prstGeom prst="rect">
            <a:avLst/>
          </a:prstGeom>
          <a:noFill/>
        </p:spPr>
        <p:txBody>
          <a:bodyPr vert="horz" wrap="square" lIns="0" tIns="0" rIns="0" bIns="0" rtlCol="0">
            <a:spAutoFit/>
          </a:bodyPr>
          <a:lstStyle/>
          <a:p>
            <a:r>
              <a:rPr lang="en-US" altLang="zh-CN" sz="2000" b="1">
                <a:solidFill>
                  <a:srgbClr val="142D42"/>
                </a:solidFill>
                <a:latin typeface="Microsoft YaHei" panose="020B0503020204020204" pitchFamily="34" charset="-122"/>
                <a:ea typeface="Microsoft YaHei" panose="020B0503020204020204" pitchFamily="34" charset="-122"/>
              </a:rPr>
              <a:t>L = CE(x,y) + </a:t>
            </a:r>
            <a:r>
              <a:rPr lang="el-GR" altLang="zh-CN" sz="2000" b="1">
                <a:solidFill>
                  <a:srgbClr val="142D42"/>
                </a:solidFill>
                <a:latin typeface="Microsoft YaHei" panose="020B0503020204020204" pitchFamily="34" charset="-122"/>
                <a:ea typeface="Microsoft YaHei" panose="020B0503020204020204" pitchFamily="34" charset="-122"/>
              </a:rPr>
              <a:t>λ</a:t>
            </a:r>
            <a:r>
              <a:rPr lang="en-US" altLang="zh-CN" sz="2000" b="1">
                <a:solidFill>
                  <a:srgbClr val="142D42"/>
                </a:solidFill>
                <a:latin typeface="Microsoft YaHei" panose="020B0503020204020204" pitchFamily="34" charset="-122"/>
                <a:ea typeface="Microsoft YaHei" panose="020B0503020204020204" pitchFamily="34" charset="-122"/>
              </a:rPr>
              <a:t>occ CE(x̃,y) + </a:t>
            </a:r>
            <a:r>
              <a:rPr lang="el-GR" altLang="zh-CN" sz="2000" b="1">
                <a:solidFill>
                  <a:srgbClr val="142D42"/>
                </a:solidFill>
                <a:latin typeface="Microsoft YaHei" panose="020B0503020204020204" pitchFamily="34" charset="-122"/>
                <a:ea typeface="Microsoft YaHei" panose="020B0503020204020204" pitchFamily="34" charset="-122"/>
              </a:rPr>
              <a:t>λ</a:t>
            </a:r>
            <a:r>
              <a:rPr lang="en-US" altLang="zh-CN" sz="2000" b="1">
                <a:solidFill>
                  <a:srgbClr val="142D42"/>
                </a:solidFill>
                <a:latin typeface="Microsoft YaHei" panose="020B0503020204020204" pitchFamily="34" charset="-122"/>
                <a:ea typeface="Microsoft YaHei" panose="020B0503020204020204" pitchFamily="34" charset="-122"/>
              </a:rPr>
              <a:t>ct T² KL(q</a:t>
            </a:r>
            <a:r>
              <a:rPr lang="el-GR" altLang="zh-CN" sz="2000" b="1">
                <a:solidFill>
                  <a:srgbClr val="142D42"/>
                </a:solidFill>
                <a:latin typeface="Microsoft YaHei" panose="020B0503020204020204" pitchFamily="34" charset="-122"/>
                <a:ea typeface="Microsoft YaHei" panose="020B0503020204020204" pitchFamily="34" charset="-122"/>
              </a:rPr>
              <a:t>φ</a:t>
            </a:r>
            <a:r>
              <a:rPr lang="en-US" altLang="zh-CN" sz="2000" b="1">
                <a:solidFill>
                  <a:srgbClr val="142D42"/>
                </a:solidFill>
                <a:latin typeface="Microsoft YaHei" panose="020B0503020204020204" pitchFamily="34" charset="-122"/>
                <a:ea typeface="Microsoft YaHei" panose="020B0503020204020204" pitchFamily="34" charset="-122"/>
              </a:rPr>
              <a:t>ᵀ(x)∥p</a:t>
            </a:r>
            <a:r>
              <a:rPr lang="el-GR" altLang="zh-CN" sz="2000" b="1">
                <a:solidFill>
                  <a:srgbClr val="142D42"/>
                </a:solidFill>
                <a:latin typeface="Microsoft YaHei" panose="020B0503020204020204" pitchFamily="34" charset="-122"/>
                <a:ea typeface="Microsoft YaHei" panose="020B0503020204020204" pitchFamily="34" charset="-122"/>
              </a:rPr>
              <a:t>θ</a:t>
            </a:r>
            <a:r>
              <a:rPr lang="en-US" altLang="zh-CN" sz="2000" b="1">
                <a:solidFill>
                  <a:srgbClr val="142D42"/>
                </a:solidFill>
                <a:latin typeface="Microsoft YaHei" panose="020B0503020204020204" pitchFamily="34" charset="-122"/>
                <a:ea typeface="Microsoft YaHei" panose="020B0503020204020204" pitchFamily="34" charset="-122"/>
              </a:rPr>
              <a:t>ᵀ(x)) + </a:t>
            </a:r>
            <a:r>
              <a:rPr lang="el-GR" altLang="zh-CN" sz="2000" b="1">
                <a:solidFill>
                  <a:srgbClr val="142D42"/>
                </a:solidFill>
                <a:latin typeface="Microsoft YaHei" panose="020B0503020204020204" pitchFamily="34" charset="-122"/>
                <a:ea typeface="Microsoft YaHei" panose="020B0503020204020204" pitchFamily="34" charset="-122"/>
              </a:rPr>
              <a:t>λ</a:t>
            </a:r>
            <a:r>
              <a:rPr lang="en-US" altLang="zh-CN" sz="2000" b="1">
                <a:solidFill>
                  <a:srgbClr val="142D42"/>
                </a:solidFill>
                <a:latin typeface="Microsoft YaHei" panose="020B0503020204020204" pitchFamily="34" charset="-122"/>
                <a:ea typeface="Microsoft YaHei" panose="020B0503020204020204" pitchFamily="34" charset="-122"/>
              </a:rPr>
              <a:t>ot T² KL(q</a:t>
            </a:r>
            <a:r>
              <a:rPr lang="el-GR" altLang="zh-CN" sz="2000" b="1">
                <a:solidFill>
                  <a:srgbClr val="142D42"/>
                </a:solidFill>
                <a:latin typeface="Microsoft YaHei" panose="020B0503020204020204" pitchFamily="34" charset="-122"/>
                <a:ea typeface="Microsoft YaHei" panose="020B0503020204020204" pitchFamily="34" charset="-122"/>
              </a:rPr>
              <a:t>φ</a:t>
            </a:r>
            <a:r>
              <a:rPr lang="en-US" altLang="zh-CN" sz="2000" b="1">
                <a:solidFill>
                  <a:srgbClr val="142D42"/>
                </a:solidFill>
                <a:latin typeface="Microsoft YaHei" panose="020B0503020204020204" pitchFamily="34" charset="-122"/>
                <a:ea typeface="Microsoft YaHei" panose="020B0503020204020204" pitchFamily="34" charset="-122"/>
              </a:rPr>
              <a:t>ᵀ(x)∥p</a:t>
            </a:r>
            <a:r>
              <a:rPr lang="el-GR" altLang="zh-CN" sz="2000" b="1">
                <a:solidFill>
                  <a:srgbClr val="142D42"/>
                </a:solidFill>
                <a:latin typeface="Microsoft YaHei" panose="020B0503020204020204" pitchFamily="34" charset="-122"/>
                <a:ea typeface="Microsoft YaHei" panose="020B0503020204020204" pitchFamily="34" charset="-122"/>
              </a:rPr>
              <a:t>θ</a:t>
            </a:r>
            <a:r>
              <a:rPr lang="en-US" altLang="zh-CN" sz="2000" b="1">
                <a:solidFill>
                  <a:srgbClr val="142D42"/>
                </a:solidFill>
                <a:latin typeface="Microsoft YaHei" panose="020B0503020204020204" pitchFamily="34" charset="-122"/>
                <a:ea typeface="Microsoft YaHei" panose="020B0503020204020204" pitchFamily="34" charset="-122"/>
              </a:rPr>
              <a:t>ᵀ(x̃))</a:t>
            </a:r>
            <a:endParaRPr lang="zh-CN" altLang="en-US" sz="2000" b="1">
              <a:solidFill>
                <a:srgbClr val="142D42"/>
              </a:solidFill>
              <a:latin typeface="Microsoft YaHei" panose="020B0503020204020204" pitchFamily="34" charset="-122"/>
              <a:ea typeface="Microsoft YaHei" panose="020B0503020204020204" pitchFamily="34" charset="-122"/>
            </a:endParaRPr>
          </a:p>
        </p:txBody>
      </p:sp>
      <p:graphicFrame>
        <p:nvGraphicFramePr>
          <p:cNvPr id="6" name="表格 5">
            <a:extLst>
              <a:ext uri="{FF2B5EF4-FFF2-40B4-BE49-F238E27FC236}">
                <a16:creationId xmlns:a16="http://schemas.microsoft.com/office/drawing/2014/main" id="{1431F2BD-8027-1A33-455F-BF77137E264D}"/>
              </a:ext>
            </a:extLst>
          </p:cNvPr>
          <p:cNvGraphicFramePr>
            <a:graphicFrameLocks noGrp="1"/>
          </p:cNvGraphicFramePr>
          <p:nvPr>
            <p:extLst>
              <p:ext uri="{D42A27DB-BD31-4B8C-83A1-F6EECF244321}">
                <p14:modId xmlns:p14="http://schemas.microsoft.com/office/powerpoint/2010/main" val="3966387704"/>
              </p:ext>
            </p:extLst>
          </p:nvPr>
        </p:nvGraphicFramePr>
        <p:xfrm>
          <a:off x="698500" y="2794000"/>
          <a:ext cx="10795000" cy="31623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653272097"/>
                    </a:ext>
                  </a:extLst>
                </a:gridCol>
                <a:gridCol w="5289550">
                  <a:extLst>
                    <a:ext uri="{9D8B030D-6E8A-4147-A177-3AD203B41FA5}">
                      <a16:colId xmlns:a16="http://schemas.microsoft.com/office/drawing/2014/main" val="4294562424"/>
                    </a:ext>
                  </a:extLst>
                </a:gridCol>
                <a:gridCol w="2914650">
                  <a:extLst>
                    <a:ext uri="{9D8B030D-6E8A-4147-A177-3AD203B41FA5}">
                      <a16:colId xmlns:a16="http://schemas.microsoft.com/office/drawing/2014/main" val="2550901013"/>
                    </a:ext>
                  </a:extLst>
                </a:gridCol>
              </a:tblGrid>
              <a:tr h="632460">
                <a:tc>
                  <a:txBody>
                    <a:bodyPr/>
                    <a:lstStyle/>
                    <a:p>
                      <a:r>
                        <a:rPr lang="zh-CN" altLang="en-US" sz="1470" b="1">
                          <a:solidFill>
                            <a:srgbClr val="FFFFFF"/>
                          </a:solidFill>
                          <a:latin typeface="Microsoft YaHei" panose="020B0503020204020204" pitchFamily="34" charset="-122"/>
                          <a:ea typeface="Microsoft YaHei" panose="020B0503020204020204" pitchFamily="34" charset="-122"/>
                        </a:rPr>
                        <a:t>损失项</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70" b="1">
                          <a:solidFill>
                            <a:srgbClr val="FFFFFF"/>
                          </a:solidFill>
                          <a:latin typeface="Microsoft YaHei" panose="020B0503020204020204" pitchFamily="34" charset="-122"/>
                          <a:ea typeface="Microsoft YaHei" panose="020B0503020204020204" pitchFamily="34" charset="-122"/>
                        </a:rPr>
                        <a:t>作用</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70" b="1">
                          <a:solidFill>
                            <a:srgbClr val="FFFFFF"/>
                          </a:solidFill>
                          <a:latin typeface="Microsoft YaHei" panose="020B0503020204020204" pitchFamily="34" charset="-122"/>
                          <a:ea typeface="Microsoft YaHei" panose="020B0503020204020204" pitchFamily="34" charset="-122"/>
                        </a:rPr>
                        <a:t>论文设置</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4231456228"/>
                  </a:ext>
                </a:extLst>
              </a:tr>
              <a:tr h="632460">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干净标签 </a:t>
                      </a:r>
                      <a:r>
                        <a:rPr lang="en-US" altLang="zh-CN" sz="1470" b="0">
                          <a:solidFill>
                            <a:srgbClr val="304553"/>
                          </a:solidFill>
                          <a:latin typeface="Microsoft YaHei" panose="020B0503020204020204" pitchFamily="34" charset="-122"/>
                          <a:ea typeface="Microsoft YaHei" panose="020B0503020204020204" pitchFamily="34" charset="-122"/>
                        </a:rPr>
                        <a:t>CE</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保留原图分类边界</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始终存在</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4144144862"/>
                  </a:ext>
                </a:extLst>
              </a:tr>
              <a:tr h="632460">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遮挡标签 </a:t>
                      </a:r>
                      <a:r>
                        <a:rPr lang="en-US" altLang="zh-CN" sz="1470" b="0">
                          <a:solidFill>
                            <a:srgbClr val="304553"/>
                          </a:solidFill>
                          <a:latin typeface="Microsoft YaHei" panose="020B0503020204020204" pitchFamily="34" charset="-122"/>
                          <a:ea typeface="Microsoft YaHei" panose="020B0503020204020204" pitchFamily="34" charset="-122"/>
                        </a:rPr>
                        <a:t>CE</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学习缺失线索下的分类</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l-GR" altLang="zh-CN" sz="1470" b="0">
                          <a:solidFill>
                            <a:srgbClr val="304553"/>
                          </a:solidFill>
                          <a:latin typeface="Microsoft YaHei" panose="020B0503020204020204" pitchFamily="34" charset="-122"/>
                          <a:ea typeface="Microsoft YaHei" panose="020B0503020204020204" pitchFamily="34" charset="-122"/>
                        </a:rPr>
                        <a:t>λ</a:t>
                      </a:r>
                      <a:r>
                        <a:rPr lang="en-US" altLang="zh-CN" sz="1470" b="0">
                          <a:solidFill>
                            <a:srgbClr val="304553"/>
                          </a:solidFill>
                          <a:latin typeface="Microsoft YaHei" panose="020B0503020204020204" pitchFamily="34" charset="-122"/>
                          <a:ea typeface="Microsoft YaHei" panose="020B0503020204020204" pitchFamily="34" charset="-122"/>
                        </a:rPr>
                        <a:t>occ </a:t>
                      </a:r>
                      <a:r>
                        <a:rPr lang="zh-CN" altLang="en-US" sz="1470" b="0">
                          <a:solidFill>
                            <a:srgbClr val="304553"/>
                          </a:solidFill>
                          <a:latin typeface="Microsoft YaHei" panose="020B0503020204020204" pitchFamily="34" charset="-122"/>
                          <a:ea typeface="Microsoft YaHei" panose="020B0503020204020204" pitchFamily="34" charset="-122"/>
                        </a:rPr>
                        <a:t>随阶段变化</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1250439968"/>
                  </a:ext>
                </a:extLst>
              </a:tr>
              <a:tr h="632460">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干净视图 </a:t>
                      </a:r>
                      <a:r>
                        <a:rPr lang="en-US" altLang="zh-CN" sz="1470" b="0">
                          <a:solidFill>
                            <a:srgbClr val="304553"/>
                          </a:solidFill>
                          <a:latin typeface="Microsoft YaHei" panose="020B0503020204020204" pitchFamily="34" charset="-122"/>
                          <a:ea typeface="Microsoft YaHei" panose="020B0503020204020204" pitchFamily="34" charset="-122"/>
                        </a:rPr>
                        <a:t>KL</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保留固定教师的软关系</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l-GR" altLang="zh-CN" sz="1470" b="0">
                          <a:solidFill>
                            <a:srgbClr val="304553"/>
                          </a:solidFill>
                          <a:latin typeface="Microsoft YaHei" panose="020B0503020204020204" pitchFamily="34" charset="-122"/>
                          <a:ea typeface="Microsoft YaHei" panose="020B0503020204020204" pitchFamily="34" charset="-122"/>
                        </a:rPr>
                        <a:t>λ</a:t>
                      </a:r>
                      <a:r>
                        <a:rPr lang="en-US" altLang="zh-CN" sz="1470" b="0">
                          <a:solidFill>
                            <a:srgbClr val="304553"/>
                          </a:solidFill>
                          <a:latin typeface="Microsoft YaHei" panose="020B0503020204020204" pitchFamily="34" charset="-122"/>
                          <a:ea typeface="Microsoft YaHei" panose="020B0503020204020204" pitchFamily="34" charset="-122"/>
                        </a:rPr>
                        <a:t>ct = 0.60</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3242438357"/>
                  </a:ext>
                </a:extLst>
              </a:tr>
              <a:tr h="632460">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跨视图 </a:t>
                      </a:r>
                      <a:r>
                        <a:rPr lang="en-US" altLang="zh-CN" sz="1470" b="0">
                          <a:solidFill>
                            <a:srgbClr val="304553"/>
                          </a:solidFill>
                          <a:latin typeface="Microsoft YaHei" panose="020B0503020204020204" pitchFamily="34" charset="-122"/>
                          <a:ea typeface="Microsoft YaHei" panose="020B0503020204020204" pitchFamily="34" charset="-122"/>
                        </a:rPr>
                        <a:t>KL</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把原图参考传给遮挡视图</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l-GR" altLang="zh-CN" sz="1470" b="0">
                          <a:solidFill>
                            <a:srgbClr val="304553"/>
                          </a:solidFill>
                          <a:latin typeface="Microsoft YaHei" panose="020B0503020204020204" pitchFamily="34" charset="-122"/>
                          <a:ea typeface="Microsoft YaHei" panose="020B0503020204020204" pitchFamily="34" charset="-122"/>
                        </a:rPr>
                        <a:t>λ</a:t>
                      </a:r>
                      <a:r>
                        <a:rPr lang="en-US" altLang="zh-CN" sz="1470" b="0">
                          <a:solidFill>
                            <a:srgbClr val="304553"/>
                          </a:solidFill>
                          <a:latin typeface="Microsoft YaHei" panose="020B0503020204020204" pitchFamily="34" charset="-122"/>
                          <a:ea typeface="Microsoft YaHei" panose="020B0503020204020204" pitchFamily="34" charset="-122"/>
                        </a:rPr>
                        <a:t>ot = 0.25</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1506330430"/>
                  </a:ext>
                </a:extLst>
              </a:tr>
            </a:tbl>
          </a:graphicData>
        </a:graphic>
      </p:graphicFrame>
    </p:spTree>
    <p:extLst>
      <p:ext uri="{BB962C8B-B14F-4D97-AF65-F5344CB8AC3E}">
        <p14:creationId xmlns:p14="http://schemas.microsoft.com/office/powerpoint/2010/main" val="4078829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E3F1C2E-ECC8-DEDD-FD6D-67CFBDEAF7E5}"/>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训练与评估协议</a:t>
            </a:r>
          </a:p>
        </p:txBody>
      </p:sp>
      <p:sp>
        <p:nvSpPr>
          <p:cNvPr id="3" name="文本框 2">
            <a:extLst>
              <a:ext uri="{FF2B5EF4-FFF2-40B4-BE49-F238E27FC236}">
                <a16:creationId xmlns:a16="http://schemas.microsoft.com/office/drawing/2014/main" id="{33245470-8F9F-1DAF-580C-4DBF2DB179AD}"/>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a:t>
            </a:r>
            <a:r>
              <a:rPr lang="en-US" altLang="zh-CN" sz="950">
                <a:solidFill>
                  <a:srgbClr val="61737E"/>
                </a:solidFill>
                <a:latin typeface="Microsoft YaHei" panose="020B0503020204020204" pitchFamily="34" charset="-122"/>
                <a:ea typeface="Microsoft YaHei" panose="020B0503020204020204" pitchFamily="34" charset="-122"/>
              </a:rPr>
              <a:t>§4.1</a:t>
            </a:r>
            <a:r>
              <a:rPr lang="zh-CN" altLang="en-US" sz="950">
                <a:solidFill>
                  <a:srgbClr val="61737E"/>
                </a:solidFill>
                <a:latin typeface="Microsoft YaHei" panose="020B0503020204020204" pitchFamily="34" charset="-122"/>
                <a:ea typeface="Microsoft YaHei" panose="020B0503020204020204" pitchFamily="34" charset="-122"/>
              </a:rPr>
              <a:t>、表</a:t>
            </a:r>
            <a:r>
              <a:rPr lang="en-US" altLang="zh-CN" sz="950">
                <a:solidFill>
                  <a:srgbClr val="61737E"/>
                </a:solidFill>
                <a:latin typeface="Microsoft YaHei" panose="020B0503020204020204" pitchFamily="34" charset="-122"/>
                <a:ea typeface="Microsoft YaHei" panose="020B0503020204020204" pitchFamily="34" charset="-122"/>
              </a:rPr>
              <a:t>1–2</a:t>
            </a:r>
            <a:r>
              <a:rPr lang="zh-CN" altLang="en-US" sz="950">
                <a:solidFill>
                  <a:srgbClr val="61737E"/>
                </a:solidFill>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B7425C34-46EE-4352-BF6C-C8344F0F3004}"/>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08</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552C4EA2-2EF9-7714-86F3-AFD98EAF1C16}"/>
              </a:ext>
            </a:extLst>
          </p:cNvPr>
          <p:cNvGraphicFramePr>
            <a:graphicFrameLocks noGrp="1"/>
          </p:cNvGraphicFramePr>
          <p:nvPr>
            <p:extLst>
              <p:ext uri="{D42A27DB-BD31-4B8C-83A1-F6EECF244321}">
                <p14:modId xmlns:p14="http://schemas.microsoft.com/office/powerpoint/2010/main" val="1118113714"/>
              </p:ext>
            </p:extLst>
          </p:nvPr>
        </p:nvGraphicFramePr>
        <p:xfrm>
          <a:off x="673100" y="1638300"/>
          <a:ext cx="10833100" cy="4038600"/>
        </p:xfrm>
        <a:graphic>
          <a:graphicData uri="http://schemas.openxmlformats.org/drawingml/2006/table">
            <a:tbl>
              <a:tblPr firstRow="1" bandRow="1">
                <a:tableStyleId>{5C22544A-7EE6-4342-B048-85BDC9FD1C3A}</a:tableStyleId>
              </a:tblPr>
              <a:tblGrid>
                <a:gridCol w="3899916">
                  <a:extLst>
                    <a:ext uri="{9D8B030D-6E8A-4147-A177-3AD203B41FA5}">
                      <a16:colId xmlns:a16="http://schemas.microsoft.com/office/drawing/2014/main" val="290253496"/>
                    </a:ext>
                  </a:extLst>
                </a:gridCol>
                <a:gridCol w="2816606">
                  <a:extLst>
                    <a:ext uri="{9D8B030D-6E8A-4147-A177-3AD203B41FA5}">
                      <a16:colId xmlns:a16="http://schemas.microsoft.com/office/drawing/2014/main" val="466629424"/>
                    </a:ext>
                  </a:extLst>
                </a:gridCol>
                <a:gridCol w="4116578">
                  <a:extLst>
                    <a:ext uri="{9D8B030D-6E8A-4147-A177-3AD203B41FA5}">
                      <a16:colId xmlns:a16="http://schemas.microsoft.com/office/drawing/2014/main" val="440340513"/>
                    </a:ext>
                  </a:extLst>
                </a:gridCol>
              </a:tblGrid>
              <a:tr h="673100">
                <a:tc>
                  <a:txBody>
                    <a:bodyPr/>
                    <a:lstStyle/>
                    <a:p>
                      <a:r>
                        <a:rPr lang="zh-CN" altLang="en-US" sz="1480" b="1">
                          <a:solidFill>
                            <a:srgbClr val="FFFFFF"/>
                          </a:solidFill>
                          <a:latin typeface="Microsoft YaHei" panose="020B0503020204020204" pitchFamily="34" charset="-122"/>
                          <a:ea typeface="Microsoft YaHei" panose="020B0503020204020204" pitchFamily="34" charset="-122"/>
                        </a:rPr>
                        <a:t>数据</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80" b="1">
                          <a:solidFill>
                            <a:srgbClr val="FFFFFF"/>
                          </a:solidFill>
                          <a:latin typeface="Microsoft YaHei" panose="020B0503020204020204" pitchFamily="34" charset="-122"/>
                          <a:ea typeface="Microsoft YaHei" panose="020B0503020204020204" pitchFamily="34" charset="-122"/>
                        </a:rPr>
                        <a:t>规模</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80" b="1">
                          <a:solidFill>
                            <a:srgbClr val="FFFFFF"/>
                          </a:solidFill>
                          <a:latin typeface="Microsoft YaHei" panose="020B0503020204020204" pitchFamily="34" charset="-122"/>
                          <a:ea typeface="Microsoft YaHei" panose="020B0503020204020204" pitchFamily="34" charset="-122"/>
                        </a:rPr>
                        <a:t>用途</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2049065896"/>
                  </a:ext>
                </a:extLst>
              </a:tr>
              <a:tr h="673100">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RAF-DB</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训练 </a:t>
                      </a:r>
                      <a:r>
                        <a:rPr lang="en-US" altLang="zh-CN" sz="1480" b="0">
                          <a:solidFill>
                            <a:srgbClr val="304553"/>
                          </a:solidFill>
                          <a:latin typeface="Microsoft YaHei" panose="020B0503020204020204" pitchFamily="34" charset="-122"/>
                          <a:ea typeface="Microsoft YaHei" panose="020B0503020204020204" pitchFamily="34" charset="-122"/>
                        </a:rPr>
                        <a:t>12,271 / </a:t>
                      </a:r>
                      <a:r>
                        <a:rPr lang="zh-CN" altLang="en-US" sz="1480" b="0">
                          <a:solidFill>
                            <a:srgbClr val="304553"/>
                          </a:solidFill>
                          <a:latin typeface="Microsoft YaHei" panose="020B0503020204020204" pitchFamily="34" charset="-122"/>
                          <a:ea typeface="Microsoft YaHei" panose="020B0503020204020204" pitchFamily="34" charset="-122"/>
                        </a:rPr>
                        <a:t>测试 </a:t>
                      </a:r>
                      <a:r>
                        <a:rPr lang="en-US" altLang="zh-CN" sz="1480" b="0">
                          <a:solidFill>
                            <a:srgbClr val="304553"/>
                          </a:solidFill>
                          <a:latin typeface="Microsoft YaHei" panose="020B0503020204020204" pitchFamily="34" charset="-122"/>
                          <a:ea typeface="Microsoft YaHei" panose="020B0503020204020204" pitchFamily="34" charset="-122"/>
                        </a:rPr>
                        <a:t>3,068</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干净基准、合成遮挡</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1780002445"/>
                  </a:ext>
                </a:extLst>
              </a:tr>
              <a:tr h="673100">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Occlusion-RAF-DB</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734</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天然遮挡主要基准</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2541102991"/>
                  </a:ext>
                </a:extLst>
              </a:tr>
              <a:tr h="673100">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AffectNet-8 / Occl.-AffectNet</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验证 </a:t>
                      </a:r>
                      <a:r>
                        <a:rPr lang="en-US" altLang="zh-CN" sz="1480" b="0">
                          <a:solidFill>
                            <a:srgbClr val="304553"/>
                          </a:solidFill>
                          <a:latin typeface="Microsoft YaHei" panose="020B0503020204020204" pitchFamily="34" charset="-122"/>
                          <a:ea typeface="Microsoft YaHei" panose="020B0503020204020204" pitchFamily="34" charset="-122"/>
                        </a:rPr>
                        <a:t>4,000 / </a:t>
                      </a:r>
                      <a:r>
                        <a:rPr lang="zh-CN" altLang="en-US" sz="1480" b="0">
                          <a:solidFill>
                            <a:srgbClr val="304553"/>
                          </a:solidFill>
                          <a:latin typeface="Microsoft YaHei" panose="020B0503020204020204" pitchFamily="34" charset="-122"/>
                          <a:ea typeface="Microsoft YaHei" panose="020B0503020204020204" pitchFamily="34" charset="-122"/>
                        </a:rPr>
                        <a:t>天然遮挡 </a:t>
                      </a:r>
                      <a:r>
                        <a:rPr lang="en-US" altLang="zh-CN" sz="1480" b="0">
                          <a:solidFill>
                            <a:srgbClr val="304553"/>
                          </a:solidFill>
                          <a:latin typeface="Microsoft YaHei" panose="020B0503020204020204" pitchFamily="34" charset="-122"/>
                          <a:ea typeface="Microsoft YaHei" panose="020B0503020204020204" pitchFamily="34" charset="-122"/>
                        </a:rPr>
                        <a:t>682</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跨数据集补充</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495970444"/>
                  </a:ext>
                </a:extLst>
              </a:tr>
              <a:tr h="673100">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FED-RO</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400</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直接迁移与样本级五折适应</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930307416"/>
                  </a:ext>
                </a:extLst>
              </a:tr>
              <a:tr h="673100">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保留对象叠加</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3,068 × 5 </a:t>
                      </a:r>
                      <a:r>
                        <a:rPr lang="zh-CN" altLang="en-US" sz="1480" b="0">
                          <a:solidFill>
                            <a:srgbClr val="304553"/>
                          </a:solidFill>
                          <a:latin typeface="Microsoft YaHei" panose="020B0503020204020204" pitchFamily="34" charset="-122"/>
                          <a:ea typeface="Microsoft YaHei" panose="020B0503020204020204" pitchFamily="34" charset="-122"/>
                        </a:rPr>
                        <a:t>类</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仅测试外观迁移</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1812037308"/>
                  </a:ext>
                </a:extLst>
              </a:tr>
            </a:tbl>
          </a:graphicData>
        </a:graphic>
      </p:graphicFrame>
      <p:sp>
        <p:nvSpPr>
          <p:cNvPr id="6" name="文本框 5">
            <a:extLst>
              <a:ext uri="{FF2B5EF4-FFF2-40B4-BE49-F238E27FC236}">
                <a16:creationId xmlns:a16="http://schemas.microsoft.com/office/drawing/2014/main" id="{5073BAE0-4593-142D-7ADE-E737FDB7199F}"/>
              </a:ext>
            </a:extLst>
          </p:cNvPr>
          <p:cNvSpPr txBox="1"/>
          <p:nvPr/>
        </p:nvSpPr>
        <p:spPr>
          <a:xfrm>
            <a:off x="723900" y="5803900"/>
            <a:ext cx="10680700" cy="227755"/>
          </a:xfrm>
          <a:prstGeom prst="rect">
            <a:avLst/>
          </a:prstGeom>
          <a:noFill/>
        </p:spPr>
        <p:txBody>
          <a:bodyPr vert="horz" wrap="square" lIns="0" tIns="0" rIns="0" bIns="0" rtlCol="0">
            <a:spAutoFit/>
          </a:bodyPr>
          <a:lstStyle/>
          <a:p>
            <a:r>
              <a:rPr lang="zh-CN" altLang="en-US" sz="1480" b="1">
                <a:solidFill>
                  <a:srgbClr val="007F83"/>
                </a:solidFill>
                <a:latin typeface="Microsoft YaHei" panose="020B0503020204020204" pitchFamily="34" charset="-122"/>
                <a:ea typeface="Microsoft YaHei" panose="020B0503020204020204" pitchFamily="34" charset="-122"/>
              </a:rPr>
              <a:t>证据层级：受控多次训练与消融为主；跨域、天然遮挡与配对检验补充解释。</a:t>
            </a:r>
          </a:p>
        </p:txBody>
      </p:sp>
    </p:spTree>
    <p:extLst>
      <p:ext uri="{BB962C8B-B14F-4D97-AF65-F5344CB8AC3E}">
        <p14:creationId xmlns:p14="http://schemas.microsoft.com/office/powerpoint/2010/main" val="1555978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7BC341E-2AF3-F18C-25A4-A0CA91B078CB}"/>
              </a:ext>
            </a:extLst>
          </p:cNvPr>
          <p:cNvSpPr txBox="1"/>
          <p:nvPr/>
        </p:nvSpPr>
        <p:spPr>
          <a:xfrm>
            <a:off x="660400" y="431800"/>
            <a:ext cx="10922000" cy="446276"/>
          </a:xfrm>
          <a:prstGeom prst="rect">
            <a:avLst/>
          </a:prstGeom>
          <a:noFill/>
        </p:spPr>
        <p:txBody>
          <a:bodyPr vert="horz" wrap="square" lIns="0" tIns="0" rIns="0" bIns="0" rtlCol="0">
            <a:spAutoFit/>
          </a:bodyPr>
          <a:lstStyle/>
          <a:p>
            <a:r>
              <a:rPr lang="en-US" altLang="zh-CN" sz="2900" b="1">
                <a:solidFill>
                  <a:srgbClr val="142D42"/>
                </a:solidFill>
                <a:latin typeface="Microsoft YaHei" panose="020B0503020204020204" pitchFamily="34" charset="-122"/>
                <a:ea typeface="Microsoft YaHei" panose="020B0503020204020204" pitchFamily="34" charset="-122"/>
              </a:rPr>
              <a:t>RAF-DB </a:t>
            </a:r>
            <a:r>
              <a:rPr lang="zh-CN" altLang="en-US" sz="2900" b="1">
                <a:solidFill>
                  <a:srgbClr val="142D42"/>
                </a:solidFill>
                <a:latin typeface="Microsoft YaHei" panose="020B0503020204020204" pitchFamily="34" charset="-122"/>
                <a:ea typeface="Microsoft YaHei" panose="020B0503020204020204" pitchFamily="34" charset="-122"/>
              </a:rPr>
              <a:t>受控比较</a:t>
            </a:r>
          </a:p>
        </p:txBody>
      </p:sp>
      <p:sp>
        <p:nvSpPr>
          <p:cNvPr id="3" name="文本框 2">
            <a:extLst>
              <a:ext uri="{FF2B5EF4-FFF2-40B4-BE49-F238E27FC236}">
                <a16:creationId xmlns:a16="http://schemas.microsoft.com/office/drawing/2014/main" id="{A1CF223F-970D-C15F-714B-BC74A34E68D4}"/>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来源：论文表</a:t>
            </a:r>
            <a:r>
              <a:rPr lang="en-US" altLang="zh-CN" sz="950">
                <a:solidFill>
                  <a:srgbClr val="61737E"/>
                </a:solidFill>
                <a:latin typeface="Microsoft YaHei" panose="020B0503020204020204" pitchFamily="34" charset="-122"/>
                <a:ea typeface="Microsoft YaHei" panose="020B0503020204020204" pitchFamily="34" charset="-122"/>
              </a:rPr>
              <a:t>4</a:t>
            </a:r>
            <a:r>
              <a:rPr lang="zh-CN" altLang="en-US" sz="950">
                <a:solidFill>
                  <a:srgbClr val="61737E"/>
                </a:solidFill>
                <a:latin typeface="Microsoft YaHei" panose="020B0503020204020204" pitchFamily="34" charset="-122"/>
                <a:ea typeface="Microsoft YaHei" panose="020B0503020204020204" pitchFamily="34" charset="-122"/>
              </a:rPr>
              <a:t>；五次训练均值 </a:t>
            </a:r>
            <a:r>
              <a:rPr lang="en-US" altLang="zh-CN" sz="950">
                <a:solidFill>
                  <a:srgbClr val="61737E"/>
                </a:solidFill>
                <a:latin typeface="Microsoft YaHei" panose="020B0503020204020204" pitchFamily="34" charset="-122"/>
                <a:ea typeface="Microsoft YaHei" panose="020B0503020204020204" pitchFamily="34" charset="-122"/>
              </a:rPr>
              <a:t>± </a:t>
            </a:r>
            <a:r>
              <a:rPr lang="zh-CN" altLang="en-US" sz="950">
                <a:solidFill>
                  <a:srgbClr val="61737E"/>
                </a:solidFill>
                <a:latin typeface="Microsoft YaHei" panose="020B0503020204020204" pitchFamily="34" charset="-122"/>
                <a:ea typeface="Microsoft YaHei" panose="020B0503020204020204" pitchFamily="34" charset="-122"/>
              </a:rPr>
              <a:t>样本标准差，单位</a:t>
            </a:r>
            <a:r>
              <a:rPr lang="en-US" altLang="zh-CN" sz="950">
                <a:solidFill>
                  <a:srgbClr val="61737E"/>
                </a:solidFill>
                <a:latin typeface="Microsoft YaHei" panose="020B0503020204020204" pitchFamily="34" charset="-122"/>
                <a:ea typeface="Microsoft YaHei" panose="020B0503020204020204" pitchFamily="34" charset="-122"/>
              </a:rPr>
              <a:t>%</a:t>
            </a:r>
            <a:r>
              <a:rPr lang="zh-CN" altLang="en-US" sz="950">
                <a:solidFill>
                  <a:srgbClr val="61737E"/>
                </a:solidFill>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396B89BD-809A-ABFF-106D-410071A2EC39}"/>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09</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D585E733-A80C-CEE7-8EED-2F00291430B8}"/>
              </a:ext>
            </a:extLst>
          </p:cNvPr>
          <p:cNvGraphicFramePr>
            <a:graphicFrameLocks noGrp="1"/>
          </p:cNvGraphicFramePr>
          <p:nvPr>
            <p:extLst>
              <p:ext uri="{D42A27DB-BD31-4B8C-83A1-F6EECF244321}">
                <p14:modId xmlns:p14="http://schemas.microsoft.com/office/powerpoint/2010/main" val="3551643765"/>
              </p:ext>
            </p:extLst>
          </p:nvPr>
        </p:nvGraphicFramePr>
        <p:xfrm>
          <a:off x="495300" y="1739900"/>
          <a:ext cx="11214100" cy="4114800"/>
        </p:xfrm>
        <a:graphic>
          <a:graphicData uri="http://schemas.openxmlformats.org/drawingml/2006/table">
            <a:tbl>
              <a:tblPr firstRow="1" bandRow="1">
                <a:tableStyleId>{5C22544A-7EE6-4342-B048-85BDC9FD1C3A}</a:tableStyleId>
              </a:tblPr>
              <a:tblGrid>
                <a:gridCol w="2691384">
                  <a:extLst>
                    <a:ext uri="{9D8B030D-6E8A-4147-A177-3AD203B41FA5}">
                      <a16:colId xmlns:a16="http://schemas.microsoft.com/office/drawing/2014/main" val="1217886722"/>
                    </a:ext>
                  </a:extLst>
                </a:gridCol>
                <a:gridCol w="2130679">
                  <a:extLst>
                    <a:ext uri="{9D8B030D-6E8A-4147-A177-3AD203B41FA5}">
                      <a16:colId xmlns:a16="http://schemas.microsoft.com/office/drawing/2014/main" val="1859196034"/>
                    </a:ext>
                  </a:extLst>
                </a:gridCol>
                <a:gridCol w="2130679">
                  <a:extLst>
                    <a:ext uri="{9D8B030D-6E8A-4147-A177-3AD203B41FA5}">
                      <a16:colId xmlns:a16="http://schemas.microsoft.com/office/drawing/2014/main" val="2227442458"/>
                    </a:ext>
                  </a:extLst>
                </a:gridCol>
                <a:gridCol w="2242820">
                  <a:extLst>
                    <a:ext uri="{9D8B030D-6E8A-4147-A177-3AD203B41FA5}">
                      <a16:colId xmlns:a16="http://schemas.microsoft.com/office/drawing/2014/main" val="2163974227"/>
                    </a:ext>
                  </a:extLst>
                </a:gridCol>
                <a:gridCol w="2018538">
                  <a:extLst>
                    <a:ext uri="{9D8B030D-6E8A-4147-A177-3AD203B41FA5}">
                      <a16:colId xmlns:a16="http://schemas.microsoft.com/office/drawing/2014/main" val="3723343350"/>
                    </a:ext>
                  </a:extLst>
                </a:gridCol>
              </a:tblGrid>
              <a:tr h="685800">
                <a:tc>
                  <a:txBody>
                    <a:bodyPr/>
                    <a:lstStyle/>
                    <a:p>
                      <a:r>
                        <a:rPr lang="zh-CN" altLang="en-US" sz="1340" b="1">
                          <a:solidFill>
                            <a:srgbClr val="FFFFFF"/>
                          </a:solidFill>
                          <a:latin typeface="Microsoft YaHei" panose="020B0503020204020204" pitchFamily="34" charset="-122"/>
                          <a:ea typeface="Microsoft YaHei" panose="020B0503020204020204" pitchFamily="34" charset="-122"/>
                        </a:rPr>
                        <a:t>方法</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340" b="1">
                          <a:solidFill>
                            <a:srgbClr val="FFFFFF"/>
                          </a:solidFill>
                          <a:latin typeface="Microsoft YaHei" panose="020B0503020204020204" pitchFamily="34" charset="-122"/>
                          <a:ea typeface="Microsoft YaHei" panose="020B0503020204020204" pitchFamily="34" charset="-122"/>
                        </a:rPr>
                        <a:t>干净准确率</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340" b="1">
                          <a:solidFill>
                            <a:srgbClr val="FFFFFF"/>
                          </a:solidFill>
                          <a:latin typeface="Microsoft YaHei" panose="020B0503020204020204" pitchFamily="34" charset="-122"/>
                          <a:ea typeface="Microsoft YaHei" panose="020B0503020204020204" pitchFamily="34" charset="-122"/>
                        </a:rPr>
                        <a:t>口罩式准确率</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340" b="1">
                          <a:solidFill>
                            <a:srgbClr val="FFFFFF"/>
                          </a:solidFill>
                          <a:latin typeface="Microsoft YaHei" panose="020B0503020204020204" pitchFamily="34" charset="-122"/>
                          <a:ea typeface="Microsoft YaHei" panose="020B0503020204020204" pitchFamily="34" charset="-122"/>
                        </a:rPr>
                        <a:t>天然遮挡准确率</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340" b="1">
                          <a:solidFill>
                            <a:srgbClr val="FFFFFF"/>
                          </a:solidFill>
                          <a:latin typeface="Microsoft YaHei" panose="020B0503020204020204" pitchFamily="34" charset="-122"/>
                          <a:ea typeface="Microsoft YaHei" panose="020B0503020204020204" pitchFamily="34" charset="-122"/>
                        </a:rPr>
                        <a:t>天然遮挡 </a:t>
                      </a:r>
                      <a:r>
                        <a:rPr lang="en-US" altLang="zh-CN" sz="1340" b="1">
                          <a:solidFill>
                            <a:srgbClr val="FFFFFF"/>
                          </a:solidFill>
                          <a:latin typeface="Microsoft YaHei" panose="020B0503020204020204" pitchFamily="34" charset="-122"/>
                          <a:ea typeface="Microsoft YaHei" panose="020B0503020204020204" pitchFamily="34" charset="-122"/>
                        </a:rPr>
                        <a:t>F1</a:t>
                      </a:r>
                      <a:endParaRPr lang="zh-CN" altLang="en-US" sz="1340" b="1">
                        <a:solidFill>
                          <a:srgbClr val="FFFFFF"/>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3948132899"/>
                  </a:ext>
                </a:extLst>
              </a:tr>
              <a:tr h="685800">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Mixed FT</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89.47 ± 0.16</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76.11 ± 0.25</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86.35 ± 0.31</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81.89 ± 0.24</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1260327032"/>
                  </a:ext>
                </a:extLst>
              </a:tr>
              <a:tr h="685800">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Random Erasing FT</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89.27 ± 0.23</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74.23 ± 0.27</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85.83 ± 0.32</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81.23 ± 0.28</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4259018860"/>
                  </a:ext>
                </a:extLst>
              </a:tr>
              <a:tr h="685800">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CutMix FT</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89.43 ± 0.23</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74.61 ± 0.36</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86.13 ± 0.30</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81.41 ± 0.37</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1595765443"/>
                  </a:ext>
                </a:extLst>
              </a:tr>
              <a:tr h="685800">
                <a:tc>
                  <a:txBody>
                    <a:bodyPr/>
                    <a:lstStyle/>
                    <a:p>
                      <a:r>
                        <a:rPr lang="zh-CN" altLang="en-US" sz="1340" b="0">
                          <a:solidFill>
                            <a:srgbClr val="304553"/>
                          </a:solidFill>
                          <a:latin typeface="Microsoft YaHei" panose="020B0503020204020204" pitchFamily="34" charset="-122"/>
                          <a:ea typeface="Microsoft YaHei" panose="020B0503020204020204" pitchFamily="34" charset="-122"/>
                        </a:rPr>
                        <a:t>标准干净视图 </a:t>
                      </a:r>
                      <a:r>
                        <a:rPr lang="en-US" altLang="zh-CN" sz="1340" b="0">
                          <a:solidFill>
                            <a:srgbClr val="304553"/>
                          </a:solidFill>
                          <a:latin typeface="Microsoft YaHei" panose="020B0503020204020204" pitchFamily="34" charset="-122"/>
                          <a:ea typeface="Microsoft YaHei" panose="020B0503020204020204" pitchFamily="34" charset="-122"/>
                        </a:rPr>
                        <a:t>KD</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89.65 ± 0.19</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76.44 ± 0.24</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86.65 ± 0.29</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82.33 ± 0.29</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325267503"/>
                  </a:ext>
                </a:extLst>
              </a:tr>
              <a:tr h="685800">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CA-HOFT</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90.08 ± 0.21</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77.41 ± 0.28</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87.38 ± 0.12</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340" b="0">
                          <a:solidFill>
                            <a:srgbClr val="304553"/>
                          </a:solidFill>
                          <a:latin typeface="Microsoft YaHei" panose="020B0503020204020204" pitchFamily="34" charset="-122"/>
                          <a:ea typeface="Microsoft YaHei" panose="020B0503020204020204" pitchFamily="34" charset="-122"/>
                        </a:rPr>
                        <a:t>83.34 ± 0.32</a:t>
                      </a:r>
                      <a:endParaRPr lang="zh-CN" altLang="en-US" sz="134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667609864"/>
                  </a:ext>
                </a:extLst>
              </a:tr>
            </a:tbl>
          </a:graphicData>
        </a:graphic>
      </p:graphicFrame>
    </p:spTree>
    <p:extLst>
      <p:ext uri="{BB962C8B-B14F-4D97-AF65-F5344CB8AC3E}">
        <p14:creationId xmlns:p14="http://schemas.microsoft.com/office/powerpoint/2010/main" val="601115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73EE69-5FD6-7E4D-2106-F5B0CA480483}"/>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消融：干净锚与教师项都重要</a:t>
            </a:r>
          </a:p>
        </p:txBody>
      </p:sp>
      <p:sp>
        <p:nvSpPr>
          <p:cNvPr id="3" name="文本框 2">
            <a:extLst>
              <a:ext uri="{FF2B5EF4-FFF2-40B4-BE49-F238E27FC236}">
                <a16:creationId xmlns:a16="http://schemas.microsoft.com/office/drawing/2014/main" id="{10C2F655-50B8-3549-9E90-BA42DAA04A44}"/>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来源：论文表</a:t>
            </a:r>
            <a:r>
              <a:rPr lang="en-US" altLang="zh-CN" sz="950">
                <a:solidFill>
                  <a:srgbClr val="61737E"/>
                </a:solidFill>
                <a:latin typeface="Microsoft YaHei" panose="020B0503020204020204" pitchFamily="34" charset="-122"/>
                <a:ea typeface="Microsoft YaHei" panose="020B0503020204020204" pitchFamily="34" charset="-122"/>
              </a:rPr>
              <a:t>9</a:t>
            </a:r>
            <a:r>
              <a:rPr lang="zh-CN" altLang="en-US" sz="950">
                <a:solidFill>
                  <a:srgbClr val="61737E"/>
                </a:solidFill>
                <a:latin typeface="Microsoft YaHei" panose="020B0503020204020204" pitchFamily="34" charset="-122"/>
                <a:ea typeface="Microsoft YaHei" panose="020B0503020204020204" pitchFamily="34" charset="-122"/>
              </a:rPr>
              <a:t>；五次训练均值，单位</a:t>
            </a:r>
            <a:r>
              <a:rPr lang="en-US" altLang="zh-CN" sz="950">
                <a:solidFill>
                  <a:srgbClr val="61737E"/>
                </a:solidFill>
                <a:latin typeface="Microsoft YaHei" panose="020B0503020204020204" pitchFamily="34" charset="-122"/>
                <a:ea typeface="Microsoft YaHei" panose="020B0503020204020204" pitchFamily="34" charset="-122"/>
              </a:rPr>
              <a:t>%</a:t>
            </a:r>
            <a:r>
              <a:rPr lang="zh-CN" altLang="en-US" sz="950">
                <a:solidFill>
                  <a:srgbClr val="61737E"/>
                </a:solidFill>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9D89A4C7-B81D-BD72-E3D7-C67291F093E0}"/>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10</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447670B0-2D1D-C7B2-2DAE-7F99FD1601EB}"/>
              </a:ext>
            </a:extLst>
          </p:cNvPr>
          <p:cNvGraphicFramePr>
            <a:graphicFrameLocks noGrp="1"/>
          </p:cNvGraphicFramePr>
          <p:nvPr>
            <p:extLst>
              <p:ext uri="{D42A27DB-BD31-4B8C-83A1-F6EECF244321}">
                <p14:modId xmlns:p14="http://schemas.microsoft.com/office/powerpoint/2010/main" val="561740015"/>
              </p:ext>
            </p:extLst>
          </p:nvPr>
        </p:nvGraphicFramePr>
        <p:xfrm>
          <a:off x="660400" y="1714500"/>
          <a:ext cx="10858500" cy="3594100"/>
        </p:xfrm>
        <a:graphic>
          <a:graphicData uri="http://schemas.openxmlformats.org/drawingml/2006/table">
            <a:tbl>
              <a:tblPr firstRow="1" bandRow="1">
                <a:tableStyleId>{5C22544A-7EE6-4342-B048-85BDC9FD1C3A}</a:tableStyleId>
              </a:tblPr>
              <a:tblGrid>
                <a:gridCol w="3691890">
                  <a:extLst>
                    <a:ext uri="{9D8B030D-6E8A-4147-A177-3AD203B41FA5}">
                      <a16:colId xmlns:a16="http://schemas.microsoft.com/office/drawing/2014/main" val="184853822"/>
                    </a:ext>
                  </a:extLst>
                </a:gridCol>
                <a:gridCol w="2388870">
                  <a:extLst>
                    <a:ext uri="{9D8B030D-6E8A-4147-A177-3AD203B41FA5}">
                      <a16:colId xmlns:a16="http://schemas.microsoft.com/office/drawing/2014/main" val="3013813021"/>
                    </a:ext>
                  </a:extLst>
                </a:gridCol>
                <a:gridCol w="2388870">
                  <a:extLst>
                    <a:ext uri="{9D8B030D-6E8A-4147-A177-3AD203B41FA5}">
                      <a16:colId xmlns:a16="http://schemas.microsoft.com/office/drawing/2014/main" val="215916218"/>
                    </a:ext>
                  </a:extLst>
                </a:gridCol>
                <a:gridCol w="2388870">
                  <a:extLst>
                    <a:ext uri="{9D8B030D-6E8A-4147-A177-3AD203B41FA5}">
                      <a16:colId xmlns:a16="http://schemas.microsoft.com/office/drawing/2014/main" val="2747810408"/>
                    </a:ext>
                  </a:extLst>
                </a:gridCol>
              </a:tblGrid>
              <a:tr h="718820">
                <a:tc>
                  <a:txBody>
                    <a:bodyPr/>
                    <a:lstStyle/>
                    <a:p>
                      <a:r>
                        <a:rPr lang="zh-CN" altLang="en-US" sz="1600" b="1">
                          <a:solidFill>
                            <a:srgbClr val="FFFFFF"/>
                          </a:solidFill>
                          <a:latin typeface="Microsoft YaHei" panose="020B0503020204020204" pitchFamily="34" charset="-122"/>
                          <a:ea typeface="Microsoft YaHei" panose="020B0503020204020204" pitchFamily="34" charset="-122"/>
                        </a:rPr>
                        <a:t>变体</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600" b="1">
                          <a:solidFill>
                            <a:srgbClr val="FFFFFF"/>
                          </a:solidFill>
                          <a:latin typeface="Microsoft YaHei" panose="020B0503020204020204" pitchFamily="34" charset="-122"/>
                          <a:ea typeface="Microsoft YaHei" panose="020B0503020204020204" pitchFamily="34" charset="-122"/>
                        </a:rPr>
                        <a:t>干净准确率</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600" b="1">
                          <a:solidFill>
                            <a:srgbClr val="FFFFFF"/>
                          </a:solidFill>
                          <a:latin typeface="Microsoft YaHei" panose="020B0503020204020204" pitchFamily="34" charset="-122"/>
                          <a:ea typeface="Microsoft YaHei" panose="020B0503020204020204" pitchFamily="34" charset="-122"/>
                        </a:rPr>
                        <a:t>口罩式准确率</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600" b="1">
                          <a:solidFill>
                            <a:srgbClr val="FFFFFF"/>
                          </a:solidFill>
                          <a:latin typeface="Microsoft YaHei" panose="020B0503020204020204" pitchFamily="34" charset="-122"/>
                          <a:ea typeface="Microsoft YaHei" panose="020B0503020204020204" pitchFamily="34" charset="-122"/>
                        </a:rPr>
                        <a:t>天然遮挡 </a:t>
                      </a:r>
                      <a:r>
                        <a:rPr lang="en-US" altLang="zh-CN" sz="1600" b="1">
                          <a:solidFill>
                            <a:srgbClr val="FFFFFF"/>
                          </a:solidFill>
                          <a:latin typeface="Microsoft YaHei" panose="020B0503020204020204" pitchFamily="34" charset="-122"/>
                          <a:ea typeface="Microsoft YaHei" panose="020B0503020204020204" pitchFamily="34" charset="-122"/>
                        </a:rPr>
                        <a:t>F1</a:t>
                      </a:r>
                      <a:endParaRPr lang="zh-CN" altLang="en-US" sz="1600" b="1">
                        <a:solidFill>
                          <a:srgbClr val="FFFFFF"/>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1125364891"/>
                  </a:ext>
                </a:extLst>
              </a:tr>
              <a:tr h="718820">
                <a:tc>
                  <a:txBody>
                    <a:bodyPr/>
                    <a:lstStyle/>
                    <a:p>
                      <a:r>
                        <a:rPr lang="zh-CN" altLang="en-US" sz="1600" b="0">
                          <a:solidFill>
                            <a:srgbClr val="304553"/>
                          </a:solidFill>
                          <a:latin typeface="Microsoft YaHei" panose="020B0503020204020204" pitchFamily="34" charset="-122"/>
                          <a:ea typeface="Microsoft YaHei" panose="020B0503020204020204" pitchFamily="34" charset="-122"/>
                        </a:rPr>
                        <a:t>无教师 </a:t>
                      </a:r>
                      <a:r>
                        <a:rPr lang="en-US" altLang="zh-CN" sz="1600" b="0">
                          <a:solidFill>
                            <a:srgbClr val="304553"/>
                          </a:solidFill>
                          <a:latin typeface="Microsoft YaHei" panose="020B0503020204020204" pitchFamily="34" charset="-122"/>
                          <a:ea typeface="Microsoft YaHei" panose="020B0503020204020204" pitchFamily="34" charset="-122"/>
                        </a:rPr>
                        <a:t>HardMix</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89.21</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74.21</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80.98</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944211284"/>
                  </a:ext>
                </a:extLst>
              </a:tr>
              <a:tr h="718820">
                <a:tc>
                  <a:txBody>
                    <a:bodyPr/>
                    <a:lstStyle/>
                    <a:p>
                      <a:r>
                        <a:rPr lang="zh-CN" altLang="en-US" sz="1600" b="0">
                          <a:solidFill>
                            <a:srgbClr val="304553"/>
                          </a:solidFill>
                          <a:latin typeface="Microsoft YaHei" panose="020B0503020204020204" pitchFamily="34" charset="-122"/>
                          <a:ea typeface="Microsoft YaHei" panose="020B0503020204020204" pitchFamily="34" charset="-122"/>
                        </a:rPr>
                        <a:t>仅干净视图教师</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89.57</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76.87</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82.31</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2116019871"/>
                  </a:ext>
                </a:extLst>
              </a:tr>
              <a:tr h="718820">
                <a:tc>
                  <a:txBody>
                    <a:bodyPr/>
                    <a:lstStyle/>
                    <a:p>
                      <a:r>
                        <a:rPr lang="zh-CN" altLang="en-US" sz="1600" b="0">
                          <a:solidFill>
                            <a:srgbClr val="304553"/>
                          </a:solidFill>
                          <a:latin typeface="Microsoft YaHei" panose="020B0503020204020204" pitchFamily="34" charset="-122"/>
                          <a:ea typeface="Microsoft YaHei" panose="020B0503020204020204" pitchFamily="34" charset="-122"/>
                        </a:rPr>
                        <a:t>仅跨视图教师</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89.46</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76.75</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82.11</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3342728222"/>
                  </a:ext>
                </a:extLst>
              </a:tr>
              <a:tr h="718820">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CA-HOFT </a:t>
                      </a:r>
                      <a:r>
                        <a:rPr lang="zh-CN" altLang="en-US" sz="1600" b="0">
                          <a:solidFill>
                            <a:srgbClr val="304553"/>
                          </a:solidFill>
                          <a:latin typeface="Microsoft YaHei" panose="020B0503020204020204" pitchFamily="34" charset="-122"/>
                          <a:ea typeface="Microsoft YaHei" panose="020B0503020204020204" pitchFamily="34" charset="-122"/>
                        </a:rPr>
                        <a:t>两项均有</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90.08</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77.41</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600" b="0">
                          <a:solidFill>
                            <a:srgbClr val="304553"/>
                          </a:solidFill>
                          <a:latin typeface="Microsoft YaHei" panose="020B0503020204020204" pitchFamily="34" charset="-122"/>
                          <a:ea typeface="Microsoft YaHei" panose="020B0503020204020204" pitchFamily="34" charset="-122"/>
                        </a:rPr>
                        <a:t>83.34</a:t>
                      </a:r>
                      <a:endParaRPr lang="zh-CN" altLang="en-US" sz="160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2066275329"/>
                  </a:ext>
                </a:extLst>
              </a:tr>
            </a:tbl>
          </a:graphicData>
        </a:graphic>
      </p:graphicFrame>
      <p:sp>
        <p:nvSpPr>
          <p:cNvPr id="6" name="文本框 5">
            <a:extLst>
              <a:ext uri="{FF2B5EF4-FFF2-40B4-BE49-F238E27FC236}">
                <a16:creationId xmlns:a16="http://schemas.microsoft.com/office/drawing/2014/main" id="{A702991F-000D-32C5-60C8-3B940E4FCDCD}"/>
              </a:ext>
            </a:extLst>
          </p:cNvPr>
          <p:cNvSpPr txBox="1"/>
          <p:nvPr/>
        </p:nvSpPr>
        <p:spPr>
          <a:xfrm>
            <a:off x="711200" y="5588000"/>
            <a:ext cx="10744200" cy="261610"/>
          </a:xfrm>
          <a:prstGeom prst="rect">
            <a:avLst/>
          </a:prstGeom>
          <a:noFill/>
        </p:spPr>
        <p:txBody>
          <a:bodyPr vert="horz" wrap="square" lIns="0" tIns="0" rIns="0" bIns="0" rtlCol="0">
            <a:spAutoFit/>
          </a:bodyPr>
          <a:lstStyle/>
          <a:p>
            <a:r>
              <a:rPr lang="zh-CN" altLang="en-US" sz="1700" b="1">
                <a:solidFill>
                  <a:srgbClr val="007F83"/>
                </a:solidFill>
                <a:latin typeface="Microsoft YaHei" panose="020B0503020204020204" pitchFamily="34" charset="-122"/>
                <a:ea typeface="Microsoft YaHei" panose="020B0503020204020204" pitchFamily="34" charset="-122"/>
              </a:rPr>
              <a:t>解释：真实标签约束“是什么”；固定教师约束“原模型如何区分类别”。</a:t>
            </a:r>
          </a:p>
        </p:txBody>
      </p:sp>
    </p:spTree>
    <p:extLst>
      <p:ext uri="{BB962C8B-B14F-4D97-AF65-F5344CB8AC3E}">
        <p14:creationId xmlns:p14="http://schemas.microsoft.com/office/powerpoint/2010/main" val="3360408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380BEA6-4C95-4BC9-AE7B-6B03DAF43610}"/>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换一种遮挡外观，收益仍可见</a:t>
            </a:r>
          </a:p>
        </p:txBody>
      </p:sp>
      <p:sp>
        <p:nvSpPr>
          <p:cNvPr id="3" name="文本框 2">
            <a:extLst>
              <a:ext uri="{FF2B5EF4-FFF2-40B4-BE49-F238E27FC236}">
                <a16:creationId xmlns:a16="http://schemas.microsoft.com/office/drawing/2014/main" id="{8BA233D9-0D07-C664-5AA7-F9CEC0AA9143}"/>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来源：论文表</a:t>
            </a:r>
            <a:r>
              <a:rPr lang="en-US" altLang="zh-CN" sz="950">
                <a:solidFill>
                  <a:srgbClr val="61737E"/>
                </a:solidFill>
                <a:latin typeface="Microsoft YaHei" panose="020B0503020204020204" pitchFamily="34" charset="-122"/>
                <a:ea typeface="Microsoft YaHei" panose="020B0503020204020204" pitchFamily="34" charset="-122"/>
              </a:rPr>
              <a:t>5</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§4.4</a:t>
            </a:r>
            <a:r>
              <a:rPr lang="zh-CN" altLang="en-US" sz="950">
                <a:solidFill>
                  <a:srgbClr val="61737E"/>
                </a:solidFill>
                <a:latin typeface="Microsoft YaHei" panose="020B0503020204020204" pitchFamily="34" charset="-122"/>
                <a:ea typeface="Microsoft YaHei" panose="020B0503020204020204" pitchFamily="34" charset="-122"/>
              </a:rPr>
              <a:t>；五次训练均值，单位</a:t>
            </a:r>
            <a:r>
              <a:rPr lang="en-US" altLang="zh-CN" sz="950">
                <a:solidFill>
                  <a:srgbClr val="61737E"/>
                </a:solidFill>
                <a:latin typeface="Microsoft YaHei" panose="020B0503020204020204" pitchFamily="34" charset="-122"/>
                <a:ea typeface="Microsoft YaHei" panose="020B0503020204020204" pitchFamily="34" charset="-122"/>
              </a:rPr>
              <a:t>%</a:t>
            </a:r>
            <a:r>
              <a:rPr lang="zh-CN" altLang="en-US" sz="950">
                <a:solidFill>
                  <a:srgbClr val="61737E"/>
                </a:solidFill>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B881343A-3846-412E-0D97-CD6145C3F96B}"/>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11</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FC3189DD-903A-1671-DF2A-F20A2D5F7269}"/>
              </a:ext>
            </a:extLst>
          </p:cNvPr>
          <p:cNvGraphicFramePr>
            <a:graphicFrameLocks noGrp="1"/>
          </p:cNvGraphicFramePr>
          <p:nvPr>
            <p:extLst>
              <p:ext uri="{D42A27DB-BD31-4B8C-83A1-F6EECF244321}">
                <p14:modId xmlns:p14="http://schemas.microsoft.com/office/powerpoint/2010/main" val="1520425901"/>
              </p:ext>
            </p:extLst>
          </p:nvPr>
        </p:nvGraphicFramePr>
        <p:xfrm>
          <a:off x="698500" y="1778000"/>
          <a:ext cx="10795000" cy="3543300"/>
        </p:xfrm>
        <a:graphic>
          <a:graphicData uri="http://schemas.openxmlformats.org/drawingml/2006/table">
            <a:tbl>
              <a:tblPr firstRow="1" bandRow="1">
                <a:tableStyleId>{5C22544A-7EE6-4342-B048-85BDC9FD1C3A}</a:tableStyleId>
              </a:tblPr>
              <a:tblGrid>
                <a:gridCol w="3130550">
                  <a:extLst>
                    <a:ext uri="{9D8B030D-6E8A-4147-A177-3AD203B41FA5}">
                      <a16:colId xmlns:a16="http://schemas.microsoft.com/office/drawing/2014/main" val="2815914236"/>
                    </a:ext>
                  </a:extLst>
                </a:gridCol>
                <a:gridCol w="2590800">
                  <a:extLst>
                    <a:ext uri="{9D8B030D-6E8A-4147-A177-3AD203B41FA5}">
                      <a16:colId xmlns:a16="http://schemas.microsoft.com/office/drawing/2014/main" val="3002175209"/>
                    </a:ext>
                  </a:extLst>
                </a:gridCol>
                <a:gridCol w="2590800">
                  <a:extLst>
                    <a:ext uri="{9D8B030D-6E8A-4147-A177-3AD203B41FA5}">
                      <a16:colId xmlns:a16="http://schemas.microsoft.com/office/drawing/2014/main" val="4100897596"/>
                    </a:ext>
                  </a:extLst>
                </a:gridCol>
                <a:gridCol w="1295400">
                  <a:extLst>
                    <a:ext uri="{9D8B030D-6E8A-4147-A177-3AD203B41FA5}">
                      <a16:colId xmlns:a16="http://schemas.microsoft.com/office/drawing/2014/main" val="1782698041"/>
                    </a:ext>
                  </a:extLst>
                </a:gridCol>
                <a:gridCol w="1187450">
                  <a:extLst>
                    <a:ext uri="{9D8B030D-6E8A-4147-A177-3AD203B41FA5}">
                      <a16:colId xmlns:a16="http://schemas.microsoft.com/office/drawing/2014/main" val="3644590691"/>
                    </a:ext>
                  </a:extLst>
                </a:gridCol>
              </a:tblGrid>
              <a:tr h="708660">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方法</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对象平均准确率</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对象平均宏 </a:t>
                      </a:r>
                      <a:r>
                        <a:rPr lang="en-US" altLang="zh-CN" sz="1550" b="1">
                          <a:solidFill>
                            <a:srgbClr val="FFFFFF"/>
                          </a:solidFill>
                          <a:latin typeface="Microsoft YaHei" panose="020B0503020204020204" pitchFamily="34" charset="-122"/>
                          <a:ea typeface="Microsoft YaHei" panose="020B0503020204020204" pitchFamily="34" charset="-122"/>
                        </a:rPr>
                        <a:t>F1</a:t>
                      </a:r>
                      <a:endParaRPr lang="zh-CN" altLang="en-US" sz="1550" b="1">
                        <a:solidFill>
                          <a:srgbClr val="FFFFFF"/>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口罩</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50" b="1">
                          <a:solidFill>
                            <a:srgbClr val="FFFFFF"/>
                          </a:solidFill>
                          <a:latin typeface="Microsoft YaHei" panose="020B0503020204020204" pitchFamily="34" charset="-122"/>
                          <a:ea typeface="Microsoft YaHei" panose="020B0503020204020204" pitchFamily="34" charset="-122"/>
                        </a:rPr>
                        <a:t>围巾</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804824304"/>
                  </a:ext>
                </a:extLst>
              </a:tr>
              <a:tr h="708660">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Strong Clean</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77.31</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68.37</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64.55</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65.93</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2310048681"/>
                  </a:ext>
                </a:extLst>
              </a:tr>
              <a:tr h="708660">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Mixed FT</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80.08</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71.91</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68.25</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70.72</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2485377089"/>
                  </a:ext>
                </a:extLst>
              </a:tr>
              <a:tr h="708660">
                <a:tc>
                  <a:txBody>
                    <a:bodyPr/>
                    <a:lstStyle/>
                    <a:p>
                      <a:r>
                        <a:rPr lang="zh-CN" altLang="en-US" sz="1550" b="0">
                          <a:solidFill>
                            <a:srgbClr val="304553"/>
                          </a:solidFill>
                          <a:latin typeface="Microsoft YaHei" panose="020B0503020204020204" pitchFamily="34" charset="-122"/>
                          <a:ea typeface="Microsoft YaHei" panose="020B0503020204020204" pitchFamily="34" charset="-122"/>
                        </a:rPr>
                        <a:t>无教师 </a:t>
                      </a:r>
                      <a:r>
                        <a:rPr lang="en-US" altLang="zh-CN" sz="1550" b="0">
                          <a:solidFill>
                            <a:srgbClr val="304553"/>
                          </a:solidFill>
                          <a:latin typeface="Microsoft YaHei" panose="020B0503020204020204" pitchFamily="34" charset="-122"/>
                          <a:ea typeface="Microsoft YaHei" panose="020B0503020204020204" pitchFamily="34" charset="-122"/>
                        </a:rPr>
                        <a:t>HardMix</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80.08</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71.82</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68.35</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70.24</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3835842454"/>
                  </a:ext>
                </a:extLst>
              </a:tr>
              <a:tr h="708660">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CA-HOFT</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81.19</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72.88</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69.40</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50" b="0">
                          <a:solidFill>
                            <a:srgbClr val="304553"/>
                          </a:solidFill>
                          <a:latin typeface="Microsoft YaHei" panose="020B0503020204020204" pitchFamily="34" charset="-122"/>
                          <a:ea typeface="Microsoft YaHei" panose="020B0503020204020204" pitchFamily="34" charset="-122"/>
                        </a:rPr>
                        <a:t>72.82</a:t>
                      </a:r>
                      <a:endParaRPr lang="zh-CN" altLang="en-US" sz="15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2592939256"/>
                  </a:ext>
                </a:extLst>
              </a:tr>
            </a:tbl>
          </a:graphicData>
        </a:graphic>
      </p:graphicFrame>
      <p:sp>
        <p:nvSpPr>
          <p:cNvPr id="6" name="文本框 5">
            <a:extLst>
              <a:ext uri="{FF2B5EF4-FFF2-40B4-BE49-F238E27FC236}">
                <a16:creationId xmlns:a16="http://schemas.microsoft.com/office/drawing/2014/main" id="{71D5F63E-0F61-0DEB-C8EC-9DF8050EA168}"/>
              </a:ext>
            </a:extLst>
          </p:cNvPr>
          <p:cNvSpPr txBox="1"/>
          <p:nvPr/>
        </p:nvSpPr>
        <p:spPr>
          <a:xfrm>
            <a:off x="723900" y="5626100"/>
            <a:ext cx="10693400" cy="261610"/>
          </a:xfrm>
          <a:prstGeom prst="rect">
            <a:avLst/>
          </a:prstGeom>
          <a:noFill/>
        </p:spPr>
        <p:txBody>
          <a:bodyPr vert="horz" wrap="square" lIns="0" tIns="0" rIns="0" bIns="0" rtlCol="0">
            <a:spAutoFit/>
          </a:bodyPr>
          <a:lstStyle/>
          <a:p>
            <a:r>
              <a:rPr lang="zh-CN" altLang="en-US" sz="1700" b="1">
                <a:solidFill>
                  <a:srgbClr val="D25B41"/>
                </a:solidFill>
                <a:latin typeface="Microsoft YaHei" panose="020B0503020204020204" pitchFamily="34" charset="-122"/>
                <a:ea typeface="Microsoft YaHei" panose="020B0503020204020204" pitchFamily="34" charset="-122"/>
              </a:rPr>
              <a:t>合成对象是压力测试，不能替代真实摄像头遮挡评估。</a:t>
            </a:r>
          </a:p>
        </p:txBody>
      </p:sp>
    </p:spTree>
    <p:extLst>
      <p:ext uri="{BB962C8B-B14F-4D97-AF65-F5344CB8AC3E}">
        <p14:creationId xmlns:p14="http://schemas.microsoft.com/office/powerpoint/2010/main" val="3806797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0BF2B0-8EA3-11C8-FB9E-F82636806FFD}"/>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天然遮挡与跨数据集结果</a:t>
            </a:r>
          </a:p>
        </p:txBody>
      </p:sp>
      <p:sp>
        <p:nvSpPr>
          <p:cNvPr id="3" name="文本框 2">
            <a:extLst>
              <a:ext uri="{FF2B5EF4-FFF2-40B4-BE49-F238E27FC236}">
                <a16:creationId xmlns:a16="http://schemas.microsoft.com/office/drawing/2014/main" id="{2570EB39-DAB6-9D7F-B88B-5F87E4EC1350}"/>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来源：论文表</a:t>
            </a:r>
            <a:r>
              <a:rPr lang="en-US" altLang="zh-CN" sz="950">
                <a:solidFill>
                  <a:srgbClr val="61737E"/>
                </a:solidFill>
                <a:latin typeface="Microsoft YaHei" panose="020B0503020204020204" pitchFamily="34" charset="-122"/>
                <a:ea typeface="Microsoft YaHei" panose="020B0503020204020204" pitchFamily="34" charset="-122"/>
              </a:rPr>
              <a:t>6–7</a:t>
            </a:r>
            <a:r>
              <a:rPr lang="zh-CN" altLang="en-US" sz="950">
                <a:solidFill>
                  <a:srgbClr val="61737E"/>
                </a:solidFill>
                <a:latin typeface="Microsoft YaHei" panose="020B0503020204020204" pitchFamily="34" charset="-122"/>
                <a:ea typeface="Microsoft YaHei" panose="020B0503020204020204" pitchFamily="34" charset="-122"/>
              </a:rPr>
              <a:t>；不同协议不可直接并列排名。</a:t>
            </a:r>
          </a:p>
        </p:txBody>
      </p:sp>
      <p:sp>
        <p:nvSpPr>
          <p:cNvPr id="4" name="文本框 3">
            <a:extLst>
              <a:ext uri="{FF2B5EF4-FFF2-40B4-BE49-F238E27FC236}">
                <a16:creationId xmlns:a16="http://schemas.microsoft.com/office/drawing/2014/main" id="{B07544F4-4105-5301-FC95-5CC552C984C4}"/>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12</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59448FB1-4D0B-BB7C-D5AE-638271E03318}"/>
              </a:ext>
            </a:extLst>
          </p:cNvPr>
          <p:cNvGraphicFramePr>
            <a:graphicFrameLocks noGrp="1"/>
          </p:cNvGraphicFramePr>
          <p:nvPr>
            <p:extLst>
              <p:ext uri="{D42A27DB-BD31-4B8C-83A1-F6EECF244321}">
                <p14:modId xmlns:p14="http://schemas.microsoft.com/office/powerpoint/2010/main" val="2658822361"/>
              </p:ext>
            </p:extLst>
          </p:nvPr>
        </p:nvGraphicFramePr>
        <p:xfrm>
          <a:off x="508000" y="1765300"/>
          <a:ext cx="11176000" cy="3759200"/>
        </p:xfrm>
        <a:graphic>
          <a:graphicData uri="http://schemas.openxmlformats.org/drawingml/2006/table">
            <a:tbl>
              <a:tblPr firstRow="1" bandRow="1">
                <a:tableStyleId>{5C22544A-7EE6-4342-B048-85BDC9FD1C3A}</a:tableStyleId>
              </a:tblPr>
              <a:tblGrid>
                <a:gridCol w="3911600">
                  <a:extLst>
                    <a:ext uri="{9D8B030D-6E8A-4147-A177-3AD203B41FA5}">
                      <a16:colId xmlns:a16="http://schemas.microsoft.com/office/drawing/2014/main" val="3133093228"/>
                    </a:ext>
                  </a:extLst>
                </a:gridCol>
                <a:gridCol w="1676400">
                  <a:extLst>
                    <a:ext uri="{9D8B030D-6E8A-4147-A177-3AD203B41FA5}">
                      <a16:colId xmlns:a16="http://schemas.microsoft.com/office/drawing/2014/main" val="809514809"/>
                    </a:ext>
                  </a:extLst>
                </a:gridCol>
                <a:gridCol w="1676400">
                  <a:extLst>
                    <a:ext uri="{9D8B030D-6E8A-4147-A177-3AD203B41FA5}">
                      <a16:colId xmlns:a16="http://schemas.microsoft.com/office/drawing/2014/main" val="1756163455"/>
                    </a:ext>
                  </a:extLst>
                </a:gridCol>
                <a:gridCol w="1676400">
                  <a:extLst>
                    <a:ext uri="{9D8B030D-6E8A-4147-A177-3AD203B41FA5}">
                      <a16:colId xmlns:a16="http://schemas.microsoft.com/office/drawing/2014/main" val="3291146702"/>
                    </a:ext>
                  </a:extLst>
                </a:gridCol>
                <a:gridCol w="2235200">
                  <a:extLst>
                    <a:ext uri="{9D8B030D-6E8A-4147-A177-3AD203B41FA5}">
                      <a16:colId xmlns:a16="http://schemas.microsoft.com/office/drawing/2014/main" val="826840487"/>
                    </a:ext>
                  </a:extLst>
                </a:gridCol>
              </a:tblGrid>
              <a:tr h="751840">
                <a:tc>
                  <a:txBody>
                    <a:bodyPr/>
                    <a:lstStyle/>
                    <a:p>
                      <a:r>
                        <a:rPr lang="zh-CN" altLang="en-US" sz="1470" b="1">
                          <a:solidFill>
                            <a:srgbClr val="FFFFFF"/>
                          </a:solidFill>
                          <a:latin typeface="Microsoft YaHei" panose="020B0503020204020204" pitchFamily="34" charset="-122"/>
                          <a:ea typeface="Microsoft YaHei" panose="020B0503020204020204" pitchFamily="34" charset="-122"/>
                        </a:rPr>
                        <a:t>评估</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en-US" altLang="zh-CN" sz="1470" b="1">
                          <a:solidFill>
                            <a:srgbClr val="FFFFFF"/>
                          </a:solidFill>
                          <a:latin typeface="Microsoft YaHei" panose="020B0503020204020204" pitchFamily="34" charset="-122"/>
                          <a:ea typeface="Microsoft YaHei" panose="020B0503020204020204" pitchFamily="34" charset="-122"/>
                        </a:rPr>
                        <a:t>Strong Clean</a:t>
                      </a:r>
                      <a:endParaRPr lang="zh-CN" altLang="en-US" sz="1470" b="1">
                        <a:solidFill>
                          <a:srgbClr val="FFFFFF"/>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en-US" altLang="zh-CN" sz="1470" b="1">
                          <a:solidFill>
                            <a:srgbClr val="FFFFFF"/>
                          </a:solidFill>
                          <a:latin typeface="Microsoft YaHei" panose="020B0503020204020204" pitchFamily="34" charset="-122"/>
                          <a:ea typeface="Microsoft YaHei" panose="020B0503020204020204" pitchFamily="34" charset="-122"/>
                        </a:rPr>
                        <a:t>Mixed FT</a:t>
                      </a:r>
                      <a:endParaRPr lang="zh-CN" altLang="en-US" sz="1470" b="1">
                        <a:solidFill>
                          <a:srgbClr val="FFFFFF"/>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en-US" altLang="zh-CN" sz="1470" b="1">
                          <a:solidFill>
                            <a:srgbClr val="FFFFFF"/>
                          </a:solidFill>
                          <a:latin typeface="Microsoft YaHei" panose="020B0503020204020204" pitchFamily="34" charset="-122"/>
                          <a:ea typeface="Microsoft YaHei" panose="020B0503020204020204" pitchFamily="34" charset="-122"/>
                        </a:rPr>
                        <a:t>CA-HOFT</a:t>
                      </a:r>
                      <a:endParaRPr lang="zh-CN" altLang="en-US" sz="1470" b="1">
                        <a:solidFill>
                          <a:srgbClr val="FFFFFF"/>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70" b="1">
                          <a:solidFill>
                            <a:srgbClr val="FFFFFF"/>
                          </a:solidFill>
                          <a:latin typeface="Microsoft YaHei" panose="020B0503020204020204" pitchFamily="34" charset="-122"/>
                          <a:ea typeface="Microsoft YaHei" panose="020B0503020204020204" pitchFamily="34" charset="-122"/>
                        </a:rPr>
                        <a:t>说明</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4027216942"/>
                  </a:ext>
                </a:extLst>
              </a:tr>
              <a:tr h="751840">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Occl.-AffectNet </a:t>
                      </a:r>
                      <a:r>
                        <a:rPr lang="zh-CN" altLang="en-US" sz="1470" b="0">
                          <a:solidFill>
                            <a:srgbClr val="304553"/>
                          </a:solidFill>
                          <a:latin typeface="Microsoft YaHei" panose="020B0503020204020204" pitchFamily="34" charset="-122"/>
                          <a:ea typeface="Microsoft YaHei" panose="020B0503020204020204" pitchFamily="34" charset="-122"/>
                        </a:rPr>
                        <a:t>准确率</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60.12</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61.44</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63.78</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682 </a:t>
                      </a:r>
                      <a:r>
                        <a:rPr lang="zh-CN" altLang="en-US" sz="1470" b="0">
                          <a:solidFill>
                            <a:srgbClr val="304553"/>
                          </a:solidFill>
                          <a:latin typeface="Microsoft YaHei" panose="020B0503020204020204" pitchFamily="34" charset="-122"/>
                          <a:ea typeface="Microsoft YaHei" panose="020B0503020204020204" pitchFamily="34" charset="-122"/>
                        </a:rPr>
                        <a:t>张，八类</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161845585"/>
                  </a:ext>
                </a:extLst>
              </a:tr>
              <a:tr h="751840">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Occl.-AffectNet </a:t>
                      </a:r>
                      <a:r>
                        <a:rPr lang="zh-CN" altLang="en-US" sz="1470" b="0">
                          <a:solidFill>
                            <a:srgbClr val="304553"/>
                          </a:solidFill>
                          <a:latin typeface="Microsoft YaHei" panose="020B0503020204020204" pitchFamily="34" charset="-122"/>
                          <a:ea typeface="Microsoft YaHei" panose="020B0503020204020204" pitchFamily="34" charset="-122"/>
                        </a:rPr>
                        <a:t>宏 </a:t>
                      </a:r>
                      <a:r>
                        <a:rPr lang="en-US" altLang="zh-CN" sz="1470" b="0">
                          <a:solidFill>
                            <a:srgbClr val="304553"/>
                          </a:solidFill>
                          <a:latin typeface="Microsoft YaHei" panose="020B0503020204020204" pitchFamily="34" charset="-122"/>
                          <a:ea typeface="Microsoft YaHei" panose="020B0503020204020204" pitchFamily="34" charset="-122"/>
                        </a:rPr>
                        <a:t>F1</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60.03</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61.13</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63.15</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单检查点</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1419095482"/>
                  </a:ext>
                </a:extLst>
              </a:tr>
              <a:tr h="751840">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FED-RO </a:t>
                      </a:r>
                      <a:r>
                        <a:rPr lang="zh-CN" altLang="en-US" sz="1470" b="0">
                          <a:solidFill>
                            <a:srgbClr val="304553"/>
                          </a:solidFill>
                          <a:latin typeface="Microsoft YaHei" panose="020B0503020204020204" pitchFamily="34" charset="-122"/>
                          <a:ea typeface="Microsoft YaHei" panose="020B0503020204020204" pitchFamily="34" charset="-122"/>
                        </a:rPr>
                        <a:t>直接迁移准确率</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63.00</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64.75</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68.25</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400 </a:t>
                      </a:r>
                      <a:r>
                        <a:rPr lang="zh-CN" altLang="en-US" sz="1470" b="0">
                          <a:solidFill>
                            <a:srgbClr val="304553"/>
                          </a:solidFill>
                          <a:latin typeface="Microsoft YaHei" panose="020B0503020204020204" pitchFamily="34" charset="-122"/>
                          <a:ea typeface="Microsoft YaHei" panose="020B0503020204020204" pitchFamily="34" charset="-122"/>
                        </a:rPr>
                        <a:t>张，七类</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83276831"/>
                  </a:ext>
                </a:extLst>
              </a:tr>
              <a:tr h="751840">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FED-RO </a:t>
                      </a:r>
                      <a:r>
                        <a:rPr lang="zh-CN" altLang="en-US" sz="1470" b="0">
                          <a:solidFill>
                            <a:srgbClr val="304553"/>
                          </a:solidFill>
                          <a:latin typeface="Microsoft YaHei" panose="020B0503020204020204" pitchFamily="34" charset="-122"/>
                          <a:ea typeface="Microsoft YaHei" panose="020B0503020204020204" pitchFamily="34" charset="-122"/>
                        </a:rPr>
                        <a:t>适应后准确率</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65.76</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66.97</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69.30</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样本级五折均值</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2543469579"/>
                  </a:ext>
                </a:extLst>
              </a:tr>
            </a:tbl>
          </a:graphicData>
        </a:graphic>
      </p:graphicFrame>
    </p:spTree>
    <p:extLst>
      <p:ext uri="{BB962C8B-B14F-4D97-AF65-F5344CB8AC3E}">
        <p14:creationId xmlns:p14="http://schemas.microsoft.com/office/powerpoint/2010/main" val="1668352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D546BA7-7E6C-474C-5233-E5E565564036}"/>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统计结论与论文边界</a:t>
            </a:r>
          </a:p>
        </p:txBody>
      </p:sp>
      <p:sp>
        <p:nvSpPr>
          <p:cNvPr id="3" name="文本框 2">
            <a:extLst>
              <a:ext uri="{FF2B5EF4-FFF2-40B4-BE49-F238E27FC236}">
                <a16:creationId xmlns:a16="http://schemas.microsoft.com/office/drawing/2014/main" id="{AF378895-26F3-2896-5958-975D27E62908}"/>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来源：论文表</a:t>
            </a:r>
            <a:r>
              <a:rPr lang="en-US" altLang="zh-CN" sz="950">
                <a:solidFill>
                  <a:srgbClr val="61737E"/>
                </a:solidFill>
                <a:latin typeface="Microsoft YaHei" panose="020B0503020204020204" pitchFamily="34" charset="-122"/>
                <a:ea typeface="Microsoft YaHei" panose="020B0503020204020204" pitchFamily="34" charset="-122"/>
              </a:rPr>
              <a:t>8</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§5</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Holm </a:t>
            </a:r>
            <a:r>
              <a:rPr lang="zh-CN" altLang="en-US" sz="950">
                <a:solidFill>
                  <a:srgbClr val="61737E"/>
                </a:solidFill>
                <a:latin typeface="Microsoft YaHei" panose="020B0503020204020204" pitchFamily="34" charset="-122"/>
                <a:ea typeface="Microsoft YaHei" panose="020B0503020204020204" pitchFamily="34" charset="-122"/>
              </a:rPr>
              <a:t>校正后 </a:t>
            </a:r>
            <a:r>
              <a:rPr lang="en-US" altLang="zh-CN" sz="950">
                <a:solidFill>
                  <a:srgbClr val="61737E"/>
                </a:solidFill>
                <a:latin typeface="Microsoft YaHei" panose="020B0503020204020204" pitchFamily="34" charset="-122"/>
                <a:ea typeface="Microsoft YaHei" panose="020B0503020204020204" pitchFamily="34" charset="-122"/>
              </a:rPr>
              <a:t>p </a:t>
            </a:r>
            <a:r>
              <a:rPr lang="zh-CN" altLang="en-US" sz="950">
                <a:solidFill>
                  <a:srgbClr val="61737E"/>
                </a:solidFill>
                <a:latin typeface="Microsoft YaHei" panose="020B0503020204020204" pitchFamily="34" charset="-122"/>
                <a:ea typeface="Microsoft YaHei" panose="020B0503020204020204" pitchFamily="34" charset="-122"/>
              </a:rPr>
              <a:t>值。</a:t>
            </a:r>
          </a:p>
        </p:txBody>
      </p:sp>
      <p:sp>
        <p:nvSpPr>
          <p:cNvPr id="4" name="文本框 3">
            <a:extLst>
              <a:ext uri="{FF2B5EF4-FFF2-40B4-BE49-F238E27FC236}">
                <a16:creationId xmlns:a16="http://schemas.microsoft.com/office/drawing/2014/main" id="{47FBC798-1D94-6F57-04A0-48DF8D1CEBA8}"/>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13</a:t>
            </a:r>
            <a:endParaRPr lang="zh-CN" altLang="en-US" sz="1000">
              <a:solidFill>
                <a:srgbClr val="61737E"/>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C0368BFC-B678-32BB-A720-495D2EC50093}"/>
              </a:ext>
            </a:extLst>
          </p:cNvPr>
          <p:cNvSpPr txBox="1"/>
          <p:nvPr/>
        </p:nvSpPr>
        <p:spPr>
          <a:xfrm>
            <a:off x="711200" y="15494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成立的观察</a:t>
            </a:r>
          </a:p>
        </p:txBody>
      </p:sp>
      <p:sp>
        <p:nvSpPr>
          <p:cNvPr id="6" name="文本框 5">
            <a:extLst>
              <a:ext uri="{FF2B5EF4-FFF2-40B4-BE49-F238E27FC236}">
                <a16:creationId xmlns:a16="http://schemas.microsoft.com/office/drawing/2014/main" id="{CB694AB5-3931-55FC-33BF-15DA279E3101}"/>
              </a:ext>
            </a:extLst>
          </p:cNvPr>
          <p:cNvSpPr txBox="1"/>
          <p:nvPr/>
        </p:nvSpPr>
        <p:spPr>
          <a:xfrm>
            <a:off x="711200" y="19939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五次训练的受控均值和消融在论文设置下支持较好的干净性能与遮挡鲁棒性折中。</a:t>
            </a:r>
          </a:p>
        </p:txBody>
      </p:sp>
      <p:sp>
        <p:nvSpPr>
          <p:cNvPr id="7" name="文本框 6">
            <a:extLst>
              <a:ext uri="{FF2B5EF4-FFF2-40B4-BE49-F238E27FC236}">
                <a16:creationId xmlns:a16="http://schemas.microsoft.com/office/drawing/2014/main" id="{C1487944-262D-E429-940D-97DA7FCD99F2}"/>
              </a:ext>
            </a:extLst>
          </p:cNvPr>
          <p:cNvSpPr txBox="1"/>
          <p:nvPr/>
        </p:nvSpPr>
        <p:spPr>
          <a:xfrm>
            <a:off x="711200" y="29464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需要保留的限制</a:t>
            </a:r>
          </a:p>
        </p:txBody>
      </p:sp>
      <p:sp>
        <p:nvSpPr>
          <p:cNvPr id="8" name="文本框 7">
            <a:extLst>
              <a:ext uri="{FF2B5EF4-FFF2-40B4-BE49-F238E27FC236}">
                <a16:creationId xmlns:a16="http://schemas.microsoft.com/office/drawing/2014/main" id="{A767B2B3-5B45-A3EB-30A7-94AF60F6469D}"/>
              </a:ext>
            </a:extLst>
          </p:cNvPr>
          <p:cNvSpPr txBox="1"/>
          <p:nvPr/>
        </p:nvSpPr>
        <p:spPr>
          <a:xfrm>
            <a:off x="711200" y="3390900"/>
            <a:ext cx="10795000" cy="253916"/>
          </a:xfrm>
          <a:prstGeom prst="rect">
            <a:avLst/>
          </a:prstGeom>
          <a:noFill/>
        </p:spPr>
        <p:txBody>
          <a:bodyPr vert="horz" wrap="square" lIns="0" tIns="0" rIns="0" bIns="0" rtlCol="0">
            <a:spAutoFit/>
          </a:bodyPr>
          <a:lstStyle/>
          <a:p>
            <a:r>
              <a:rPr lang="en-US" altLang="zh-CN" sz="1650">
                <a:solidFill>
                  <a:srgbClr val="304553"/>
                </a:solidFill>
                <a:latin typeface="Microsoft YaHei" panose="020B0503020204020204" pitchFamily="34" charset="-122"/>
                <a:ea typeface="Microsoft YaHei" panose="020B0503020204020204" pitchFamily="34" charset="-122"/>
              </a:rPr>
              <a:t>Occlusion-RAF-DB </a:t>
            </a:r>
            <a:r>
              <a:rPr lang="zh-CN" altLang="en-US" sz="1650">
                <a:solidFill>
                  <a:srgbClr val="304553"/>
                </a:solidFill>
                <a:latin typeface="Microsoft YaHei" panose="020B0503020204020204" pitchFamily="34" charset="-122"/>
                <a:ea typeface="Microsoft YaHei" panose="020B0503020204020204" pitchFamily="34" charset="-122"/>
              </a:rPr>
              <a:t>配对检验均不显著；天然遮挡样本较少；训练计算未匹配。</a:t>
            </a:r>
          </a:p>
        </p:txBody>
      </p:sp>
      <p:sp>
        <p:nvSpPr>
          <p:cNvPr id="9" name="文本框 8">
            <a:extLst>
              <a:ext uri="{FF2B5EF4-FFF2-40B4-BE49-F238E27FC236}">
                <a16:creationId xmlns:a16="http://schemas.microsoft.com/office/drawing/2014/main" id="{96E1D568-C875-5C68-8698-7B2FE39AD090}"/>
              </a:ext>
            </a:extLst>
          </p:cNvPr>
          <p:cNvSpPr txBox="1"/>
          <p:nvPr/>
        </p:nvSpPr>
        <p:spPr>
          <a:xfrm>
            <a:off x="711200" y="43434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对项目的含义</a:t>
            </a:r>
          </a:p>
        </p:txBody>
      </p:sp>
      <p:sp>
        <p:nvSpPr>
          <p:cNvPr id="10" name="文本框 9">
            <a:extLst>
              <a:ext uri="{FF2B5EF4-FFF2-40B4-BE49-F238E27FC236}">
                <a16:creationId xmlns:a16="http://schemas.microsoft.com/office/drawing/2014/main" id="{F3908A82-090F-F19A-CE54-7C9C46933C3A}"/>
              </a:ext>
            </a:extLst>
          </p:cNvPr>
          <p:cNvSpPr txBox="1"/>
          <p:nvPr/>
        </p:nvSpPr>
        <p:spPr>
          <a:xfrm>
            <a:off x="711200" y="47879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不能把论文 </a:t>
            </a:r>
            <a:r>
              <a:rPr lang="en-US" altLang="zh-CN" sz="1650">
                <a:solidFill>
                  <a:srgbClr val="304553"/>
                </a:solidFill>
                <a:latin typeface="Microsoft YaHei" panose="020B0503020204020204" pitchFamily="34" charset="-122"/>
                <a:ea typeface="Microsoft YaHei" panose="020B0503020204020204" pitchFamily="34" charset="-122"/>
              </a:rPr>
              <a:t>87.38% </a:t>
            </a:r>
            <a:r>
              <a:rPr lang="zh-CN" altLang="en-US" sz="1650">
                <a:solidFill>
                  <a:srgbClr val="304553"/>
                </a:solidFill>
                <a:latin typeface="Microsoft YaHei" panose="020B0503020204020204" pitchFamily="34" charset="-122"/>
                <a:ea typeface="Microsoft YaHei" panose="020B0503020204020204" pitchFamily="34" charset="-122"/>
              </a:rPr>
              <a:t>直接写成 </a:t>
            </a:r>
            <a:r>
              <a:rPr lang="en-US" altLang="zh-CN" sz="1650">
                <a:solidFill>
                  <a:srgbClr val="304553"/>
                </a:solidFill>
                <a:latin typeface="Microsoft YaHei" panose="020B0503020204020204" pitchFamily="34" charset="-122"/>
                <a:ea typeface="Microsoft YaHei" panose="020B0503020204020204" pitchFamily="34" charset="-122"/>
              </a:rPr>
              <a:t>CampusMateAI </a:t>
            </a:r>
            <a:r>
              <a:rPr lang="zh-CN" altLang="en-US" sz="1650">
                <a:solidFill>
                  <a:srgbClr val="304553"/>
                </a:solidFill>
                <a:latin typeface="Microsoft YaHei" panose="020B0503020204020204" pitchFamily="34" charset="-122"/>
                <a:ea typeface="Microsoft YaHei" panose="020B0503020204020204" pitchFamily="34" charset="-122"/>
              </a:rPr>
              <a:t>的实测性能，需要目标设备与目标域重新验证。</a:t>
            </a:r>
          </a:p>
        </p:txBody>
      </p:sp>
    </p:spTree>
    <p:extLst>
      <p:ext uri="{BB962C8B-B14F-4D97-AF65-F5344CB8AC3E}">
        <p14:creationId xmlns:p14="http://schemas.microsoft.com/office/powerpoint/2010/main" val="305001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D2F0AA3-09BA-37F7-B06D-0ADC9785B15B}"/>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部署成本：训练复杂，推理简单</a:t>
            </a:r>
          </a:p>
        </p:txBody>
      </p:sp>
      <p:sp>
        <p:nvSpPr>
          <p:cNvPr id="3" name="文本框 2">
            <a:extLst>
              <a:ext uri="{FF2B5EF4-FFF2-40B4-BE49-F238E27FC236}">
                <a16:creationId xmlns:a16="http://schemas.microsoft.com/office/drawing/2014/main" id="{771343D2-AC34-DA4B-9A25-BFE3EEB9BD72}"/>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a:t>
            </a:r>
            <a:r>
              <a:rPr lang="en-US" altLang="zh-CN" sz="950">
                <a:solidFill>
                  <a:srgbClr val="61737E"/>
                </a:solidFill>
                <a:latin typeface="Microsoft YaHei" panose="020B0503020204020204" pitchFamily="34" charset="-122"/>
                <a:ea typeface="Microsoft YaHei" panose="020B0503020204020204" pitchFamily="34" charset="-122"/>
              </a:rPr>
              <a:t>§4.7</a:t>
            </a:r>
            <a:r>
              <a:rPr lang="zh-CN" altLang="en-US" sz="950">
                <a:solidFill>
                  <a:srgbClr val="61737E"/>
                </a:solidFill>
                <a:latin typeface="Microsoft YaHei" panose="020B0503020204020204" pitchFamily="34" charset="-122"/>
                <a:ea typeface="Microsoft YaHei" panose="020B0503020204020204" pitchFamily="34" charset="-122"/>
              </a:rPr>
              <a:t>、表</a:t>
            </a:r>
            <a:r>
              <a:rPr lang="en-US" altLang="zh-CN" sz="950">
                <a:solidFill>
                  <a:srgbClr val="61737E"/>
                </a:solidFill>
                <a:latin typeface="Microsoft YaHei" panose="020B0503020204020204" pitchFamily="34" charset="-122"/>
                <a:ea typeface="Microsoft YaHei" panose="020B0503020204020204" pitchFamily="34" charset="-122"/>
              </a:rPr>
              <a:t>11</a:t>
            </a:r>
            <a:r>
              <a:rPr lang="zh-CN" altLang="en-US" sz="950">
                <a:solidFill>
                  <a:srgbClr val="61737E"/>
                </a:solidFill>
                <a:latin typeface="Microsoft YaHei" panose="020B0503020204020204" pitchFamily="34" charset="-122"/>
                <a:ea typeface="Microsoft YaHei" panose="020B0503020204020204" pitchFamily="34" charset="-122"/>
              </a:rPr>
              <a:t>；仅网络推理，非手机端。</a:t>
            </a:r>
          </a:p>
        </p:txBody>
      </p:sp>
      <p:sp>
        <p:nvSpPr>
          <p:cNvPr id="4" name="文本框 3">
            <a:extLst>
              <a:ext uri="{FF2B5EF4-FFF2-40B4-BE49-F238E27FC236}">
                <a16:creationId xmlns:a16="http://schemas.microsoft.com/office/drawing/2014/main" id="{D5A068F6-F62C-ED53-ED8B-0D964AF52731}"/>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14</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5904694B-D0A7-6070-B546-0DD3900B1DD2}"/>
              </a:ext>
            </a:extLst>
          </p:cNvPr>
          <p:cNvGraphicFramePr>
            <a:graphicFrameLocks noGrp="1"/>
          </p:cNvGraphicFramePr>
          <p:nvPr>
            <p:extLst>
              <p:ext uri="{D42A27DB-BD31-4B8C-83A1-F6EECF244321}">
                <p14:modId xmlns:p14="http://schemas.microsoft.com/office/powerpoint/2010/main" val="3396570166"/>
              </p:ext>
            </p:extLst>
          </p:nvPr>
        </p:nvGraphicFramePr>
        <p:xfrm>
          <a:off x="673100" y="1765300"/>
          <a:ext cx="10833100" cy="3683000"/>
        </p:xfrm>
        <a:graphic>
          <a:graphicData uri="http://schemas.openxmlformats.org/drawingml/2006/table">
            <a:tbl>
              <a:tblPr firstRow="1" bandRow="1">
                <a:tableStyleId>{5C22544A-7EE6-4342-B048-85BDC9FD1C3A}</a:tableStyleId>
              </a:tblPr>
              <a:tblGrid>
                <a:gridCol w="2383282">
                  <a:extLst>
                    <a:ext uri="{9D8B030D-6E8A-4147-A177-3AD203B41FA5}">
                      <a16:colId xmlns:a16="http://schemas.microsoft.com/office/drawing/2014/main" val="1271641624"/>
                    </a:ext>
                  </a:extLst>
                </a:gridCol>
                <a:gridCol w="3358261">
                  <a:extLst>
                    <a:ext uri="{9D8B030D-6E8A-4147-A177-3AD203B41FA5}">
                      <a16:colId xmlns:a16="http://schemas.microsoft.com/office/drawing/2014/main" val="1382026100"/>
                    </a:ext>
                  </a:extLst>
                </a:gridCol>
                <a:gridCol w="5091557">
                  <a:extLst>
                    <a:ext uri="{9D8B030D-6E8A-4147-A177-3AD203B41FA5}">
                      <a16:colId xmlns:a16="http://schemas.microsoft.com/office/drawing/2014/main" val="1535089177"/>
                    </a:ext>
                  </a:extLst>
                </a:gridCol>
              </a:tblGrid>
              <a:tr h="736600">
                <a:tc>
                  <a:txBody>
                    <a:bodyPr/>
                    <a:lstStyle/>
                    <a:p>
                      <a:r>
                        <a:rPr lang="zh-CN" altLang="en-US" sz="1510" b="1">
                          <a:solidFill>
                            <a:srgbClr val="FFFFFF"/>
                          </a:solidFill>
                          <a:latin typeface="Microsoft YaHei" panose="020B0503020204020204" pitchFamily="34" charset="-122"/>
                          <a:ea typeface="Microsoft YaHei" panose="020B0503020204020204" pitchFamily="34" charset="-122"/>
                        </a:rPr>
                        <a:t>环节</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10" b="1">
                          <a:solidFill>
                            <a:srgbClr val="FFFFFF"/>
                          </a:solidFill>
                          <a:latin typeface="Microsoft YaHei" panose="020B0503020204020204" pitchFamily="34" charset="-122"/>
                          <a:ea typeface="Microsoft YaHei" panose="020B0503020204020204" pitchFamily="34" charset="-122"/>
                        </a:rPr>
                        <a:t>论文实测</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510" b="1">
                          <a:solidFill>
                            <a:srgbClr val="FFFFFF"/>
                          </a:solidFill>
                          <a:latin typeface="Microsoft YaHei" panose="020B0503020204020204" pitchFamily="34" charset="-122"/>
                          <a:ea typeface="Microsoft YaHei" panose="020B0503020204020204" pitchFamily="34" charset="-122"/>
                        </a:rPr>
                        <a:t>解释</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2697824340"/>
                  </a:ext>
                </a:extLst>
              </a:tr>
              <a:tr h="736600">
                <a:tc>
                  <a:txBody>
                    <a:bodyPr/>
                    <a:lstStyle/>
                    <a:p>
                      <a:r>
                        <a:rPr lang="zh-CN" altLang="en-US" sz="1510" b="0">
                          <a:solidFill>
                            <a:srgbClr val="304553"/>
                          </a:solidFill>
                          <a:latin typeface="Microsoft YaHei" panose="020B0503020204020204" pitchFamily="34" charset="-122"/>
                          <a:ea typeface="Microsoft YaHei" panose="020B0503020204020204" pitchFamily="34" charset="-122"/>
                        </a:rPr>
                        <a:t>部署模型</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510" b="0">
                          <a:solidFill>
                            <a:srgbClr val="304553"/>
                          </a:solidFill>
                          <a:latin typeface="Microsoft YaHei" panose="020B0503020204020204" pitchFamily="34" charset="-122"/>
                          <a:ea typeface="Microsoft YaHei" panose="020B0503020204020204" pitchFamily="34" charset="-122"/>
                        </a:rPr>
                        <a:t>11.18M </a:t>
                      </a:r>
                      <a:r>
                        <a:rPr lang="zh-CN" altLang="en-US" sz="1510" b="0">
                          <a:solidFill>
                            <a:srgbClr val="304553"/>
                          </a:solidFill>
                          <a:latin typeface="Microsoft YaHei" panose="020B0503020204020204" pitchFamily="34" charset="-122"/>
                          <a:ea typeface="Microsoft YaHei" panose="020B0503020204020204" pitchFamily="34" charset="-122"/>
                        </a:rPr>
                        <a:t>参数 </a:t>
                      </a:r>
                      <a:r>
                        <a:rPr lang="en-US" altLang="zh-CN" sz="1510" b="0">
                          <a:solidFill>
                            <a:srgbClr val="304553"/>
                          </a:solidFill>
                          <a:latin typeface="Microsoft YaHei" panose="020B0503020204020204" pitchFamily="34" charset="-122"/>
                          <a:ea typeface="Microsoft YaHei" panose="020B0503020204020204" pitchFamily="34" charset="-122"/>
                        </a:rPr>
                        <a:t>/ 1.814 GMAC</a:t>
                      </a:r>
                      <a:endParaRPr lang="zh-CN" altLang="en-US" sz="151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510" b="0">
                          <a:solidFill>
                            <a:srgbClr val="304553"/>
                          </a:solidFill>
                          <a:latin typeface="Microsoft YaHei" panose="020B0503020204020204" pitchFamily="34" charset="-122"/>
                          <a:ea typeface="Microsoft YaHei" panose="020B0503020204020204" pitchFamily="34" charset="-122"/>
                        </a:rPr>
                        <a:t>标准 </a:t>
                      </a:r>
                      <a:r>
                        <a:rPr lang="en-US" altLang="zh-CN" sz="1510" b="0">
                          <a:solidFill>
                            <a:srgbClr val="304553"/>
                          </a:solidFill>
                          <a:latin typeface="Microsoft YaHei" panose="020B0503020204020204" pitchFamily="34" charset="-122"/>
                          <a:ea typeface="Microsoft YaHei" panose="020B0503020204020204" pitchFamily="34" charset="-122"/>
                        </a:rPr>
                        <a:t>ResNet-18 </a:t>
                      </a:r>
                      <a:r>
                        <a:rPr lang="zh-CN" altLang="en-US" sz="1510" b="0">
                          <a:solidFill>
                            <a:srgbClr val="304553"/>
                          </a:solidFill>
                          <a:latin typeface="Microsoft YaHei" panose="020B0503020204020204" pitchFamily="34" charset="-122"/>
                          <a:ea typeface="Microsoft YaHei" panose="020B0503020204020204" pitchFamily="34" charset="-122"/>
                        </a:rPr>
                        <a:t>单骨干</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1576051240"/>
                  </a:ext>
                </a:extLst>
              </a:tr>
              <a:tr h="736600">
                <a:tc>
                  <a:txBody>
                    <a:bodyPr/>
                    <a:lstStyle/>
                    <a:p>
                      <a:r>
                        <a:rPr lang="en-US" altLang="zh-CN" sz="1510" b="0">
                          <a:solidFill>
                            <a:srgbClr val="304553"/>
                          </a:solidFill>
                          <a:latin typeface="Microsoft YaHei" panose="020B0503020204020204" pitchFamily="34" charset="-122"/>
                          <a:ea typeface="Microsoft YaHei" panose="020B0503020204020204" pitchFamily="34" charset="-122"/>
                        </a:rPr>
                        <a:t>GPU FP32</a:t>
                      </a:r>
                      <a:endParaRPr lang="zh-CN" altLang="en-US" sz="151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10" b="0">
                          <a:solidFill>
                            <a:srgbClr val="304553"/>
                          </a:solidFill>
                          <a:latin typeface="Microsoft YaHei" panose="020B0503020204020204" pitchFamily="34" charset="-122"/>
                          <a:ea typeface="Microsoft YaHei" panose="020B0503020204020204" pitchFamily="34" charset="-122"/>
                        </a:rPr>
                        <a:t>3.177 ± 0.070 ms</a:t>
                      </a:r>
                      <a:endParaRPr lang="zh-CN" altLang="en-US" sz="151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10" b="0">
                          <a:solidFill>
                            <a:srgbClr val="304553"/>
                          </a:solidFill>
                          <a:latin typeface="Microsoft YaHei" panose="020B0503020204020204" pitchFamily="34" charset="-122"/>
                          <a:ea typeface="Microsoft YaHei" panose="020B0503020204020204" pitchFamily="34" charset="-122"/>
                        </a:rPr>
                        <a:t>RTX 4060 Laptop</a:t>
                      </a:r>
                      <a:r>
                        <a:rPr lang="zh-CN" altLang="en-US" sz="1510" b="0">
                          <a:solidFill>
                            <a:srgbClr val="304553"/>
                          </a:solidFill>
                          <a:latin typeface="Microsoft YaHei" panose="020B0503020204020204" pitchFamily="34" charset="-122"/>
                          <a:ea typeface="Microsoft YaHei" panose="020B0503020204020204" pitchFamily="34" charset="-122"/>
                        </a:rPr>
                        <a:t>，仅网络</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69318357"/>
                  </a:ext>
                </a:extLst>
              </a:tr>
              <a:tr h="736600">
                <a:tc>
                  <a:txBody>
                    <a:bodyPr/>
                    <a:lstStyle/>
                    <a:p>
                      <a:r>
                        <a:rPr lang="en-US" altLang="zh-CN" sz="1510" b="0">
                          <a:solidFill>
                            <a:srgbClr val="304553"/>
                          </a:solidFill>
                          <a:latin typeface="Microsoft YaHei" panose="020B0503020204020204" pitchFamily="34" charset="-122"/>
                          <a:ea typeface="Microsoft YaHei" panose="020B0503020204020204" pitchFamily="34" charset="-122"/>
                        </a:rPr>
                        <a:t>CPU FP32</a:t>
                      </a:r>
                      <a:endParaRPr lang="zh-CN" altLang="en-US" sz="151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510" b="0">
                          <a:solidFill>
                            <a:srgbClr val="304553"/>
                          </a:solidFill>
                          <a:latin typeface="Microsoft YaHei" panose="020B0503020204020204" pitchFamily="34" charset="-122"/>
                          <a:ea typeface="Microsoft YaHei" panose="020B0503020204020204" pitchFamily="34" charset="-122"/>
                        </a:rPr>
                        <a:t>14.308 ± 0.858 ms</a:t>
                      </a:r>
                      <a:endParaRPr lang="zh-CN" altLang="en-US" sz="151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510" b="0">
                          <a:solidFill>
                            <a:srgbClr val="304553"/>
                          </a:solidFill>
                          <a:latin typeface="Microsoft YaHei" panose="020B0503020204020204" pitchFamily="34" charset="-122"/>
                          <a:ea typeface="Microsoft YaHei" panose="020B0503020204020204" pitchFamily="34" charset="-122"/>
                        </a:rPr>
                        <a:t>Ryzen 7 7745HX</a:t>
                      </a:r>
                      <a:r>
                        <a:rPr lang="zh-CN" altLang="en-US" sz="1510" b="0">
                          <a:solidFill>
                            <a:srgbClr val="304553"/>
                          </a:solidFill>
                          <a:latin typeface="Microsoft YaHei" panose="020B0503020204020204" pitchFamily="34" charset="-122"/>
                          <a:ea typeface="Microsoft YaHei" panose="020B0503020204020204" pitchFamily="34" charset="-122"/>
                        </a:rPr>
                        <a:t>，八线程，仅网络</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3677213522"/>
                  </a:ext>
                </a:extLst>
              </a:tr>
              <a:tr h="736600">
                <a:tc>
                  <a:txBody>
                    <a:bodyPr/>
                    <a:lstStyle/>
                    <a:p>
                      <a:r>
                        <a:rPr lang="zh-CN" altLang="en-US" sz="1510" b="0">
                          <a:solidFill>
                            <a:srgbClr val="304553"/>
                          </a:solidFill>
                          <a:latin typeface="Microsoft YaHei" panose="020B0503020204020204" pitchFamily="34" charset="-122"/>
                          <a:ea typeface="Microsoft YaHei" panose="020B0503020204020204" pitchFamily="34" charset="-122"/>
                        </a:rPr>
                        <a:t>训练每轮</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510" b="0">
                          <a:solidFill>
                            <a:srgbClr val="304553"/>
                          </a:solidFill>
                          <a:latin typeface="Microsoft YaHei" panose="020B0503020204020204" pitchFamily="34" charset="-122"/>
                          <a:ea typeface="Microsoft YaHei" panose="020B0503020204020204" pitchFamily="34" charset="-122"/>
                        </a:rPr>
                        <a:t>CA-HOFT 4.63 min</a:t>
                      </a:r>
                      <a:endParaRPr lang="zh-CN" altLang="en-US" sz="151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510" b="0">
                          <a:solidFill>
                            <a:srgbClr val="304553"/>
                          </a:solidFill>
                          <a:latin typeface="Microsoft YaHei" panose="020B0503020204020204" pitchFamily="34" charset="-122"/>
                          <a:ea typeface="Microsoft YaHei" panose="020B0503020204020204" pitchFamily="34" charset="-122"/>
                        </a:rPr>
                        <a:t>比 </a:t>
                      </a:r>
                      <a:r>
                        <a:rPr lang="en-US" altLang="zh-CN" sz="1510" b="0">
                          <a:solidFill>
                            <a:srgbClr val="304553"/>
                          </a:solidFill>
                          <a:latin typeface="Microsoft YaHei" panose="020B0503020204020204" pitchFamily="34" charset="-122"/>
                          <a:ea typeface="Microsoft YaHei" panose="020B0503020204020204" pitchFamily="34" charset="-122"/>
                        </a:rPr>
                        <a:t>Mixed FT 3.65 min </a:t>
                      </a:r>
                      <a:r>
                        <a:rPr lang="zh-CN" altLang="en-US" sz="1510" b="0">
                          <a:solidFill>
                            <a:srgbClr val="304553"/>
                          </a:solidFill>
                          <a:latin typeface="Microsoft YaHei" panose="020B0503020204020204" pitchFamily="34" charset="-122"/>
                          <a:ea typeface="Microsoft YaHei" panose="020B0503020204020204" pitchFamily="34" charset="-122"/>
                        </a:rPr>
                        <a:t>增加计算</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3107388246"/>
                  </a:ext>
                </a:extLst>
              </a:tr>
            </a:tbl>
          </a:graphicData>
        </a:graphic>
      </p:graphicFrame>
      <p:sp>
        <p:nvSpPr>
          <p:cNvPr id="6" name="文本框 5">
            <a:extLst>
              <a:ext uri="{FF2B5EF4-FFF2-40B4-BE49-F238E27FC236}">
                <a16:creationId xmlns:a16="http://schemas.microsoft.com/office/drawing/2014/main" id="{E63890A1-AB62-E458-CD39-B1951EBFB822}"/>
              </a:ext>
            </a:extLst>
          </p:cNvPr>
          <p:cNvSpPr txBox="1"/>
          <p:nvPr/>
        </p:nvSpPr>
        <p:spPr>
          <a:xfrm>
            <a:off x="723900" y="5676900"/>
            <a:ext cx="10693400" cy="246221"/>
          </a:xfrm>
          <a:prstGeom prst="rect">
            <a:avLst/>
          </a:prstGeom>
          <a:noFill/>
        </p:spPr>
        <p:txBody>
          <a:bodyPr vert="horz" wrap="square" lIns="0" tIns="0" rIns="0" bIns="0" rtlCol="0">
            <a:spAutoFit/>
          </a:bodyPr>
          <a:lstStyle/>
          <a:p>
            <a:r>
              <a:rPr lang="zh-CN" altLang="en-US" sz="1600" b="1">
                <a:solidFill>
                  <a:srgbClr val="D25B41"/>
                </a:solidFill>
                <a:latin typeface="Microsoft YaHei" panose="020B0503020204020204" pitchFamily="34" charset="-122"/>
                <a:ea typeface="Microsoft YaHei" panose="020B0503020204020204" pitchFamily="34" charset="-122"/>
              </a:rPr>
              <a:t>“紧凑”指推理图没有额外遮挡模块，不代表训练便宜或手机端已达成该延迟。</a:t>
            </a:r>
          </a:p>
        </p:txBody>
      </p:sp>
    </p:spTree>
    <p:extLst>
      <p:ext uri="{BB962C8B-B14F-4D97-AF65-F5344CB8AC3E}">
        <p14:creationId xmlns:p14="http://schemas.microsoft.com/office/powerpoint/2010/main" val="861678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4653277-BB20-6E28-C73E-39E15C8544DF}"/>
              </a:ext>
            </a:extLst>
          </p:cNvPr>
          <p:cNvSpPr txBox="1"/>
          <p:nvPr/>
        </p:nvSpPr>
        <p:spPr>
          <a:xfrm>
            <a:off x="660400" y="431800"/>
            <a:ext cx="10922000" cy="446276"/>
          </a:xfrm>
          <a:prstGeom prst="rect">
            <a:avLst/>
          </a:prstGeom>
          <a:noFill/>
        </p:spPr>
        <p:txBody>
          <a:bodyPr vert="horz" wrap="square" lIns="0" tIns="0" rIns="0" bIns="0" rtlCol="0">
            <a:spAutoFit/>
          </a:bodyPr>
          <a:lstStyle/>
          <a:p>
            <a:r>
              <a:rPr lang="en-US" altLang="zh-CN" sz="2900" b="1">
                <a:solidFill>
                  <a:srgbClr val="142D42"/>
                </a:solidFill>
                <a:latin typeface="Microsoft YaHei" panose="020B0503020204020204" pitchFamily="34" charset="-122"/>
                <a:ea typeface="Microsoft YaHei" panose="020B0503020204020204" pitchFamily="34" charset="-122"/>
              </a:rPr>
              <a:t>CampusMateAI </a:t>
            </a:r>
            <a:r>
              <a:rPr lang="zh-CN" altLang="en-US" sz="2900" b="1">
                <a:solidFill>
                  <a:srgbClr val="142D42"/>
                </a:solidFill>
                <a:latin typeface="Microsoft YaHei" panose="020B0503020204020204" pitchFamily="34" charset="-122"/>
                <a:ea typeface="Microsoft YaHei" panose="020B0503020204020204" pitchFamily="34" charset="-122"/>
              </a:rPr>
              <a:t>的现有基础</a:t>
            </a:r>
          </a:p>
        </p:txBody>
      </p:sp>
      <p:sp>
        <p:nvSpPr>
          <p:cNvPr id="3" name="文本框 2">
            <a:extLst>
              <a:ext uri="{FF2B5EF4-FFF2-40B4-BE49-F238E27FC236}">
                <a16:creationId xmlns:a16="http://schemas.microsoft.com/office/drawing/2014/main" id="{8CD6AA5F-69C3-136A-40AD-EE19A2E5A34E}"/>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a:t>
            </a:r>
            <a:r>
              <a:rPr lang="en-US" altLang="zh-CN" sz="950">
                <a:solidFill>
                  <a:srgbClr val="61737E"/>
                </a:solidFill>
                <a:latin typeface="Microsoft YaHei" panose="020B0503020204020204" pitchFamily="34" charset="-122"/>
                <a:ea typeface="Microsoft YaHei" panose="020B0503020204020204" pitchFamily="34" charset="-122"/>
              </a:rPr>
              <a:t>ml/expression_recognition/README.md</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android/README.md</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harmony/README.md</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backend/app/services/emotion_context.py</a:t>
            </a:r>
            <a:r>
              <a:rPr lang="zh-CN" altLang="en-US" sz="950">
                <a:solidFill>
                  <a:srgbClr val="61737E"/>
                </a:solidFill>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1D2F75E2-9D1D-5516-ABE6-EBD6367B864C}"/>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15</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534ABA6F-97C3-2225-075D-3540A6A95B74}"/>
              </a:ext>
            </a:extLst>
          </p:cNvPr>
          <p:cNvGraphicFramePr>
            <a:graphicFrameLocks noGrp="1"/>
          </p:cNvGraphicFramePr>
          <p:nvPr>
            <p:extLst>
              <p:ext uri="{D42A27DB-BD31-4B8C-83A1-F6EECF244321}">
                <p14:modId xmlns:p14="http://schemas.microsoft.com/office/powerpoint/2010/main" val="2440394272"/>
              </p:ext>
            </p:extLst>
          </p:nvPr>
        </p:nvGraphicFramePr>
        <p:xfrm>
          <a:off x="660400" y="1739900"/>
          <a:ext cx="10871200" cy="3695700"/>
        </p:xfrm>
        <a:graphic>
          <a:graphicData uri="http://schemas.openxmlformats.org/drawingml/2006/table">
            <a:tbl>
              <a:tblPr firstRow="1" bandRow="1">
                <a:tableStyleId>{5C22544A-7EE6-4342-B048-85BDC9FD1C3A}</a:tableStyleId>
              </a:tblPr>
              <a:tblGrid>
                <a:gridCol w="1848104">
                  <a:extLst>
                    <a:ext uri="{9D8B030D-6E8A-4147-A177-3AD203B41FA5}">
                      <a16:colId xmlns:a16="http://schemas.microsoft.com/office/drawing/2014/main" val="2148528606"/>
                    </a:ext>
                  </a:extLst>
                </a:gridCol>
                <a:gridCol w="4348480">
                  <a:extLst>
                    <a:ext uri="{9D8B030D-6E8A-4147-A177-3AD203B41FA5}">
                      <a16:colId xmlns:a16="http://schemas.microsoft.com/office/drawing/2014/main" val="169316181"/>
                    </a:ext>
                  </a:extLst>
                </a:gridCol>
                <a:gridCol w="4674616">
                  <a:extLst>
                    <a:ext uri="{9D8B030D-6E8A-4147-A177-3AD203B41FA5}">
                      <a16:colId xmlns:a16="http://schemas.microsoft.com/office/drawing/2014/main" val="4278828070"/>
                    </a:ext>
                  </a:extLst>
                </a:gridCol>
              </a:tblGrid>
              <a:tr h="739140">
                <a:tc>
                  <a:txBody>
                    <a:bodyPr/>
                    <a:lstStyle/>
                    <a:p>
                      <a:r>
                        <a:rPr lang="zh-CN" altLang="en-US" sz="1480" b="1">
                          <a:solidFill>
                            <a:srgbClr val="FFFFFF"/>
                          </a:solidFill>
                          <a:latin typeface="Microsoft YaHei" panose="020B0503020204020204" pitchFamily="34" charset="-122"/>
                          <a:ea typeface="Microsoft YaHei" panose="020B0503020204020204" pitchFamily="34" charset="-122"/>
                        </a:rPr>
                        <a:t>层</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80" b="1">
                          <a:solidFill>
                            <a:srgbClr val="FFFFFF"/>
                          </a:solidFill>
                          <a:latin typeface="Microsoft YaHei" panose="020B0503020204020204" pitchFamily="34" charset="-122"/>
                          <a:ea typeface="Microsoft YaHei" panose="020B0503020204020204" pitchFamily="34" charset="-122"/>
                        </a:rPr>
                        <a:t>已有实现</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80" b="1">
                          <a:solidFill>
                            <a:srgbClr val="FFFFFF"/>
                          </a:solidFill>
                          <a:latin typeface="Microsoft YaHei" panose="020B0503020204020204" pitchFamily="34" charset="-122"/>
                          <a:ea typeface="Microsoft YaHei" panose="020B0503020204020204" pitchFamily="34" charset="-122"/>
                        </a:rPr>
                        <a:t>本次论文可影响的部分</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2693913607"/>
                  </a:ext>
                </a:extLst>
              </a:tr>
              <a:tr h="739140">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训练侧</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七类映射、</a:t>
                      </a:r>
                      <a:r>
                        <a:rPr lang="en-US" altLang="zh-CN" sz="1480" b="0">
                          <a:solidFill>
                            <a:srgbClr val="304553"/>
                          </a:solidFill>
                          <a:latin typeface="Microsoft YaHei" panose="020B0503020204020204" pitchFamily="34" charset="-122"/>
                          <a:ea typeface="Microsoft YaHei" panose="020B0503020204020204" pitchFamily="34" charset="-122"/>
                        </a:rPr>
                        <a:t>ResNet-18</a:t>
                      </a:r>
                      <a:r>
                        <a:rPr lang="zh-CN" altLang="en-US" sz="1480" b="0">
                          <a:solidFill>
                            <a:srgbClr val="304553"/>
                          </a:solidFill>
                          <a:latin typeface="Microsoft YaHei" panose="020B0503020204020204" pitchFamily="34" charset="-122"/>
                          <a:ea typeface="Microsoft YaHei" panose="020B0503020204020204" pitchFamily="34" charset="-122"/>
                        </a:rPr>
                        <a:t>、评估与 </a:t>
                      </a:r>
                      <a:r>
                        <a:rPr lang="en-US" altLang="zh-CN" sz="1480" b="0">
                          <a:solidFill>
                            <a:srgbClr val="304553"/>
                          </a:solidFill>
                          <a:latin typeface="Microsoft YaHei" panose="020B0503020204020204" pitchFamily="34" charset="-122"/>
                          <a:ea typeface="Microsoft YaHei" panose="020B0503020204020204" pitchFamily="34" charset="-122"/>
                        </a:rPr>
                        <a:t>LiteRT </a:t>
                      </a:r>
                      <a:r>
                        <a:rPr lang="zh-CN" altLang="en-US" sz="1480" b="0">
                          <a:solidFill>
                            <a:srgbClr val="304553"/>
                          </a:solidFill>
                          <a:latin typeface="Microsoft YaHei" panose="020B0503020204020204" pitchFamily="34" charset="-122"/>
                          <a:ea typeface="Microsoft YaHei" panose="020B0503020204020204" pitchFamily="34" charset="-122"/>
                        </a:rPr>
                        <a:t>导出</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训练策略与遮挡评估</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3099010502"/>
                  </a:ext>
                </a:extLst>
              </a:tr>
              <a:tr h="739140">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模型契约</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96×96 RGB NHWC float32</a:t>
                      </a:r>
                      <a:r>
                        <a:rPr lang="zh-CN" altLang="en-US" sz="1480" b="0">
                          <a:solidFill>
                            <a:srgbClr val="304553"/>
                          </a:solidFill>
                          <a:latin typeface="Microsoft YaHei" panose="020B0503020204020204" pitchFamily="34" charset="-122"/>
                          <a:ea typeface="Microsoft YaHei" panose="020B0503020204020204" pitchFamily="34" charset="-122"/>
                        </a:rPr>
                        <a:t>、</a:t>
                      </a:r>
                      <a:r>
                        <a:rPr lang="en-US" altLang="zh-CN" sz="1480" b="0">
                          <a:solidFill>
                            <a:srgbClr val="304553"/>
                          </a:solidFill>
                          <a:latin typeface="Microsoft YaHei" panose="020B0503020204020204" pitchFamily="34" charset="-122"/>
                          <a:ea typeface="Microsoft YaHei" panose="020B0503020204020204" pitchFamily="34" charset="-122"/>
                        </a:rPr>
                        <a:t>ImageNet </a:t>
                      </a:r>
                      <a:r>
                        <a:rPr lang="zh-CN" altLang="en-US" sz="1480" b="0">
                          <a:solidFill>
                            <a:srgbClr val="304553"/>
                          </a:solidFill>
                          <a:latin typeface="Microsoft YaHei" panose="020B0503020204020204" pitchFamily="34" charset="-122"/>
                          <a:ea typeface="Microsoft YaHei" panose="020B0503020204020204" pitchFamily="34" charset="-122"/>
                        </a:rPr>
                        <a:t>归一化</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必须保持兼容</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3302337689"/>
                  </a:ext>
                </a:extLst>
              </a:tr>
              <a:tr h="739140">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Android / HarmonyOS</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端侧推理、质量与稳定性门槛</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替换前离线和真机验收</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748028361"/>
                  </a:ext>
                </a:extLst>
              </a:tr>
              <a:tr h="739140">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后端对话</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仅用稳定标签调整措辞</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不推断心理或医学状态</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3921449249"/>
                  </a:ext>
                </a:extLst>
              </a:tr>
            </a:tbl>
          </a:graphicData>
        </a:graphic>
      </p:graphicFrame>
    </p:spTree>
    <p:extLst>
      <p:ext uri="{BB962C8B-B14F-4D97-AF65-F5344CB8AC3E}">
        <p14:creationId xmlns:p14="http://schemas.microsoft.com/office/powerpoint/2010/main" val="2287822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EA7DA5F-9A4E-7E77-0127-20EC989D46B1}"/>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现有离线实验与论文的差距</a:t>
            </a:r>
          </a:p>
        </p:txBody>
      </p:sp>
      <p:sp>
        <p:nvSpPr>
          <p:cNvPr id="3" name="文本框 2">
            <a:extLst>
              <a:ext uri="{FF2B5EF4-FFF2-40B4-BE49-F238E27FC236}">
                <a16:creationId xmlns:a16="http://schemas.microsoft.com/office/drawing/2014/main" id="{79D3EB72-B539-E30C-62E9-28D316D266D8}"/>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a:t>
            </a:r>
            <a:r>
              <a:rPr lang="en-US" altLang="zh-CN" sz="950">
                <a:solidFill>
                  <a:srgbClr val="61737E"/>
                </a:solidFill>
                <a:latin typeface="Microsoft YaHei" panose="020B0503020204020204" pitchFamily="34" charset="-122"/>
                <a:ea typeface="Microsoft YaHei" panose="020B0503020204020204" pitchFamily="34" charset="-122"/>
              </a:rPr>
              <a:t>ml/expression_recognition/src/expression_recognition/occlusion_experiment.py</a:t>
            </a:r>
            <a:r>
              <a:rPr lang="zh-CN" altLang="en-US" sz="950">
                <a:solidFill>
                  <a:srgbClr val="61737E"/>
                </a:solidFill>
                <a:latin typeface="Microsoft YaHei" panose="020B0503020204020204" pitchFamily="34" charset="-122"/>
                <a:ea typeface="Microsoft YaHei" panose="020B0503020204020204" pitchFamily="34" charset="-122"/>
              </a:rPr>
              <a:t>；论文</a:t>
            </a:r>
            <a:r>
              <a:rPr lang="en-US" altLang="zh-CN" sz="950">
                <a:solidFill>
                  <a:srgbClr val="61737E"/>
                </a:solidFill>
                <a:latin typeface="Microsoft YaHei" panose="020B0503020204020204" pitchFamily="34" charset="-122"/>
                <a:ea typeface="Microsoft YaHei" panose="020B0503020204020204" pitchFamily="34" charset="-122"/>
              </a:rPr>
              <a:t>§3</a:t>
            </a:r>
            <a:r>
              <a:rPr lang="zh-CN" altLang="en-US" sz="950">
                <a:solidFill>
                  <a:srgbClr val="61737E"/>
                </a:solidFill>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A647E51A-FAB7-0428-B7F2-A0DB7C9BF56E}"/>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16</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9B16678E-C023-52BE-797B-B61637BB52A4}"/>
              </a:ext>
            </a:extLst>
          </p:cNvPr>
          <p:cNvGraphicFramePr>
            <a:graphicFrameLocks noGrp="1"/>
          </p:cNvGraphicFramePr>
          <p:nvPr>
            <p:extLst>
              <p:ext uri="{D42A27DB-BD31-4B8C-83A1-F6EECF244321}">
                <p14:modId xmlns:p14="http://schemas.microsoft.com/office/powerpoint/2010/main" val="1079857502"/>
              </p:ext>
            </p:extLst>
          </p:nvPr>
        </p:nvGraphicFramePr>
        <p:xfrm>
          <a:off x="660400" y="1651000"/>
          <a:ext cx="10871200" cy="4140200"/>
        </p:xfrm>
        <a:graphic>
          <a:graphicData uri="http://schemas.openxmlformats.org/drawingml/2006/table">
            <a:tbl>
              <a:tblPr firstRow="1" bandRow="1">
                <a:tableStyleId>{5C22544A-7EE6-4342-B048-85BDC9FD1C3A}</a:tableStyleId>
              </a:tblPr>
              <a:tblGrid>
                <a:gridCol w="2065528">
                  <a:extLst>
                    <a:ext uri="{9D8B030D-6E8A-4147-A177-3AD203B41FA5}">
                      <a16:colId xmlns:a16="http://schemas.microsoft.com/office/drawing/2014/main" val="3992555135"/>
                    </a:ext>
                  </a:extLst>
                </a:gridCol>
                <a:gridCol w="4348480">
                  <a:extLst>
                    <a:ext uri="{9D8B030D-6E8A-4147-A177-3AD203B41FA5}">
                      <a16:colId xmlns:a16="http://schemas.microsoft.com/office/drawing/2014/main" val="3972384969"/>
                    </a:ext>
                  </a:extLst>
                </a:gridCol>
                <a:gridCol w="4457192">
                  <a:extLst>
                    <a:ext uri="{9D8B030D-6E8A-4147-A177-3AD203B41FA5}">
                      <a16:colId xmlns:a16="http://schemas.microsoft.com/office/drawing/2014/main" val="2780645903"/>
                    </a:ext>
                  </a:extLst>
                </a:gridCol>
              </a:tblGrid>
              <a:tr h="690033">
                <a:tc>
                  <a:txBody>
                    <a:bodyPr/>
                    <a:lstStyle/>
                    <a:p>
                      <a:r>
                        <a:rPr lang="zh-CN" altLang="en-US" sz="1480" b="1">
                          <a:solidFill>
                            <a:srgbClr val="FFFFFF"/>
                          </a:solidFill>
                          <a:latin typeface="Microsoft YaHei" panose="020B0503020204020204" pitchFamily="34" charset="-122"/>
                          <a:ea typeface="Microsoft YaHei" panose="020B0503020204020204" pitchFamily="34" charset="-122"/>
                        </a:rPr>
                        <a:t>要素</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80" b="1">
                          <a:solidFill>
                            <a:srgbClr val="FFFFFF"/>
                          </a:solidFill>
                          <a:latin typeface="Microsoft YaHei" panose="020B0503020204020204" pitchFamily="34" charset="-122"/>
                          <a:ea typeface="Microsoft YaHei" panose="020B0503020204020204" pitchFamily="34" charset="-122"/>
                        </a:rPr>
                        <a:t>论文 </a:t>
                      </a:r>
                      <a:r>
                        <a:rPr lang="en-US" altLang="zh-CN" sz="1480" b="1">
                          <a:solidFill>
                            <a:srgbClr val="FFFFFF"/>
                          </a:solidFill>
                          <a:latin typeface="Microsoft YaHei" panose="020B0503020204020204" pitchFamily="34" charset="-122"/>
                          <a:ea typeface="Microsoft YaHei" panose="020B0503020204020204" pitchFamily="34" charset="-122"/>
                        </a:rPr>
                        <a:t>CA-HOFT</a:t>
                      </a:r>
                      <a:endParaRPr lang="zh-CN" altLang="en-US" sz="1480" b="1">
                        <a:solidFill>
                          <a:srgbClr val="FFFFFF"/>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80" b="1">
                          <a:solidFill>
                            <a:srgbClr val="FFFFFF"/>
                          </a:solidFill>
                          <a:latin typeface="Microsoft YaHei" panose="020B0503020204020204" pitchFamily="34" charset="-122"/>
                          <a:ea typeface="Microsoft YaHei" panose="020B0503020204020204" pitchFamily="34" charset="-122"/>
                        </a:rPr>
                        <a:t>仓库现状</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563956073"/>
                  </a:ext>
                </a:extLst>
              </a:tr>
              <a:tr h="690033">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输入</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224×224</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480" b="0">
                          <a:solidFill>
                            <a:srgbClr val="304553"/>
                          </a:solidFill>
                          <a:latin typeface="Microsoft YaHei" panose="020B0503020204020204" pitchFamily="34" charset="-122"/>
                          <a:ea typeface="Microsoft YaHei" panose="020B0503020204020204" pitchFamily="34" charset="-122"/>
                        </a:rPr>
                        <a:t>96×96 </a:t>
                      </a:r>
                      <a:r>
                        <a:rPr lang="zh-CN" altLang="en-US" sz="1480" b="0">
                          <a:solidFill>
                            <a:srgbClr val="304553"/>
                          </a:solidFill>
                          <a:latin typeface="Microsoft YaHei" panose="020B0503020204020204" pitchFamily="34" charset="-122"/>
                          <a:ea typeface="Microsoft YaHei" panose="020B0503020204020204" pitchFamily="34" charset="-122"/>
                        </a:rPr>
                        <a:t>固定部署契约</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3229847197"/>
                  </a:ext>
                </a:extLst>
              </a:tr>
              <a:tr h="690033">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遮挡</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六模式加权 </a:t>
                      </a:r>
                      <a:r>
                        <a:rPr lang="en-US" altLang="zh-CN" sz="1480" b="0">
                          <a:solidFill>
                            <a:srgbClr val="304553"/>
                          </a:solidFill>
                          <a:latin typeface="Microsoft YaHei" panose="020B0503020204020204" pitchFamily="34" charset="-122"/>
                          <a:ea typeface="Microsoft YaHei" panose="020B0503020204020204" pitchFamily="34" charset="-122"/>
                        </a:rPr>
                        <a:t>HardMix</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眼、口、随机近似掩码</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3473336740"/>
                  </a:ext>
                </a:extLst>
              </a:tr>
              <a:tr h="690033">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教师损失</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两项独立权重 </a:t>
                      </a:r>
                      <a:r>
                        <a:rPr lang="en-US" altLang="zh-CN" sz="1480" b="0">
                          <a:solidFill>
                            <a:srgbClr val="304553"/>
                          </a:solidFill>
                          <a:latin typeface="Microsoft YaHei" panose="020B0503020204020204" pitchFamily="34" charset="-122"/>
                          <a:ea typeface="Microsoft YaHei" panose="020B0503020204020204" pitchFamily="34" charset="-122"/>
                        </a:rPr>
                        <a:t>0.60 / 0.25</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两项共用 </a:t>
                      </a:r>
                      <a:r>
                        <a:rPr lang="en-US" altLang="zh-CN" sz="1480" b="0">
                          <a:solidFill>
                            <a:srgbClr val="304553"/>
                          </a:solidFill>
                          <a:latin typeface="Microsoft YaHei" panose="020B0503020204020204" pitchFamily="34" charset="-122"/>
                          <a:ea typeface="Microsoft YaHei" panose="020B0503020204020204" pitchFamily="34" charset="-122"/>
                        </a:rPr>
                        <a:t>0.5</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628452659"/>
                  </a:ext>
                </a:extLst>
              </a:tr>
              <a:tr h="690033">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对照</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多种基线、五次种子</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两臂离线对照</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1355805879"/>
                  </a:ext>
                </a:extLst>
              </a:tr>
              <a:tr h="690033">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结果</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论文表</a:t>
                      </a:r>
                      <a:r>
                        <a:rPr lang="en-US" altLang="zh-CN" sz="1480" b="0">
                          <a:solidFill>
                            <a:srgbClr val="304553"/>
                          </a:solidFill>
                          <a:latin typeface="Microsoft YaHei" panose="020B0503020204020204" pitchFamily="34" charset="-122"/>
                          <a:ea typeface="Microsoft YaHei" panose="020B0503020204020204" pitchFamily="34" charset="-122"/>
                        </a:rPr>
                        <a:t>4–11</a:t>
                      </a:r>
                      <a:endParaRPr lang="zh-CN" altLang="en-US" sz="148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80" b="0">
                          <a:solidFill>
                            <a:srgbClr val="304553"/>
                          </a:solidFill>
                          <a:latin typeface="Microsoft YaHei" panose="020B0503020204020204" pitchFamily="34" charset="-122"/>
                          <a:ea typeface="Microsoft YaHei" panose="020B0503020204020204" pitchFamily="34" charset="-122"/>
                        </a:rPr>
                        <a:t>需本项目实际运行获得</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2835564301"/>
                  </a:ext>
                </a:extLst>
              </a:tr>
            </a:tbl>
          </a:graphicData>
        </a:graphic>
      </p:graphicFrame>
    </p:spTree>
    <p:extLst>
      <p:ext uri="{BB962C8B-B14F-4D97-AF65-F5344CB8AC3E}">
        <p14:creationId xmlns:p14="http://schemas.microsoft.com/office/powerpoint/2010/main" val="3698507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8FE8A56-D0A2-F6C1-532D-597E41D21779}"/>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融合路径：先把训练实验做扎实</a:t>
            </a:r>
          </a:p>
        </p:txBody>
      </p:sp>
      <p:sp>
        <p:nvSpPr>
          <p:cNvPr id="3" name="文本框 2">
            <a:extLst>
              <a:ext uri="{FF2B5EF4-FFF2-40B4-BE49-F238E27FC236}">
                <a16:creationId xmlns:a16="http://schemas.microsoft.com/office/drawing/2014/main" id="{4D220EBB-5624-ADF2-22B9-E2BA1013524F}"/>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来源：项目训练模块 </a:t>
            </a:r>
            <a:r>
              <a:rPr lang="en-US" altLang="zh-CN" sz="950">
                <a:solidFill>
                  <a:srgbClr val="61737E"/>
                </a:solidFill>
                <a:latin typeface="Microsoft YaHei" panose="020B0503020204020204" pitchFamily="34" charset="-122"/>
                <a:ea typeface="Microsoft YaHei" panose="020B0503020204020204" pitchFamily="34" charset="-122"/>
              </a:rPr>
              <a:t>README </a:t>
            </a:r>
            <a:r>
              <a:rPr lang="zh-CN" altLang="en-US" sz="950">
                <a:solidFill>
                  <a:srgbClr val="61737E"/>
                </a:solidFill>
                <a:latin typeface="Microsoft YaHei" panose="020B0503020204020204" pitchFamily="34" charset="-122"/>
                <a:ea typeface="Microsoft YaHei" panose="020B0503020204020204" pitchFamily="34" charset="-122"/>
              </a:rPr>
              <a:t>与 </a:t>
            </a:r>
            <a:r>
              <a:rPr lang="en-US" altLang="zh-CN" sz="950">
                <a:solidFill>
                  <a:srgbClr val="61737E"/>
                </a:solidFill>
                <a:latin typeface="Microsoft YaHei" panose="020B0503020204020204" pitchFamily="34" charset="-122"/>
                <a:ea typeface="Microsoft YaHei" panose="020B0503020204020204" pitchFamily="34" charset="-122"/>
              </a:rPr>
              <a:t>occlusion_experiment.py</a:t>
            </a:r>
            <a:r>
              <a:rPr lang="zh-CN" altLang="en-US" sz="950">
                <a:solidFill>
                  <a:srgbClr val="61737E"/>
                </a:solidFill>
                <a:latin typeface="Microsoft YaHei" panose="020B0503020204020204" pitchFamily="34" charset="-122"/>
                <a:ea typeface="Microsoft YaHei" panose="020B0503020204020204" pitchFamily="34" charset="-122"/>
              </a:rPr>
              <a:t>；以下为建议方案。</a:t>
            </a:r>
          </a:p>
        </p:txBody>
      </p:sp>
      <p:sp>
        <p:nvSpPr>
          <p:cNvPr id="4" name="文本框 3">
            <a:extLst>
              <a:ext uri="{FF2B5EF4-FFF2-40B4-BE49-F238E27FC236}">
                <a16:creationId xmlns:a16="http://schemas.microsoft.com/office/drawing/2014/main" id="{E030F9F1-825F-C031-7EC7-508A117B6CBD}"/>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17</a:t>
            </a:r>
            <a:endParaRPr lang="zh-CN" altLang="en-US" sz="1000">
              <a:solidFill>
                <a:srgbClr val="61737E"/>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B42CF7A1-B0CC-B5EE-AFB4-9BB6CBEDBF0B}"/>
              </a:ext>
            </a:extLst>
          </p:cNvPr>
          <p:cNvSpPr txBox="1"/>
          <p:nvPr/>
        </p:nvSpPr>
        <p:spPr>
          <a:xfrm>
            <a:off x="711200" y="14859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第 </a:t>
            </a:r>
            <a:r>
              <a:rPr lang="en-US" altLang="zh-CN" sz="1900" b="1">
                <a:solidFill>
                  <a:srgbClr val="007F83"/>
                </a:solidFill>
                <a:latin typeface="Microsoft YaHei" panose="020B0503020204020204" pitchFamily="34" charset="-122"/>
                <a:ea typeface="Microsoft YaHei" panose="020B0503020204020204" pitchFamily="34" charset="-122"/>
              </a:rPr>
              <a:t>1 </a:t>
            </a:r>
            <a:r>
              <a:rPr lang="zh-CN" altLang="en-US" sz="1900" b="1">
                <a:solidFill>
                  <a:srgbClr val="007F83"/>
                </a:solidFill>
                <a:latin typeface="Microsoft YaHei" panose="020B0503020204020204" pitchFamily="34" charset="-122"/>
                <a:ea typeface="Microsoft YaHei" panose="020B0503020204020204" pitchFamily="34" charset="-122"/>
              </a:rPr>
              <a:t>步：锁定基线</a:t>
            </a:r>
          </a:p>
        </p:txBody>
      </p:sp>
      <p:sp>
        <p:nvSpPr>
          <p:cNvPr id="6" name="文本框 5">
            <a:extLst>
              <a:ext uri="{FF2B5EF4-FFF2-40B4-BE49-F238E27FC236}">
                <a16:creationId xmlns:a16="http://schemas.microsoft.com/office/drawing/2014/main" id="{0A35D2BB-E030-1AAF-AE14-79B1535055B3}"/>
              </a:ext>
            </a:extLst>
          </p:cNvPr>
          <p:cNvSpPr txBox="1"/>
          <p:nvPr/>
        </p:nvSpPr>
        <p:spPr>
          <a:xfrm>
            <a:off x="711200" y="19304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用当前 </a:t>
            </a:r>
            <a:r>
              <a:rPr lang="en-US" altLang="zh-CN" sz="1650">
                <a:solidFill>
                  <a:srgbClr val="304553"/>
                </a:solidFill>
                <a:latin typeface="Microsoft YaHei" panose="020B0503020204020204" pitchFamily="34" charset="-122"/>
                <a:ea typeface="Microsoft YaHei" panose="020B0503020204020204" pitchFamily="34" charset="-122"/>
              </a:rPr>
              <a:t>ResNet-18 </a:t>
            </a:r>
            <a:r>
              <a:rPr lang="zh-CN" altLang="en-US" sz="1650">
                <a:solidFill>
                  <a:srgbClr val="304553"/>
                </a:solidFill>
                <a:latin typeface="Microsoft YaHei" panose="020B0503020204020204" pitchFamily="34" charset="-122"/>
                <a:ea typeface="Microsoft YaHei" panose="020B0503020204020204" pitchFamily="34" charset="-122"/>
              </a:rPr>
              <a:t>检查点和统一清单，固定训练种子、验证掩码、指标与选择规则。</a:t>
            </a:r>
          </a:p>
        </p:txBody>
      </p:sp>
      <p:sp>
        <p:nvSpPr>
          <p:cNvPr id="7" name="文本框 6">
            <a:extLst>
              <a:ext uri="{FF2B5EF4-FFF2-40B4-BE49-F238E27FC236}">
                <a16:creationId xmlns:a16="http://schemas.microsoft.com/office/drawing/2014/main" id="{F9243AE0-7B53-1750-5891-D3EDA2BA07D4}"/>
              </a:ext>
            </a:extLst>
          </p:cNvPr>
          <p:cNvSpPr txBox="1"/>
          <p:nvPr/>
        </p:nvSpPr>
        <p:spPr>
          <a:xfrm>
            <a:off x="711200" y="28829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第 </a:t>
            </a:r>
            <a:r>
              <a:rPr lang="en-US" altLang="zh-CN" sz="1900" b="1">
                <a:solidFill>
                  <a:srgbClr val="007F83"/>
                </a:solidFill>
                <a:latin typeface="Microsoft YaHei" panose="020B0503020204020204" pitchFamily="34" charset="-122"/>
                <a:ea typeface="Microsoft YaHei" panose="020B0503020204020204" pitchFamily="34" charset="-122"/>
              </a:rPr>
              <a:t>2 </a:t>
            </a:r>
            <a:r>
              <a:rPr lang="zh-CN" altLang="en-US" sz="1900" b="1">
                <a:solidFill>
                  <a:srgbClr val="007F83"/>
                </a:solidFill>
                <a:latin typeface="Microsoft YaHei" panose="020B0503020204020204" pitchFamily="34" charset="-122"/>
                <a:ea typeface="Microsoft YaHei" panose="020B0503020204020204" pitchFamily="34" charset="-122"/>
              </a:rPr>
              <a:t>步：分层增加方法</a:t>
            </a:r>
          </a:p>
        </p:txBody>
      </p:sp>
      <p:sp>
        <p:nvSpPr>
          <p:cNvPr id="8" name="文本框 7">
            <a:extLst>
              <a:ext uri="{FF2B5EF4-FFF2-40B4-BE49-F238E27FC236}">
                <a16:creationId xmlns:a16="http://schemas.microsoft.com/office/drawing/2014/main" id="{BBAD506B-7E07-912A-94D7-96E340AC3A98}"/>
              </a:ext>
            </a:extLst>
          </p:cNvPr>
          <p:cNvSpPr txBox="1"/>
          <p:nvPr/>
        </p:nvSpPr>
        <p:spPr>
          <a:xfrm>
            <a:off x="711200" y="33274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在同一初始化上比较遮挡 </a:t>
            </a:r>
            <a:r>
              <a:rPr lang="en-US" altLang="zh-CN" sz="1650">
                <a:solidFill>
                  <a:srgbClr val="304553"/>
                </a:solidFill>
                <a:latin typeface="Microsoft YaHei" panose="020B0503020204020204" pitchFamily="34" charset="-122"/>
                <a:ea typeface="Microsoft YaHei" panose="020B0503020204020204" pitchFamily="34" charset="-122"/>
              </a:rPr>
              <a:t>CE</a:t>
            </a:r>
            <a:r>
              <a:rPr lang="zh-CN" altLang="en-US" sz="1650">
                <a:solidFill>
                  <a:srgbClr val="304553"/>
                </a:solidFill>
                <a:latin typeface="Microsoft YaHei" panose="020B0503020204020204" pitchFamily="34" charset="-122"/>
                <a:ea typeface="Microsoft YaHei" panose="020B0503020204020204" pitchFamily="34" charset="-122"/>
              </a:rPr>
              <a:t>、干净标签监督、两项教师 </a:t>
            </a:r>
            <a:r>
              <a:rPr lang="en-US" altLang="zh-CN" sz="1650">
                <a:solidFill>
                  <a:srgbClr val="304553"/>
                </a:solidFill>
                <a:latin typeface="Microsoft YaHei" panose="020B0503020204020204" pitchFamily="34" charset="-122"/>
                <a:ea typeface="Microsoft YaHei" panose="020B0503020204020204" pitchFamily="34" charset="-122"/>
              </a:rPr>
              <a:t>KL</a:t>
            </a:r>
            <a:r>
              <a:rPr lang="zh-CN" altLang="en-US" sz="1650">
                <a:solidFill>
                  <a:srgbClr val="304553"/>
                </a:solidFill>
                <a:latin typeface="Microsoft YaHei" panose="020B0503020204020204" pitchFamily="34" charset="-122"/>
                <a:ea typeface="Microsoft YaHei" panose="020B0503020204020204" pitchFamily="34" charset="-122"/>
              </a:rPr>
              <a:t>，再试六模式 </a:t>
            </a:r>
            <a:r>
              <a:rPr lang="en-US" altLang="zh-CN" sz="1650">
                <a:solidFill>
                  <a:srgbClr val="304553"/>
                </a:solidFill>
                <a:latin typeface="Microsoft YaHei" panose="020B0503020204020204" pitchFamily="34" charset="-122"/>
                <a:ea typeface="Microsoft YaHei" panose="020B0503020204020204" pitchFamily="34" charset="-122"/>
              </a:rPr>
              <a:t>HardMix</a:t>
            </a:r>
            <a:r>
              <a:rPr lang="zh-CN" altLang="en-US" sz="1650">
                <a:solidFill>
                  <a:srgbClr val="304553"/>
                </a:solidFill>
                <a:latin typeface="Microsoft YaHei" panose="020B0503020204020204" pitchFamily="34" charset="-122"/>
                <a:ea typeface="Microsoft YaHei" panose="020B0503020204020204" pitchFamily="34" charset="-122"/>
              </a:rPr>
              <a:t>。</a:t>
            </a:r>
          </a:p>
        </p:txBody>
      </p:sp>
      <p:sp>
        <p:nvSpPr>
          <p:cNvPr id="9" name="文本框 8">
            <a:extLst>
              <a:ext uri="{FF2B5EF4-FFF2-40B4-BE49-F238E27FC236}">
                <a16:creationId xmlns:a16="http://schemas.microsoft.com/office/drawing/2014/main" id="{3D487EFB-B252-10D1-3711-C9EC8D33ED98}"/>
              </a:ext>
            </a:extLst>
          </p:cNvPr>
          <p:cNvSpPr txBox="1"/>
          <p:nvPr/>
        </p:nvSpPr>
        <p:spPr>
          <a:xfrm>
            <a:off x="711200" y="42799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第 </a:t>
            </a:r>
            <a:r>
              <a:rPr lang="en-US" altLang="zh-CN" sz="1900" b="1">
                <a:solidFill>
                  <a:srgbClr val="007F83"/>
                </a:solidFill>
                <a:latin typeface="Microsoft YaHei" panose="020B0503020204020204" pitchFamily="34" charset="-122"/>
                <a:ea typeface="Microsoft YaHei" panose="020B0503020204020204" pitchFamily="34" charset="-122"/>
              </a:rPr>
              <a:t>3 </a:t>
            </a:r>
            <a:r>
              <a:rPr lang="zh-CN" altLang="en-US" sz="1900" b="1">
                <a:solidFill>
                  <a:srgbClr val="007F83"/>
                </a:solidFill>
                <a:latin typeface="Microsoft YaHei" panose="020B0503020204020204" pitchFamily="34" charset="-122"/>
                <a:ea typeface="Microsoft YaHei" panose="020B0503020204020204" pitchFamily="34" charset="-122"/>
              </a:rPr>
              <a:t>步：复核代价</a:t>
            </a:r>
          </a:p>
        </p:txBody>
      </p:sp>
      <p:sp>
        <p:nvSpPr>
          <p:cNvPr id="10" name="文本框 9">
            <a:extLst>
              <a:ext uri="{FF2B5EF4-FFF2-40B4-BE49-F238E27FC236}">
                <a16:creationId xmlns:a16="http://schemas.microsoft.com/office/drawing/2014/main" id="{E100D372-6192-6E84-3B5D-D31AC95C3D43}"/>
              </a:ext>
            </a:extLst>
          </p:cNvPr>
          <p:cNvSpPr txBox="1"/>
          <p:nvPr/>
        </p:nvSpPr>
        <p:spPr>
          <a:xfrm>
            <a:off x="711200" y="47244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记录干净</a:t>
            </a:r>
            <a:r>
              <a:rPr lang="en-US" altLang="zh-CN" sz="1650">
                <a:solidFill>
                  <a:srgbClr val="304553"/>
                </a:solidFill>
                <a:latin typeface="Microsoft YaHei" panose="020B0503020204020204" pitchFamily="34" charset="-122"/>
                <a:ea typeface="Microsoft YaHei" panose="020B0503020204020204" pitchFamily="34" charset="-122"/>
              </a:rPr>
              <a:t>/</a:t>
            </a:r>
            <a:r>
              <a:rPr lang="zh-CN" altLang="en-US" sz="1650">
                <a:solidFill>
                  <a:srgbClr val="304553"/>
                </a:solidFill>
                <a:latin typeface="Microsoft YaHei" panose="020B0503020204020204" pitchFamily="34" charset="-122"/>
                <a:ea typeface="Microsoft YaHei" panose="020B0503020204020204" pitchFamily="34" charset="-122"/>
              </a:rPr>
              <a:t>遮挡 </a:t>
            </a:r>
            <a:r>
              <a:rPr lang="en-US" altLang="zh-CN" sz="1650">
                <a:solidFill>
                  <a:srgbClr val="304553"/>
                </a:solidFill>
                <a:latin typeface="Microsoft YaHei" panose="020B0503020204020204" pitchFamily="34" charset="-122"/>
                <a:ea typeface="Microsoft YaHei" panose="020B0503020204020204" pitchFamily="34" charset="-122"/>
              </a:rPr>
              <a:t>Macro-F1</a:t>
            </a:r>
            <a:r>
              <a:rPr lang="zh-CN" altLang="en-US" sz="1650">
                <a:solidFill>
                  <a:srgbClr val="304553"/>
                </a:solidFill>
                <a:latin typeface="Microsoft YaHei" panose="020B0503020204020204" pitchFamily="34" charset="-122"/>
                <a:ea typeface="Microsoft YaHei" panose="020B0503020204020204" pitchFamily="34" charset="-122"/>
              </a:rPr>
              <a:t>、每类 </a:t>
            </a:r>
            <a:r>
              <a:rPr lang="en-US" altLang="zh-CN" sz="1650">
                <a:solidFill>
                  <a:srgbClr val="304553"/>
                </a:solidFill>
                <a:latin typeface="Microsoft YaHei" panose="020B0503020204020204" pitchFamily="34" charset="-122"/>
                <a:ea typeface="Microsoft YaHei" panose="020B0503020204020204" pitchFamily="34" charset="-122"/>
              </a:rPr>
              <a:t>F1</a:t>
            </a:r>
            <a:r>
              <a:rPr lang="zh-CN" altLang="en-US" sz="1650">
                <a:solidFill>
                  <a:srgbClr val="304553"/>
                </a:solidFill>
                <a:latin typeface="Microsoft YaHei" panose="020B0503020204020204" pitchFamily="34" charset="-122"/>
                <a:ea typeface="Microsoft YaHei" panose="020B0503020204020204" pitchFamily="34" charset="-122"/>
              </a:rPr>
              <a:t>、训练时长、显存；避免只看平均准确率。</a:t>
            </a:r>
          </a:p>
        </p:txBody>
      </p:sp>
    </p:spTree>
    <p:extLst>
      <p:ext uri="{BB962C8B-B14F-4D97-AF65-F5344CB8AC3E}">
        <p14:creationId xmlns:p14="http://schemas.microsoft.com/office/powerpoint/2010/main" val="427737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AF567B2-1C0B-A947-EC0A-44F168623787}"/>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评价设计：结果要能回答老师的问题</a:t>
            </a:r>
          </a:p>
        </p:txBody>
      </p:sp>
      <p:sp>
        <p:nvSpPr>
          <p:cNvPr id="3" name="文本框 2">
            <a:extLst>
              <a:ext uri="{FF2B5EF4-FFF2-40B4-BE49-F238E27FC236}">
                <a16:creationId xmlns:a16="http://schemas.microsoft.com/office/drawing/2014/main" id="{D6F034B2-C147-541D-4593-C68A834C42A3}"/>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a:t>
            </a:r>
            <a:r>
              <a:rPr lang="en-US" altLang="zh-CN" sz="950">
                <a:solidFill>
                  <a:srgbClr val="61737E"/>
                </a:solidFill>
                <a:latin typeface="Microsoft YaHei" panose="020B0503020204020204" pitchFamily="34" charset="-122"/>
                <a:ea typeface="Microsoft YaHei" panose="020B0503020204020204" pitchFamily="34" charset="-122"/>
              </a:rPr>
              <a:t>§4</a:t>
            </a:r>
            <a:r>
              <a:rPr lang="zh-CN" altLang="en-US" sz="950">
                <a:solidFill>
                  <a:srgbClr val="61737E"/>
                </a:solidFill>
                <a:latin typeface="Microsoft YaHei" panose="020B0503020204020204" pitchFamily="34" charset="-122"/>
                <a:ea typeface="Microsoft YaHei" panose="020B0503020204020204" pitchFamily="34" charset="-122"/>
              </a:rPr>
              <a:t>、项目 </a:t>
            </a:r>
            <a:r>
              <a:rPr lang="en-US" altLang="zh-CN" sz="950">
                <a:solidFill>
                  <a:srgbClr val="61737E"/>
                </a:solidFill>
                <a:latin typeface="Microsoft YaHei" panose="020B0503020204020204" pitchFamily="34" charset="-122"/>
                <a:ea typeface="Microsoft YaHei" panose="020B0503020204020204" pitchFamily="34" charset="-122"/>
              </a:rPr>
              <a:t>README</a:t>
            </a:r>
            <a:r>
              <a:rPr lang="zh-CN" altLang="en-US" sz="950">
                <a:solidFill>
                  <a:srgbClr val="61737E"/>
                </a:solidFill>
                <a:latin typeface="Microsoft YaHei" panose="020B0503020204020204" pitchFamily="34" charset="-122"/>
                <a:ea typeface="Microsoft YaHei" panose="020B0503020204020204" pitchFamily="34" charset="-122"/>
              </a:rPr>
              <a:t>；以下为建议验收设计。</a:t>
            </a:r>
          </a:p>
        </p:txBody>
      </p:sp>
      <p:sp>
        <p:nvSpPr>
          <p:cNvPr id="4" name="文本框 3">
            <a:extLst>
              <a:ext uri="{FF2B5EF4-FFF2-40B4-BE49-F238E27FC236}">
                <a16:creationId xmlns:a16="http://schemas.microsoft.com/office/drawing/2014/main" id="{D6A0F9AA-ADA9-78AA-69E7-F4572FDCB9A3}"/>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18</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15A93AF2-671A-11C8-5368-D9E3121DFC6D}"/>
              </a:ext>
            </a:extLst>
          </p:cNvPr>
          <p:cNvGraphicFramePr>
            <a:graphicFrameLocks noGrp="1"/>
          </p:cNvGraphicFramePr>
          <p:nvPr>
            <p:extLst>
              <p:ext uri="{D42A27DB-BD31-4B8C-83A1-F6EECF244321}">
                <p14:modId xmlns:p14="http://schemas.microsoft.com/office/powerpoint/2010/main" val="3317637702"/>
              </p:ext>
            </p:extLst>
          </p:nvPr>
        </p:nvGraphicFramePr>
        <p:xfrm>
          <a:off x="660400" y="1739900"/>
          <a:ext cx="10871200" cy="3657600"/>
        </p:xfrm>
        <a:graphic>
          <a:graphicData uri="http://schemas.openxmlformats.org/drawingml/2006/table">
            <a:tbl>
              <a:tblPr firstRow="1" bandRow="1">
                <a:tableStyleId>{5C22544A-7EE6-4342-B048-85BDC9FD1C3A}</a:tableStyleId>
              </a:tblPr>
              <a:tblGrid>
                <a:gridCol w="2391664">
                  <a:extLst>
                    <a:ext uri="{9D8B030D-6E8A-4147-A177-3AD203B41FA5}">
                      <a16:colId xmlns:a16="http://schemas.microsoft.com/office/drawing/2014/main" val="868434059"/>
                    </a:ext>
                  </a:extLst>
                </a:gridCol>
                <a:gridCol w="4674616">
                  <a:extLst>
                    <a:ext uri="{9D8B030D-6E8A-4147-A177-3AD203B41FA5}">
                      <a16:colId xmlns:a16="http://schemas.microsoft.com/office/drawing/2014/main" val="728799729"/>
                    </a:ext>
                  </a:extLst>
                </a:gridCol>
                <a:gridCol w="3804920">
                  <a:extLst>
                    <a:ext uri="{9D8B030D-6E8A-4147-A177-3AD203B41FA5}">
                      <a16:colId xmlns:a16="http://schemas.microsoft.com/office/drawing/2014/main" val="1663903278"/>
                    </a:ext>
                  </a:extLst>
                </a:gridCol>
              </a:tblGrid>
              <a:tr h="731520">
                <a:tc>
                  <a:txBody>
                    <a:bodyPr/>
                    <a:lstStyle/>
                    <a:p>
                      <a:r>
                        <a:rPr lang="zh-CN" altLang="en-US" sz="1450" b="1">
                          <a:solidFill>
                            <a:srgbClr val="FFFFFF"/>
                          </a:solidFill>
                          <a:latin typeface="Microsoft YaHei" panose="020B0503020204020204" pitchFamily="34" charset="-122"/>
                          <a:ea typeface="Microsoft YaHei" panose="020B0503020204020204" pitchFamily="34" charset="-122"/>
                        </a:rPr>
                        <a:t>问题</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50" b="1">
                          <a:solidFill>
                            <a:srgbClr val="FFFFFF"/>
                          </a:solidFill>
                          <a:latin typeface="Microsoft YaHei" panose="020B0503020204020204" pitchFamily="34" charset="-122"/>
                          <a:ea typeface="Microsoft YaHei" panose="020B0503020204020204" pitchFamily="34" charset="-122"/>
                        </a:rPr>
                        <a:t>应报告的证据</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50" b="1">
                          <a:solidFill>
                            <a:srgbClr val="FFFFFF"/>
                          </a:solidFill>
                          <a:latin typeface="Microsoft YaHei" panose="020B0503020204020204" pitchFamily="34" charset="-122"/>
                          <a:ea typeface="Microsoft YaHei" panose="020B0503020204020204" pitchFamily="34" charset="-122"/>
                        </a:rPr>
                        <a:t>最低比较对象</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3790992380"/>
                  </a:ext>
                </a:extLst>
              </a:tr>
              <a:tr h="731520">
                <a:tc>
                  <a:txBody>
                    <a:bodyPr/>
                    <a:lstStyle/>
                    <a:p>
                      <a:r>
                        <a:rPr lang="zh-CN" altLang="en-US" sz="1450" b="0">
                          <a:solidFill>
                            <a:srgbClr val="304553"/>
                          </a:solidFill>
                          <a:latin typeface="Microsoft YaHei" panose="020B0503020204020204" pitchFamily="34" charset="-122"/>
                          <a:ea typeface="Microsoft YaHei" panose="020B0503020204020204" pitchFamily="34" charset="-122"/>
                        </a:rPr>
                        <a:t>遮挡是否改善</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450" b="0">
                          <a:solidFill>
                            <a:srgbClr val="304553"/>
                          </a:solidFill>
                          <a:latin typeface="Microsoft YaHei" panose="020B0503020204020204" pitchFamily="34" charset="-122"/>
                          <a:ea typeface="Microsoft YaHei" panose="020B0503020204020204" pitchFamily="34" charset="-122"/>
                        </a:rPr>
                        <a:t>真实遮挡准确率、</a:t>
                      </a:r>
                      <a:r>
                        <a:rPr lang="en-US" altLang="zh-CN" sz="1450" b="0">
                          <a:solidFill>
                            <a:srgbClr val="304553"/>
                          </a:solidFill>
                          <a:latin typeface="Microsoft YaHei" panose="020B0503020204020204" pitchFamily="34" charset="-122"/>
                          <a:ea typeface="Microsoft YaHei" panose="020B0503020204020204" pitchFamily="34" charset="-122"/>
                        </a:rPr>
                        <a:t>Macro-F1</a:t>
                      </a:r>
                      <a:r>
                        <a:rPr lang="zh-CN" altLang="en-US" sz="1450" b="0">
                          <a:solidFill>
                            <a:srgbClr val="304553"/>
                          </a:solidFill>
                          <a:latin typeface="Microsoft YaHei" panose="020B0503020204020204" pitchFamily="34" charset="-122"/>
                          <a:ea typeface="Microsoft YaHei" panose="020B0503020204020204" pitchFamily="34" charset="-122"/>
                        </a:rPr>
                        <a:t>、每类 </a:t>
                      </a:r>
                      <a:r>
                        <a:rPr lang="en-US" altLang="zh-CN" sz="1450" b="0">
                          <a:solidFill>
                            <a:srgbClr val="304553"/>
                          </a:solidFill>
                          <a:latin typeface="Microsoft YaHei" panose="020B0503020204020204" pitchFamily="34" charset="-122"/>
                          <a:ea typeface="Microsoft YaHei" panose="020B0503020204020204" pitchFamily="34" charset="-122"/>
                        </a:rPr>
                        <a:t>F1</a:t>
                      </a:r>
                      <a:endParaRPr lang="zh-CN" altLang="en-US" sz="14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zh-CN" altLang="en-US" sz="1450" b="0">
                          <a:solidFill>
                            <a:srgbClr val="304553"/>
                          </a:solidFill>
                          <a:latin typeface="Microsoft YaHei" panose="020B0503020204020204" pitchFamily="34" charset="-122"/>
                          <a:ea typeface="Microsoft YaHei" panose="020B0503020204020204" pitchFamily="34" charset="-122"/>
                        </a:rPr>
                        <a:t>现有模型、仅遮挡微调</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2129038613"/>
                  </a:ext>
                </a:extLst>
              </a:tr>
              <a:tr h="731520">
                <a:tc>
                  <a:txBody>
                    <a:bodyPr/>
                    <a:lstStyle/>
                    <a:p>
                      <a:r>
                        <a:rPr lang="zh-CN" altLang="en-US" sz="1450" b="0">
                          <a:solidFill>
                            <a:srgbClr val="304553"/>
                          </a:solidFill>
                          <a:latin typeface="Microsoft YaHei" panose="020B0503020204020204" pitchFamily="34" charset="-122"/>
                          <a:ea typeface="Microsoft YaHei" panose="020B0503020204020204" pitchFamily="34" charset="-122"/>
                        </a:rPr>
                        <a:t>干净图是否退化</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50" b="0">
                          <a:solidFill>
                            <a:srgbClr val="304553"/>
                          </a:solidFill>
                          <a:latin typeface="Microsoft YaHei" panose="020B0503020204020204" pitchFamily="34" charset="-122"/>
                          <a:ea typeface="Microsoft YaHei" panose="020B0503020204020204" pitchFamily="34" charset="-122"/>
                        </a:rPr>
                        <a:t>干净准确率与 </a:t>
                      </a:r>
                      <a:r>
                        <a:rPr lang="en-US" altLang="zh-CN" sz="1450" b="0">
                          <a:solidFill>
                            <a:srgbClr val="304553"/>
                          </a:solidFill>
                          <a:latin typeface="Microsoft YaHei" panose="020B0503020204020204" pitchFamily="34" charset="-122"/>
                          <a:ea typeface="Microsoft YaHei" panose="020B0503020204020204" pitchFamily="34" charset="-122"/>
                        </a:rPr>
                        <a:t>Macro-F1</a:t>
                      </a:r>
                      <a:endParaRPr lang="zh-CN" altLang="en-US" sz="145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50" b="0">
                          <a:solidFill>
                            <a:srgbClr val="304553"/>
                          </a:solidFill>
                          <a:latin typeface="Microsoft YaHei" panose="020B0503020204020204" pitchFamily="34" charset="-122"/>
                          <a:ea typeface="Microsoft YaHei" panose="020B0503020204020204" pitchFamily="34" charset="-122"/>
                        </a:rPr>
                        <a:t>同一身份隔离测试集</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141230343"/>
                  </a:ext>
                </a:extLst>
              </a:tr>
              <a:tr h="731520">
                <a:tc>
                  <a:txBody>
                    <a:bodyPr/>
                    <a:lstStyle/>
                    <a:p>
                      <a:r>
                        <a:rPr lang="zh-CN" altLang="en-US" sz="1450" b="0">
                          <a:solidFill>
                            <a:srgbClr val="304553"/>
                          </a:solidFill>
                          <a:latin typeface="Microsoft YaHei" panose="020B0503020204020204" pitchFamily="34" charset="-122"/>
                          <a:ea typeface="Microsoft YaHei" panose="020B0503020204020204" pitchFamily="34" charset="-122"/>
                        </a:rPr>
                        <a:t>是否可部署</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50" b="0">
                          <a:solidFill>
                            <a:srgbClr val="304553"/>
                          </a:solidFill>
                          <a:latin typeface="Microsoft YaHei" panose="020B0503020204020204" pitchFamily="34" charset="-122"/>
                          <a:ea typeface="Microsoft YaHei" panose="020B0503020204020204" pitchFamily="34" charset="-122"/>
                        </a:rPr>
                        <a:t>端到端 </a:t>
                      </a:r>
                      <a:r>
                        <a:rPr lang="en-US" altLang="zh-CN" sz="1450" b="0">
                          <a:solidFill>
                            <a:srgbClr val="304553"/>
                          </a:solidFill>
                          <a:latin typeface="Microsoft YaHei" panose="020B0503020204020204" pitchFamily="34" charset="-122"/>
                          <a:ea typeface="Microsoft YaHei" panose="020B0503020204020204" pitchFamily="34" charset="-122"/>
                        </a:rPr>
                        <a:t>P50/P95</a:t>
                      </a:r>
                      <a:r>
                        <a:rPr lang="zh-CN" altLang="en-US" sz="1450" b="0">
                          <a:solidFill>
                            <a:srgbClr val="304553"/>
                          </a:solidFill>
                          <a:latin typeface="Microsoft YaHei" panose="020B0503020204020204" pitchFamily="34" charset="-122"/>
                          <a:ea typeface="Microsoft YaHei" panose="020B0503020204020204" pitchFamily="34" charset="-122"/>
                        </a:rPr>
                        <a:t>、内存、耗电</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en-US" altLang="zh-CN" sz="1450" b="0">
                          <a:solidFill>
                            <a:srgbClr val="304553"/>
                          </a:solidFill>
                          <a:latin typeface="Microsoft YaHei" panose="020B0503020204020204" pitchFamily="34" charset="-122"/>
                          <a:ea typeface="Microsoft YaHei" panose="020B0503020204020204" pitchFamily="34" charset="-122"/>
                        </a:rPr>
                        <a:t>Android / HarmonyOS </a:t>
                      </a:r>
                      <a:r>
                        <a:rPr lang="zh-CN" altLang="en-US" sz="1450" b="0">
                          <a:solidFill>
                            <a:srgbClr val="304553"/>
                          </a:solidFill>
                          <a:latin typeface="Microsoft YaHei" panose="020B0503020204020204" pitchFamily="34" charset="-122"/>
                          <a:ea typeface="Microsoft YaHei" panose="020B0503020204020204" pitchFamily="34" charset="-122"/>
                        </a:rPr>
                        <a:t>真机</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2070123639"/>
                  </a:ext>
                </a:extLst>
              </a:tr>
              <a:tr h="731520">
                <a:tc>
                  <a:txBody>
                    <a:bodyPr/>
                    <a:lstStyle/>
                    <a:p>
                      <a:r>
                        <a:rPr lang="zh-CN" altLang="en-US" sz="1450" b="0">
                          <a:solidFill>
                            <a:srgbClr val="304553"/>
                          </a:solidFill>
                          <a:latin typeface="Microsoft YaHei" panose="020B0503020204020204" pitchFamily="34" charset="-122"/>
                          <a:ea typeface="Microsoft YaHei" panose="020B0503020204020204" pitchFamily="34" charset="-122"/>
                        </a:rPr>
                        <a:t>是否误导用户</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50" b="0">
                          <a:solidFill>
                            <a:srgbClr val="304553"/>
                          </a:solidFill>
                          <a:latin typeface="Microsoft YaHei" panose="020B0503020204020204" pitchFamily="34" charset="-122"/>
                          <a:ea typeface="Microsoft YaHei" panose="020B0503020204020204" pitchFamily="34" charset="-122"/>
                        </a:rPr>
                        <a:t>UNKNOWN </a:t>
                      </a:r>
                      <a:r>
                        <a:rPr lang="zh-CN" altLang="en-US" sz="1450" b="0">
                          <a:solidFill>
                            <a:srgbClr val="304553"/>
                          </a:solidFill>
                          <a:latin typeface="Microsoft YaHei" panose="020B0503020204020204" pitchFamily="34" charset="-122"/>
                          <a:ea typeface="Microsoft YaHei" panose="020B0503020204020204" pitchFamily="34" charset="-122"/>
                        </a:rPr>
                        <a:t>覆盖率、误触发</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50" b="0">
                          <a:solidFill>
                            <a:srgbClr val="304553"/>
                          </a:solidFill>
                          <a:latin typeface="Microsoft YaHei" panose="020B0503020204020204" pitchFamily="34" charset="-122"/>
                          <a:ea typeface="Microsoft YaHei" panose="020B0503020204020204" pitchFamily="34" charset="-122"/>
                        </a:rPr>
                        <a:t>质量门槛与原模型</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3071252746"/>
                  </a:ext>
                </a:extLst>
              </a:tr>
            </a:tbl>
          </a:graphicData>
        </a:graphic>
      </p:graphicFrame>
      <p:sp>
        <p:nvSpPr>
          <p:cNvPr id="6" name="文本框 5">
            <a:extLst>
              <a:ext uri="{FF2B5EF4-FFF2-40B4-BE49-F238E27FC236}">
                <a16:creationId xmlns:a16="http://schemas.microsoft.com/office/drawing/2014/main" id="{8EF345C5-902E-2851-487B-2428B6B01741}"/>
              </a:ext>
            </a:extLst>
          </p:cNvPr>
          <p:cNvSpPr txBox="1"/>
          <p:nvPr/>
        </p:nvSpPr>
        <p:spPr>
          <a:xfrm>
            <a:off x="723900" y="5638800"/>
            <a:ext cx="10693400" cy="246221"/>
          </a:xfrm>
          <a:prstGeom prst="rect">
            <a:avLst/>
          </a:prstGeom>
          <a:noFill/>
        </p:spPr>
        <p:txBody>
          <a:bodyPr vert="horz" wrap="square" lIns="0" tIns="0" rIns="0" bIns="0" rtlCol="0">
            <a:spAutoFit/>
          </a:bodyPr>
          <a:lstStyle/>
          <a:p>
            <a:r>
              <a:rPr lang="zh-CN" altLang="en-US" sz="1600" b="1">
                <a:solidFill>
                  <a:srgbClr val="D25B41"/>
                </a:solidFill>
                <a:latin typeface="Microsoft YaHei" panose="020B0503020204020204" pitchFamily="34" charset="-122"/>
                <a:ea typeface="Microsoft YaHei" panose="020B0503020204020204" pitchFamily="34" charset="-122"/>
              </a:rPr>
              <a:t>通过门槛应由目标域验证结果设定；论文数值只作为研究参考。</a:t>
            </a:r>
          </a:p>
        </p:txBody>
      </p:sp>
    </p:spTree>
    <p:extLst>
      <p:ext uri="{BB962C8B-B14F-4D97-AF65-F5344CB8AC3E}">
        <p14:creationId xmlns:p14="http://schemas.microsoft.com/office/powerpoint/2010/main" val="3329557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7B4FA05-1098-89FD-F567-CFB5423DD2A3}"/>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端侧接入与上线边界</a:t>
            </a:r>
          </a:p>
        </p:txBody>
      </p:sp>
      <p:sp>
        <p:nvSpPr>
          <p:cNvPr id="3" name="文本框 2">
            <a:extLst>
              <a:ext uri="{FF2B5EF4-FFF2-40B4-BE49-F238E27FC236}">
                <a16:creationId xmlns:a16="http://schemas.microsoft.com/office/drawing/2014/main" id="{1DE5270F-2D31-610D-B190-F700602E634C}"/>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来源：项目 </a:t>
            </a:r>
            <a:r>
              <a:rPr lang="en-US" altLang="zh-CN" sz="950">
                <a:solidFill>
                  <a:srgbClr val="61737E"/>
                </a:solidFill>
                <a:latin typeface="Microsoft YaHei" panose="020B0503020204020204" pitchFamily="34" charset="-122"/>
                <a:ea typeface="Microsoft YaHei" panose="020B0503020204020204" pitchFamily="34" charset="-122"/>
              </a:rPr>
              <a:t>README</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Android/HarmonyOS </a:t>
            </a:r>
            <a:r>
              <a:rPr lang="zh-CN" altLang="en-US" sz="950">
                <a:solidFill>
                  <a:srgbClr val="61737E"/>
                </a:solidFill>
                <a:latin typeface="Microsoft YaHei" panose="020B0503020204020204" pitchFamily="34" charset="-122"/>
                <a:ea typeface="Microsoft YaHei" panose="020B0503020204020204" pitchFamily="34" charset="-122"/>
              </a:rPr>
              <a:t>表情链路与后端 </a:t>
            </a:r>
            <a:r>
              <a:rPr lang="en-US" altLang="zh-CN" sz="950">
                <a:solidFill>
                  <a:srgbClr val="61737E"/>
                </a:solidFill>
                <a:latin typeface="Microsoft YaHei" panose="020B0503020204020204" pitchFamily="34" charset="-122"/>
                <a:ea typeface="Microsoft YaHei" panose="020B0503020204020204" pitchFamily="34" charset="-122"/>
              </a:rPr>
              <a:t>emotion_context.py</a:t>
            </a:r>
            <a:r>
              <a:rPr lang="zh-CN" altLang="en-US" sz="950">
                <a:solidFill>
                  <a:srgbClr val="61737E"/>
                </a:solidFill>
                <a:latin typeface="Microsoft YaHei" panose="020B0503020204020204" pitchFamily="34" charset="-122"/>
                <a:ea typeface="Microsoft YaHei" panose="020B0503020204020204" pitchFamily="34" charset="-122"/>
              </a:rPr>
              <a:t>；以下为建议方案。</a:t>
            </a:r>
          </a:p>
        </p:txBody>
      </p:sp>
      <p:sp>
        <p:nvSpPr>
          <p:cNvPr id="4" name="文本框 3">
            <a:extLst>
              <a:ext uri="{FF2B5EF4-FFF2-40B4-BE49-F238E27FC236}">
                <a16:creationId xmlns:a16="http://schemas.microsoft.com/office/drawing/2014/main" id="{5150ABDD-B99E-7DDF-F8C3-7D9FE6F157BB}"/>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19</a:t>
            </a:r>
            <a:endParaRPr lang="zh-CN" altLang="en-US" sz="1000">
              <a:solidFill>
                <a:srgbClr val="61737E"/>
              </a:solidFill>
              <a:latin typeface="Microsoft YaHei" panose="020B0503020204020204" pitchFamily="34" charset="-122"/>
              <a:ea typeface="Microsoft YaHei" panose="020B0503020204020204" pitchFamily="34" charset="-122"/>
            </a:endParaRPr>
          </a:p>
        </p:txBody>
      </p:sp>
      <p:graphicFrame>
        <p:nvGraphicFramePr>
          <p:cNvPr id="5" name="表格 4">
            <a:extLst>
              <a:ext uri="{FF2B5EF4-FFF2-40B4-BE49-F238E27FC236}">
                <a16:creationId xmlns:a16="http://schemas.microsoft.com/office/drawing/2014/main" id="{5BCFFCE3-72EE-C97B-D402-64EA7A584A07}"/>
              </a:ext>
            </a:extLst>
          </p:cNvPr>
          <p:cNvGraphicFramePr>
            <a:graphicFrameLocks noGrp="1"/>
          </p:cNvGraphicFramePr>
          <p:nvPr>
            <p:extLst>
              <p:ext uri="{D42A27DB-BD31-4B8C-83A1-F6EECF244321}">
                <p14:modId xmlns:p14="http://schemas.microsoft.com/office/powerpoint/2010/main" val="3950471949"/>
              </p:ext>
            </p:extLst>
          </p:nvPr>
        </p:nvGraphicFramePr>
        <p:xfrm>
          <a:off x="660400" y="1739900"/>
          <a:ext cx="10871200" cy="3721100"/>
        </p:xfrm>
        <a:graphic>
          <a:graphicData uri="http://schemas.openxmlformats.org/drawingml/2006/table">
            <a:tbl>
              <a:tblPr firstRow="1" bandRow="1">
                <a:tableStyleId>{5C22544A-7EE6-4342-B048-85BDC9FD1C3A}</a:tableStyleId>
              </a:tblPr>
              <a:tblGrid>
                <a:gridCol w="2174240">
                  <a:extLst>
                    <a:ext uri="{9D8B030D-6E8A-4147-A177-3AD203B41FA5}">
                      <a16:colId xmlns:a16="http://schemas.microsoft.com/office/drawing/2014/main" val="622823364"/>
                    </a:ext>
                  </a:extLst>
                </a:gridCol>
                <a:gridCol w="3804920">
                  <a:extLst>
                    <a:ext uri="{9D8B030D-6E8A-4147-A177-3AD203B41FA5}">
                      <a16:colId xmlns:a16="http://schemas.microsoft.com/office/drawing/2014/main" val="937126758"/>
                    </a:ext>
                  </a:extLst>
                </a:gridCol>
                <a:gridCol w="4892040">
                  <a:extLst>
                    <a:ext uri="{9D8B030D-6E8A-4147-A177-3AD203B41FA5}">
                      <a16:colId xmlns:a16="http://schemas.microsoft.com/office/drawing/2014/main" val="2666049504"/>
                    </a:ext>
                  </a:extLst>
                </a:gridCol>
              </a:tblGrid>
              <a:tr h="744220">
                <a:tc>
                  <a:txBody>
                    <a:bodyPr/>
                    <a:lstStyle/>
                    <a:p>
                      <a:r>
                        <a:rPr lang="zh-CN" altLang="en-US" sz="1470" b="1">
                          <a:solidFill>
                            <a:srgbClr val="FFFFFF"/>
                          </a:solidFill>
                          <a:latin typeface="Microsoft YaHei" panose="020B0503020204020204" pitchFamily="34" charset="-122"/>
                          <a:ea typeface="Microsoft YaHei" panose="020B0503020204020204" pitchFamily="34" charset="-122"/>
                        </a:rPr>
                        <a:t>端</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70" b="1">
                          <a:solidFill>
                            <a:srgbClr val="FFFFFF"/>
                          </a:solidFill>
                          <a:latin typeface="Microsoft YaHei" panose="020B0503020204020204" pitchFamily="34" charset="-122"/>
                          <a:ea typeface="Microsoft YaHei" panose="020B0503020204020204" pitchFamily="34" charset="-122"/>
                        </a:rPr>
                        <a:t>接入点</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tc>
                  <a:txBody>
                    <a:bodyPr/>
                    <a:lstStyle/>
                    <a:p>
                      <a:r>
                        <a:rPr lang="zh-CN" altLang="en-US" sz="1470" b="1">
                          <a:solidFill>
                            <a:srgbClr val="FFFFFF"/>
                          </a:solidFill>
                          <a:latin typeface="Microsoft YaHei" panose="020B0503020204020204" pitchFamily="34" charset="-122"/>
                          <a:ea typeface="Microsoft YaHei" panose="020B0503020204020204" pitchFamily="34" charset="-122"/>
                        </a:rPr>
                        <a:t>发布前必须验证</a:t>
                      </a:r>
                    </a:p>
                  </a:txBody>
                  <a:tcPr marL="88900" marR="76200" marT="38100" marB="25400">
                    <a:lnL w="12700" cmpd="sng">
                      <a:solidFill>
                        <a:srgbClr val="D8E4E8"/>
                      </a:solidFill>
                    </a:lnL>
                    <a:lnR w="12700" cmpd="sng">
                      <a:solidFill>
                        <a:srgbClr val="D8E4E8"/>
                      </a:solidFill>
                    </a:lnR>
                    <a:lnT w="12700" cmpd="sng">
                      <a:solidFill>
                        <a:srgbClr val="D8E4E8"/>
                      </a:solidFill>
                    </a:lnT>
                    <a:lnB w="38100" cmpd="sng">
                      <a:solidFill>
                        <a:srgbClr val="D8E4E8"/>
                      </a:solidFill>
                    </a:lnB>
                    <a:solidFill>
                      <a:srgbClr val="142D42"/>
                    </a:solidFill>
                  </a:tcPr>
                </a:tc>
                <a:extLst>
                  <a:ext uri="{0D108BD9-81ED-4DB2-BD59-A6C34878D82A}">
                    <a16:rowId xmlns:a16="http://schemas.microsoft.com/office/drawing/2014/main" val="1065761717"/>
                  </a:ext>
                </a:extLst>
              </a:tr>
              <a:tr h="744220">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Android</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LiteRT </a:t>
                      </a:r>
                      <a:r>
                        <a:rPr lang="zh-CN" altLang="en-US" sz="1470" b="0">
                          <a:solidFill>
                            <a:srgbClr val="304553"/>
                          </a:solidFill>
                          <a:latin typeface="Microsoft YaHei" panose="020B0503020204020204" pitchFamily="34" charset="-122"/>
                          <a:ea typeface="Microsoft YaHei" panose="020B0503020204020204" pitchFamily="34" charset="-122"/>
                        </a:rPr>
                        <a:t>模型与预处理元数据</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logits </a:t>
                      </a:r>
                      <a:r>
                        <a:rPr lang="zh-CN" altLang="en-US" sz="1470" b="0">
                          <a:solidFill>
                            <a:srgbClr val="304553"/>
                          </a:solidFill>
                          <a:latin typeface="Microsoft YaHei" panose="020B0503020204020204" pitchFamily="34" charset="-122"/>
                          <a:ea typeface="Microsoft YaHei" panose="020B0503020204020204" pitchFamily="34" charset="-122"/>
                        </a:rPr>
                        <a:t>对齐、真机延迟、质量门槛</a:t>
                      </a:r>
                    </a:p>
                  </a:txBody>
                  <a:tcPr marL="88900" marR="76200" marT="38100" marB="25400">
                    <a:lnL w="12700" cmpd="sng">
                      <a:solidFill>
                        <a:srgbClr val="D8E4E8"/>
                      </a:solidFill>
                    </a:lnL>
                    <a:lnR w="12700" cmpd="sng">
                      <a:solidFill>
                        <a:srgbClr val="D8E4E8"/>
                      </a:solidFill>
                    </a:lnR>
                    <a:lnT w="381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2282413291"/>
                  </a:ext>
                </a:extLst>
              </a:tr>
              <a:tr h="744220">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HarmonyOS</a:t>
                      </a:r>
                      <a:endParaRPr lang="zh-CN" altLang="en-US" sz="1470" b="0">
                        <a:solidFill>
                          <a:srgbClr val="304553"/>
                        </a:solidFill>
                        <a:latin typeface="Microsoft YaHei" panose="020B0503020204020204" pitchFamily="34" charset="-122"/>
                        <a:ea typeface="Microsoft YaHei" panose="020B0503020204020204" pitchFamily="34" charset="-122"/>
                      </a:endParaRP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en-US" altLang="zh-CN" sz="1470" b="0">
                          <a:solidFill>
                            <a:srgbClr val="304553"/>
                          </a:solidFill>
                          <a:latin typeface="Microsoft YaHei" panose="020B0503020204020204" pitchFamily="34" charset="-122"/>
                          <a:ea typeface="Microsoft YaHei" panose="020B0503020204020204" pitchFamily="34" charset="-122"/>
                        </a:rPr>
                        <a:t>MindSpore </a:t>
                      </a:r>
                      <a:r>
                        <a:rPr lang="zh-CN" altLang="en-US" sz="1470" b="0">
                          <a:solidFill>
                            <a:srgbClr val="304553"/>
                          </a:solidFill>
                          <a:latin typeface="Microsoft YaHei" panose="020B0503020204020204" pitchFamily="34" charset="-122"/>
                          <a:ea typeface="Microsoft YaHei" panose="020B0503020204020204" pitchFamily="34" charset="-122"/>
                        </a:rPr>
                        <a:t>模型资产</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转换一致性、真机相机与时序稳定性</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4157221836"/>
                  </a:ext>
                </a:extLst>
              </a:tr>
              <a:tr h="744220">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后端对话</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现有 </a:t>
                      </a:r>
                      <a:r>
                        <a:rPr lang="en-US" altLang="zh-CN" sz="1470" b="0">
                          <a:solidFill>
                            <a:srgbClr val="304553"/>
                          </a:solidFill>
                          <a:latin typeface="Microsoft YaHei" panose="020B0503020204020204" pitchFamily="34" charset="-122"/>
                          <a:ea typeface="Microsoft YaHei" panose="020B0503020204020204" pitchFamily="34" charset="-122"/>
                        </a:rPr>
                        <a:t>expression_signal </a:t>
                      </a:r>
                      <a:r>
                        <a:rPr lang="zh-CN" altLang="en-US" sz="1470" b="0">
                          <a:solidFill>
                            <a:srgbClr val="304553"/>
                          </a:solidFill>
                          <a:latin typeface="Microsoft YaHei" panose="020B0503020204020204" pitchFamily="34" charset="-122"/>
                          <a:ea typeface="Microsoft YaHei" panose="020B0503020204020204" pitchFamily="34" charset="-122"/>
                        </a:rPr>
                        <a:t>契约</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保持七类白名单和安全措辞</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FFFFFF"/>
                    </a:solidFill>
                  </a:tcPr>
                </a:tc>
                <a:extLst>
                  <a:ext uri="{0D108BD9-81ED-4DB2-BD59-A6C34878D82A}">
                    <a16:rowId xmlns:a16="http://schemas.microsoft.com/office/drawing/2014/main" val="208966049"/>
                  </a:ext>
                </a:extLst>
              </a:tr>
              <a:tr h="744220">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用户体验</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现有授权与停用流程</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tc>
                  <a:txBody>
                    <a:bodyPr/>
                    <a:lstStyle/>
                    <a:p>
                      <a:r>
                        <a:rPr lang="zh-CN" altLang="en-US" sz="1470" b="0">
                          <a:solidFill>
                            <a:srgbClr val="304553"/>
                          </a:solidFill>
                          <a:latin typeface="Microsoft YaHei" panose="020B0503020204020204" pitchFamily="34" charset="-122"/>
                          <a:ea typeface="Microsoft YaHei" panose="020B0503020204020204" pitchFamily="34" charset="-122"/>
                        </a:rPr>
                        <a:t>退出页面停机、无脸</a:t>
                      </a:r>
                      <a:r>
                        <a:rPr lang="en-US" altLang="zh-CN" sz="1470" b="0">
                          <a:solidFill>
                            <a:srgbClr val="304553"/>
                          </a:solidFill>
                          <a:latin typeface="Microsoft YaHei" panose="020B0503020204020204" pitchFamily="34" charset="-122"/>
                          <a:ea typeface="Microsoft YaHei" panose="020B0503020204020204" pitchFamily="34" charset="-122"/>
                        </a:rPr>
                        <a:t>/</a:t>
                      </a:r>
                      <a:r>
                        <a:rPr lang="zh-CN" altLang="en-US" sz="1470" b="0">
                          <a:solidFill>
                            <a:srgbClr val="304553"/>
                          </a:solidFill>
                          <a:latin typeface="Microsoft YaHei" panose="020B0503020204020204" pitchFamily="34" charset="-122"/>
                          <a:ea typeface="Microsoft YaHei" panose="020B0503020204020204" pitchFamily="34" charset="-122"/>
                        </a:rPr>
                        <a:t>不确定降级</a:t>
                      </a:r>
                    </a:p>
                  </a:txBody>
                  <a:tcPr marL="88900" marR="76200" marT="38100" marB="25400">
                    <a:lnL w="12700" cmpd="sng">
                      <a:solidFill>
                        <a:srgbClr val="D8E4E8"/>
                      </a:solidFill>
                    </a:lnL>
                    <a:lnR w="12700" cmpd="sng">
                      <a:solidFill>
                        <a:srgbClr val="D8E4E8"/>
                      </a:solidFill>
                    </a:lnR>
                    <a:lnT w="12700" cmpd="sng">
                      <a:solidFill>
                        <a:srgbClr val="D8E4E8"/>
                      </a:solidFill>
                    </a:lnT>
                    <a:lnB w="12700" cmpd="sng">
                      <a:solidFill>
                        <a:srgbClr val="D8E4E8"/>
                      </a:solidFill>
                    </a:lnB>
                    <a:solidFill>
                      <a:srgbClr val="EDF5F6"/>
                    </a:solidFill>
                  </a:tcPr>
                </a:tc>
                <a:extLst>
                  <a:ext uri="{0D108BD9-81ED-4DB2-BD59-A6C34878D82A}">
                    <a16:rowId xmlns:a16="http://schemas.microsoft.com/office/drawing/2014/main" val="718405399"/>
                  </a:ext>
                </a:extLst>
              </a:tr>
            </a:tbl>
          </a:graphicData>
        </a:graphic>
      </p:graphicFrame>
    </p:spTree>
    <p:extLst>
      <p:ext uri="{BB962C8B-B14F-4D97-AF65-F5344CB8AC3E}">
        <p14:creationId xmlns:p14="http://schemas.microsoft.com/office/powerpoint/2010/main" val="1971943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60A32BC-C7BC-4069-C8B2-369E7E2FEBB2}"/>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建议的研究贡献与实施顺序</a:t>
            </a:r>
          </a:p>
        </p:txBody>
      </p:sp>
      <p:sp>
        <p:nvSpPr>
          <p:cNvPr id="3" name="文本框 2">
            <a:extLst>
              <a:ext uri="{FF2B5EF4-FFF2-40B4-BE49-F238E27FC236}">
                <a16:creationId xmlns:a16="http://schemas.microsoft.com/office/drawing/2014/main" id="{9F1820CF-19B0-49A1-543B-E11190C62CFD}"/>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来源：论文局限</a:t>
            </a:r>
            <a:r>
              <a:rPr lang="en-US" altLang="zh-CN" sz="950">
                <a:solidFill>
                  <a:srgbClr val="61737E"/>
                </a:solidFill>
                <a:latin typeface="Microsoft YaHei" panose="020B0503020204020204" pitchFamily="34" charset="-122"/>
                <a:ea typeface="Microsoft YaHei" panose="020B0503020204020204" pitchFamily="34" charset="-122"/>
              </a:rPr>
              <a:t>§5</a:t>
            </a:r>
            <a:r>
              <a:rPr lang="zh-CN" altLang="en-US" sz="950">
                <a:solidFill>
                  <a:srgbClr val="61737E"/>
                </a:solidFill>
                <a:latin typeface="Microsoft YaHei" panose="020B0503020204020204" pitchFamily="34" charset="-122"/>
                <a:ea typeface="Microsoft YaHei" panose="020B0503020204020204" pitchFamily="34" charset="-122"/>
              </a:rPr>
              <a:t>；项目现状；以下为研究建议。</a:t>
            </a:r>
          </a:p>
        </p:txBody>
      </p:sp>
      <p:sp>
        <p:nvSpPr>
          <p:cNvPr id="4" name="文本框 3">
            <a:extLst>
              <a:ext uri="{FF2B5EF4-FFF2-40B4-BE49-F238E27FC236}">
                <a16:creationId xmlns:a16="http://schemas.microsoft.com/office/drawing/2014/main" id="{E717110A-BFA9-012E-2662-28814958BBDD}"/>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20</a:t>
            </a:r>
            <a:endParaRPr lang="zh-CN" altLang="en-US" sz="1000">
              <a:solidFill>
                <a:srgbClr val="61737E"/>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A7C13D1C-AE64-FCC9-A8F8-983D98353B05}"/>
              </a:ext>
            </a:extLst>
          </p:cNvPr>
          <p:cNvSpPr txBox="1"/>
          <p:nvPr/>
        </p:nvSpPr>
        <p:spPr>
          <a:xfrm>
            <a:off x="711200" y="14605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研究问题</a:t>
            </a:r>
          </a:p>
        </p:txBody>
      </p:sp>
      <p:sp>
        <p:nvSpPr>
          <p:cNvPr id="6" name="文本框 5">
            <a:extLst>
              <a:ext uri="{FF2B5EF4-FFF2-40B4-BE49-F238E27FC236}">
                <a16:creationId xmlns:a16="http://schemas.microsoft.com/office/drawing/2014/main" id="{15B661D2-F939-EEC5-3851-7B437FE974B6}"/>
              </a:ext>
            </a:extLst>
          </p:cNvPr>
          <p:cNvSpPr txBox="1"/>
          <p:nvPr/>
        </p:nvSpPr>
        <p:spPr>
          <a:xfrm>
            <a:off x="711200" y="1905000"/>
            <a:ext cx="10795000" cy="253916"/>
          </a:xfrm>
          <a:prstGeom prst="rect">
            <a:avLst/>
          </a:prstGeom>
          <a:noFill/>
        </p:spPr>
        <p:txBody>
          <a:bodyPr vert="horz" wrap="square" lIns="0" tIns="0" rIns="0" bIns="0" rtlCol="0">
            <a:spAutoFit/>
          </a:bodyPr>
          <a:lstStyle/>
          <a:p>
            <a:r>
              <a:rPr lang="en-US" altLang="zh-CN" sz="1650">
                <a:solidFill>
                  <a:srgbClr val="304553"/>
                </a:solidFill>
                <a:latin typeface="Microsoft YaHei" panose="020B0503020204020204" pitchFamily="34" charset="-122"/>
                <a:ea typeface="Microsoft YaHei" panose="020B0503020204020204" pitchFamily="34" charset="-122"/>
              </a:rPr>
              <a:t>96×96</a:t>
            </a:r>
            <a:r>
              <a:rPr lang="zh-CN" altLang="en-US" sz="1650">
                <a:solidFill>
                  <a:srgbClr val="304553"/>
                </a:solidFill>
                <a:latin typeface="Microsoft YaHei" panose="020B0503020204020204" pitchFamily="34" charset="-122"/>
                <a:ea typeface="Microsoft YaHei" panose="020B0503020204020204" pitchFamily="34" charset="-122"/>
              </a:rPr>
              <a:t>、七类、端侧部署约束下，干净锚定能否提高真实遮挡识别，且不损害干净图性能？</a:t>
            </a:r>
          </a:p>
        </p:txBody>
      </p:sp>
      <p:sp>
        <p:nvSpPr>
          <p:cNvPr id="7" name="文本框 6">
            <a:extLst>
              <a:ext uri="{FF2B5EF4-FFF2-40B4-BE49-F238E27FC236}">
                <a16:creationId xmlns:a16="http://schemas.microsoft.com/office/drawing/2014/main" id="{7B2D2EF4-5409-4CE1-2D76-E3035C5C308F}"/>
              </a:ext>
            </a:extLst>
          </p:cNvPr>
          <p:cNvSpPr txBox="1"/>
          <p:nvPr/>
        </p:nvSpPr>
        <p:spPr>
          <a:xfrm>
            <a:off x="711200" y="28575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预期产出</a:t>
            </a:r>
          </a:p>
        </p:txBody>
      </p:sp>
      <p:sp>
        <p:nvSpPr>
          <p:cNvPr id="8" name="文本框 7">
            <a:extLst>
              <a:ext uri="{FF2B5EF4-FFF2-40B4-BE49-F238E27FC236}">
                <a16:creationId xmlns:a16="http://schemas.microsoft.com/office/drawing/2014/main" id="{C9B7F728-B25B-8BA4-EBA5-01D451771998}"/>
              </a:ext>
            </a:extLst>
          </p:cNvPr>
          <p:cNvSpPr txBox="1"/>
          <p:nvPr/>
        </p:nvSpPr>
        <p:spPr>
          <a:xfrm>
            <a:off x="711200" y="33020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可复现的对照结果、身份隔离目标域测试、端到端手机测量与错误案例分析。</a:t>
            </a:r>
          </a:p>
        </p:txBody>
      </p:sp>
      <p:sp>
        <p:nvSpPr>
          <p:cNvPr id="9" name="文本框 8">
            <a:extLst>
              <a:ext uri="{FF2B5EF4-FFF2-40B4-BE49-F238E27FC236}">
                <a16:creationId xmlns:a16="http://schemas.microsoft.com/office/drawing/2014/main" id="{3B117E2B-BCB2-B547-E7A7-B5C89977020C}"/>
              </a:ext>
            </a:extLst>
          </p:cNvPr>
          <p:cNvSpPr txBox="1"/>
          <p:nvPr/>
        </p:nvSpPr>
        <p:spPr>
          <a:xfrm>
            <a:off x="711200" y="42545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实施顺序</a:t>
            </a:r>
          </a:p>
        </p:txBody>
      </p:sp>
      <p:sp>
        <p:nvSpPr>
          <p:cNvPr id="10" name="文本框 9">
            <a:extLst>
              <a:ext uri="{FF2B5EF4-FFF2-40B4-BE49-F238E27FC236}">
                <a16:creationId xmlns:a16="http://schemas.microsoft.com/office/drawing/2014/main" id="{1C5A8C19-4C34-5EEB-52A4-C0F4C25E0143}"/>
              </a:ext>
            </a:extLst>
          </p:cNvPr>
          <p:cNvSpPr txBox="1"/>
          <p:nvPr/>
        </p:nvSpPr>
        <p:spPr>
          <a:xfrm>
            <a:off x="711200" y="46990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先完成离线基线与消融，随后评估目标域真实遮挡，最后开展端侧导出与逐端验收。</a:t>
            </a:r>
          </a:p>
        </p:txBody>
      </p:sp>
    </p:spTree>
    <p:extLst>
      <p:ext uri="{BB962C8B-B14F-4D97-AF65-F5344CB8AC3E}">
        <p14:creationId xmlns:p14="http://schemas.microsoft.com/office/powerpoint/2010/main" val="1925899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1273E41-C6AD-56E5-513A-0EFD53554BFD}"/>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汇报时需要主动回答的三个问题</a:t>
            </a:r>
          </a:p>
        </p:txBody>
      </p:sp>
      <p:sp>
        <p:nvSpPr>
          <p:cNvPr id="3" name="文本框 2">
            <a:extLst>
              <a:ext uri="{FF2B5EF4-FFF2-40B4-BE49-F238E27FC236}">
                <a16:creationId xmlns:a16="http://schemas.microsoft.com/office/drawing/2014/main" id="{9BB28E22-644A-658A-D8DE-042E25D55AA2}"/>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来源：论文</a:t>
            </a:r>
            <a:r>
              <a:rPr lang="en-US" altLang="zh-CN" sz="950">
                <a:solidFill>
                  <a:srgbClr val="61737E"/>
                </a:solidFill>
                <a:latin typeface="Microsoft YaHei" panose="020B0503020204020204" pitchFamily="34" charset="-122"/>
                <a:ea typeface="Microsoft YaHei" panose="020B0503020204020204" pitchFamily="34" charset="-122"/>
              </a:rPr>
              <a:t>§4–5</a:t>
            </a:r>
            <a:r>
              <a:rPr lang="zh-CN" altLang="en-US" sz="950">
                <a:solidFill>
                  <a:srgbClr val="61737E"/>
                </a:solidFill>
                <a:latin typeface="Microsoft YaHei" panose="020B0503020204020204" pitchFamily="34" charset="-122"/>
                <a:ea typeface="Microsoft YaHei" panose="020B0503020204020204" pitchFamily="34" charset="-122"/>
              </a:rPr>
              <a:t>；项目现状。</a:t>
            </a:r>
          </a:p>
        </p:txBody>
      </p:sp>
      <p:sp>
        <p:nvSpPr>
          <p:cNvPr id="4" name="文本框 3">
            <a:extLst>
              <a:ext uri="{FF2B5EF4-FFF2-40B4-BE49-F238E27FC236}">
                <a16:creationId xmlns:a16="http://schemas.microsoft.com/office/drawing/2014/main" id="{6D8A7710-118B-F4CC-4CFA-4CA8D05293B2}"/>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21</a:t>
            </a:r>
            <a:endParaRPr lang="zh-CN" altLang="en-US" sz="1000">
              <a:solidFill>
                <a:srgbClr val="61737E"/>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E9AF6F70-73C7-0C09-2086-9D071B1C3B38}"/>
              </a:ext>
            </a:extLst>
          </p:cNvPr>
          <p:cNvSpPr txBox="1"/>
          <p:nvPr/>
        </p:nvSpPr>
        <p:spPr>
          <a:xfrm>
            <a:off x="711200" y="14986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是否已经复现 </a:t>
            </a:r>
            <a:r>
              <a:rPr lang="en-US" altLang="zh-CN" sz="1900" b="1">
                <a:solidFill>
                  <a:srgbClr val="007F83"/>
                </a:solidFill>
                <a:latin typeface="Microsoft YaHei" panose="020B0503020204020204" pitchFamily="34" charset="-122"/>
                <a:ea typeface="Microsoft YaHei" panose="020B0503020204020204" pitchFamily="34" charset="-122"/>
              </a:rPr>
              <a:t>CA-HOFT</a:t>
            </a:r>
            <a:r>
              <a:rPr lang="zh-CN" altLang="en-US" sz="1900" b="1">
                <a:solidFill>
                  <a:srgbClr val="007F83"/>
                </a:solidFill>
                <a:latin typeface="Microsoft YaHei" panose="020B0503020204020204" pitchFamily="34" charset="-122"/>
                <a:ea typeface="Microsoft YaHei" panose="020B0503020204020204" pitchFamily="34" charset="-122"/>
              </a:rPr>
              <a:t>？</a:t>
            </a:r>
          </a:p>
        </p:txBody>
      </p:sp>
      <p:sp>
        <p:nvSpPr>
          <p:cNvPr id="6" name="文本框 5">
            <a:extLst>
              <a:ext uri="{FF2B5EF4-FFF2-40B4-BE49-F238E27FC236}">
                <a16:creationId xmlns:a16="http://schemas.microsoft.com/office/drawing/2014/main" id="{F7ADC4F0-8BD9-13D7-C812-A4BCC06B8E7D}"/>
              </a:ext>
            </a:extLst>
          </p:cNvPr>
          <p:cNvSpPr txBox="1"/>
          <p:nvPr/>
        </p:nvSpPr>
        <p:spPr>
          <a:xfrm>
            <a:off x="711200" y="19431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当前是论文思想的离线对照；完整 </a:t>
            </a:r>
            <a:r>
              <a:rPr lang="en-US" altLang="zh-CN" sz="1650">
                <a:solidFill>
                  <a:srgbClr val="304553"/>
                </a:solidFill>
                <a:latin typeface="Microsoft YaHei" panose="020B0503020204020204" pitchFamily="34" charset="-122"/>
                <a:ea typeface="Microsoft YaHei" panose="020B0503020204020204" pitchFamily="34" charset="-122"/>
              </a:rPr>
              <a:t>HardMix</a:t>
            </a:r>
            <a:r>
              <a:rPr lang="zh-CN" altLang="en-US" sz="1650">
                <a:solidFill>
                  <a:srgbClr val="304553"/>
                </a:solidFill>
                <a:latin typeface="Microsoft YaHei" panose="020B0503020204020204" pitchFamily="34" charset="-122"/>
                <a:ea typeface="Microsoft YaHei" panose="020B0503020204020204" pitchFamily="34" charset="-122"/>
              </a:rPr>
              <a:t>、独立教师权重和多次训练仍属下一步。</a:t>
            </a:r>
          </a:p>
        </p:txBody>
      </p:sp>
      <p:sp>
        <p:nvSpPr>
          <p:cNvPr id="7" name="文本框 6">
            <a:extLst>
              <a:ext uri="{FF2B5EF4-FFF2-40B4-BE49-F238E27FC236}">
                <a16:creationId xmlns:a16="http://schemas.microsoft.com/office/drawing/2014/main" id="{B4C7C93C-A29D-184B-AEB0-FA2A10DB57B9}"/>
              </a:ext>
            </a:extLst>
          </p:cNvPr>
          <p:cNvSpPr txBox="1"/>
          <p:nvPr/>
        </p:nvSpPr>
        <p:spPr>
          <a:xfrm>
            <a:off x="711200" y="28956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论文结果能否直接转成产品指标？</a:t>
            </a:r>
          </a:p>
        </p:txBody>
      </p:sp>
      <p:sp>
        <p:nvSpPr>
          <p:cNvPr id="8" name="文本框 7">
            <a:extLst>
              <a:ext uri="{FF2B5EF4-FFF2-40B4-BE49-F238E27FC236}">
                <a16:creationId xmlns:a16="http://schemas.microsoft.com/office/drawing/2014/main" id="{3FA49075-5BAA-53A5-9834-A624D198F500}"/>
              </a:ext>
            </a:extLst>
          </p:cNvPr>
          <p:cNvSpPr txBox="1"/>
          <p:nvPr/>
        </p:nvSpPr>
        <p:spPr>
          <a:xfrm>
            <a:off x="711200" y="33401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不能；论文采用 </a:t>
            </a:r>
            <a:r>
              <a:rPr lang="en-US" altLang="zh-CN" sz="1650">
                <a:solidFill>
                  <a:srgbClr val="304553"/>
                </a:solidFill>
                <a:latin typeface="Microsoft YaHei" panose="020B0503020204020204" pitchFamily="34" charset="-122"/>
                <a:ea typeface="Microsoft YaHei" panose="020B0503020204020204" pitchFamily="34" charset="-122"/>
              </a:rPr>
              <a:t>224×224 </a:t>
            </a:r>
            <a:r>
              <a:rPr lang="zh-CN" altLang="en-US" sz="1650">
                <a:solidFill>
                  <a:srgbClr val="304553"/>
                </a:solidFill>
                <a:latin typeface="Microsoft YaHei" panose="020B0503020204020204" pitchFamily="34" charset="-122"/>
                <a:ea typeface="Microsoft YaHei" panose="020B0503020204020204" pitchFamily="34" charset="-122"/>
              </a:rPr>
              <a:t>静态 </a:t>
            </a:r>
            <a:r>
              <a:rPr lang="en-US" altLang="zh-CN" sz="1650">
                <a:solidFill>
                  <a:srgbClr val="304553"/>
                </a:solidFill>
                <a:latin typeface="Microsoft YaHei" panose="020B0503020204020204" pitchFamily="34" charset="-122"/>
                <a:ea typeface="Microsoft YaHei" panose="020B0503020204020204" pitchFamily="34" charset="-122"/>
              </a:rPr>
              <a:t>FER </a:t>
            </a:r>
            <a:r>
              <a:rPr lang="zh-CN" altLang="en-US" sz="1650">
                <a:solidFill>
                  <a:srgbClr val="304553"/>
                </a:solidFill>
                <a:latin typeface="Microsoft YaHei" panose="020B0503020204020204" pitchFamily="34" charset="-122"/>
                <a:ea typeface="Microsoft YaHei" panose="020B0503020204020204" pitchFamily="34" charset="-122"/>
              </a:rPr>
              <a:t>与特定数据协议，项目模型输入和设备环境不同。</a:t>
            </a:r>
          </a:p>
        </p:txBody>
      </p:sp>
      <p:sp>
        <p:nvSpPr>
          <p:cNvPr id="9" name="文本框 8">
            <a:extLst>
              <a:ext uri="{FF2B5EF4-FFF2-40B4-BE49-F238E27FC236}">
                <a16:creationId xmlns:a16="http://schemas.microsoft.com/office/drawing/2014/main" id="{4DDE11AF-474C-B972-E501-A9CF9D626D08}"/>
              </a:ext>
            </a:extLst>
          </p:cNvPr>
          <p:cNvSpPr txBox="1"/>
          <p:nvPr/>
        </p:nvSpPr>
        <p:spPr>
          <a:xfrm>
            <a:off x="711200" y="4292600"/>
            <a:ext cx="10795000" cy="292388"/>
          </a:xfrm>
          <a:prstGeom prst="rect">
            <a:avLst/>
          </a:prstGeom>
          <a:noFill/>
        </p:spPr>
        <p:txBody>
          <a:bodyPr vert="horz" wrap="square" lIns="0" tIns="0" rIns="0" bIns="0" rtlCol="0">
            <a:spAutoFit/>
          </a:bodyPr>
          <a:lstStyle/>
          <a:p>
            <a:r>
              <a:rPr lang="zh-CN" altLang="en-US" sz="1900" b="1">
                <a:solidFill>
                  <a:srgbClr val="007F83"/>
                </a:solidFill>
                <a:latin typeface="Microsoft YaHei" panose="020B0503020204020204" pitchFamily="34" charset="-122"/>
                <a:ea typeface="Microsoft YaHei" panose="020B0503020204020204" pitchFamily="34" charset="-122"/>
              </a:rPr>
              <a:t>如何证明融合有用？</a:t>
            </a:r>
          </a:p>
        </p:txBody>
      </p:sp>
      <p:sp>
        <p:nvSpPr>
          <p:cNvPr id="10" name="文本框 9">
            <a:extLst>
              <a:ext uri="{FF2B5EF4-FFF2-40B4-BE49-F238E27FC236}">
                <a16:creationId xmlns:a16="http://schemas.microsoft.com/office/drawing/2014/main" id="{1353B904-3FA4-854F-02E2-9D45290C8DF4}"/>
              </a:ext>
            </a:extLst>
          </p:cNvPr>
          <p:cNvSpPr txBox="1"/>
          <p:nvPr/>
        </p:nvSpPr>
        <p:spPr>
          <a:xfrm>
            <a:off x="711200" y="4737100"/>
            <a:ext cx="10795000" cy="253916"/>
          </a:xfrm>
          <a:prstGeom prst="rect">
            <a:avLst/>
          </a:prstGeom>
          <a:noFill/>
        </p:spPr>
        <p:txBody>
          <a:bodyPr vert="horz" wrap="square" lIns="0" tIns="0" rIns="0" bIns="0" rtlCol="0">
            <a:spAutoFit/>
          </a:bodyPr>
          <a:lstStyle/>
          <a:p>
            <a:r>
              <a:rPr lang="zh-CN" altLang="en-US" sz="1650">
                <a:solidFill>
                  <a:srgbClr val="304553"/>
                </a:solidFill>
                <a:latin typeface="Microsoft YaHei" panose="020B0503020204020204" pitchFamily="34" charset="-122"/>
                <a:ea typeface="Microsoft YaHei" panose="020B0503020204020204" pitchFamily="34" charset="-122"/>
              </a:rPr>
              <a:t>用身份隔离的真实遮挡测试、干净图保持率、错误分析及 </a:t>
            </a:r>
            <a:r>
              <a:rPr lang="en-US" altLang="zh-CN" sz="1650">
                <a:solidFill>
                  <a:srgbClr val="304553"/>
                </a:solidFill>
                <a:latin typeface="Microsoft YaHei" panose="020B0503020204020204" pitchFamily="34" charset="-122"/>
                <a:ea typeface="Microsoft YaHei" panose="020B0503020204020204" pitchFamily="34" charset="-122"/>
              </a:rPr>
              <a:t>Android/HarmonyOS </a:t>
            </a:r>
            <a:r>
              <a:rPr lang="zh-CN" altLang="en-US" sz="1650">
                <a:solidFill>
                  <a:srgbClr val="304553"/>
                </a:solidFill>
                <a:latin typeface="Microsoft YaHei" panose="020B0503020204020204" pitchFamily="34" charset="-122"/>
                <a:ea typeface="Microsoft YaHei" panose="020B0503020204020204" pitchFamily="34" charset="-122"/>
              </a:rPr>
              <a:t>真机端到端数据。</a:t>
            </a:r>
          </a:p>
        </p:txBody>
      </p:sp>
    </p:spTree>
    <p:extLst>
      <p:ext uri="{BB962C8B-B14F-4D97-AF65-F5344CB8AC3E}">
        <p14:creationId xmlns:p14="http://schemas.microsoft.com/office/powerpoint/2010/main" val="3392951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902ED73-8DA0-D882-505B-9638F5EEB588}"/>
              </a:ext>
            </a:extLst>
          </p:cNvPr>
          <p:cNvSpPr txBox="1"/>
          <p:nvPr/>
        </p:nvSpPr>
        <p:spPr>
          <a:xfrm>
            <a:off x="660400" y="431800"/>
            <a:ext cx="10922000" cy="446276"/>
          </a:xfrm>
          <a:prstGeom prst="rect">
            <a:avLst/>
          </a:prstGeom>
          <a:noFill/>
        </p:spPr>
        <p:txBody>
          <a:bodyPr vert="horz" wrap="square" lIns="0" tIns="0" rIns="0" bIns="0" rtlCol="0">
            <a:spAutoFit/>
          </a:bodyPr>
          <a:lstStyle/>
          <a:p>
            <a:r>
              <a:rPr lang="zh-CN" altLang="en-US" sz="2900" b="1">
                <a:solidFill>
                  <a:srgbClr val="142D42"/>
                </a:solidFill>
                <a:latin typeface="Microsoft YaHei" panose="020B0503020204020204" pitchFamily="34" charset="-122"/>
                <a:ea typeface="Microsoft YaHei" panose="020B0503020204020204" pitchFamily="34" charset="-122"/>
              </a:rPr>
              <a:t>结论与参考</a:t>
            </a:r>
          </a:p>
        </p:txBody>
      </p:sp>
      <p:sp>
        <p:nvSpPr>
          <p:cNvPr id="3" name="文本框 2">
            <a:extLst>
              <a:ext uri="{FF2B5EF4-FFF2-40B4-BE49-F238E27FC236}">
                <a16:creationId xmlns:a16="http://schemas.microsoft.com/office/drawing/2014/main" id="{2472D34E-F5D9-CF3D-B8DC-82564EE62ED0}"/>
              </a:ext>
            </a:extLst>
          </p:cNvPr>
          <p:cNvSpPr txBox="1"/>
          <p:nvPr/>
        </p:nvSpPr>
        <p:spPr>
          <a:xfrm>
            <a:off x="660400" y="6451600"/>
            <a:ext cx="10160000" cy="146194"/>
          </a:xfrm>
          <a:prstGeom prst="rect">
            <a:avLst/>
          </a:prstGeom>
          <a:noFill/>
        </p:spPr>
        <p:txBody>
          <a:bodyPr vert="horz" wrap="square" lIns="0" tIns="0" rIns="0" bIns="0" rtlCol="0">
            <a:spAutoFit/>
          </a:bodyPr>
          <a:lstStyle/>
          <a:p>
            <a:r>
              <a:rPr lang="zh-CN" altLang="en-US" sz="950">
                <a:solidFill>
                  <a:srgbClr val="61737E"/>
                </a:solidFill>
                <a:latin typeface="Microsoft YaHei" panose="020B0503020204020204" pitchFamily="34" charset="-122"/>
                <a:ea typeface="Microsoft YaHei" panose="020B0503020204020204" pitchFamily="34" charset="-122"/>
              </a:rPr>
              <a:t>来源：</a:t>
            </a:r>
            <a:r>
              <a:rPr lang="en-US" altLang="zh-CN" sz="950">
                <a:solidFill>
                  <a:srgbClr val="61737E"/>
                </a:solidFill>
                <a:latin typeface="Microsoft YaHei" panose="020B0503020204020204" pitchFamily="34" charset="-122"/>
                <a:ea typeface="Microsoft YaHei" panose="020B0503020204020204" pitchFamily="34" charset="-122"/>
              </a:rPr>
              <a:t>Zhao et al., Sensors 2026, DOI 10.3390/s26175500</a:t>
            </a:r>
            <a:r>
              <a:rPr lang="zh-CN" altLang="en-US" sz="950">
                <a:solidFill>
                  <a:srgbClr val="61737E"/>
                </a:solidFill>
                <a:latin typeface="Microsoft YaHei" panose="020B0503020204020204" pitchFamily="34" charset="-122"/>
                <a:ea typeface="Microsoft YaHei" panose="020B0503020204020204" pitchFamily="34" charset="-122"/>
              </a:rPr>
              <a:t>；</a:t>
            </a:r>
            <a:r>
              <a:rPr lang="en-US" altLang="zh-CN" sz="950">
                <a:solidFill>
                  <a:srgbClr val="61737E"/>
                </a:solidFill>
                <a:latin typeface="Microsoft YaHei" panose="020B0503020204020204" pitchFamily="34" charset="-122"/>
                <a:ea typeface="Microsoft YaHei" panose="020B0503020204020204" pitchFamily="34" charset="-122"/>
              </a:rPr>
              <a:t>CampusMateAI </a:t>
            </a:r>
            <a:r>
              <a:rPr lang="zh-CN" altLang="en-US" sz="950">
                <a:solidFill>
                  <a:srgbClr val="61737E"/>
                </a:solidFill>
                <a:latin typeface="Microsoft YaHei" panose="020B0503020204020204" pitchFamily="34" charset="-122"/>
                <a:ea typeface="Microsoft YaHei" panose="020B0503020204020204" pitchFamily="34" charset="-122"/>
              </a:rPr>
              <a:t>仓库。</a:t>
            </a:r>
          </a:p>
        </p:txBody>
      </p:sp>
      <p:sp>
        <p:nvSpPr>
          <p:cNvPr id="4" name="文本框 3">
            <a:extLst>
              <a:ext uri="{FF2B5EF4-FFF2-40B4-BE49-F238E27FC236}">
                <a16:creationId xmlns:a16="http://schemas.microsoft.com/office/drawing/2014/main" id="{0E620FFB-7A82-4214-1C3A-53E03108303C}"/>
              </a:ext>
            </a:extLst>
          </p:cNvPr>
          <p:cNvSpPr txBox="1"/>
          <p:nvPr/>
        </p:nvSpPr>
        <p:spPr>
          <a:xfrm>
            <a:off x="11493500" y="6451600"/>
            <a:ext cx="381000" cy="153888"/>
          </a:xfrm>
          <a:prstGeom prst="rect">
            <a:avLst/>
          </a:prstGeom>
          <a:noFill/>
        </p:spPr>
        <p:txBody>
          <a:bodyPr vert="horz" wrap="square" lIns="0" tIns="0" rIns="0" bIns="0" rtlCol="0">
            <a:spAutoFit/>
          </a:bodyPr>
          <a:lstStyle/>
          <a:p>
            <a:pPr algn="r"/>
            <a:r>
              <a:rPr lang="en-US" altLang="zh-CN" sz="1000">
                <a:solidFill>
                  <a:srgbClr val="61737E"/>
                </a:solidFill>
                <a:latin typeface="Microsoft YaHei" panose="020B0503020204020204" pitchFamily="34" charset="-122"/>
                <a:ea typeface="Microsoft YaHei" panose="020B0503020204020204" pitchFamily="34" charset="-122"/>
              </a:rPr>
              <a:t>22</a:t>
            </a:r>
            <a:endParaRPr lang="zh-CN" altLang="en-US" sz="1000">
              <a:solidFill>
                <a:srgbClr val="61737E"/>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7F82EE77-0A0C-C23F-C54A-50D47C32BE61}"/>
              </a:ext>
            </a:extLst>
          </p:cNvPr>
          <p:cNvSpPr txBox="1"/>
          <p:nvPr/>
        </p:nvSpPr>
        <p:spPr>
          <a:xfrm>
            <a:off x="736600" y="1511300"/>
            <a:ext cx="10668000" cy="369332"/>
          </a:xfrm>
          <a:prstGeom prst="rect">
            <a:avLst/>
          </a:prstGeom>
          <a:noFill/>
        </p:spPr>
        <p:txBody>
          <a:bodyPr vert="horz" wrap="square" lIns="0" tIns="0" rIns="0" bIns="0" rtlCol="0">
            <a:spAutoFit/>
          </a:bodyPr>
          <a:lstStyle/>
          <a:p>
            <a:r>
              <a:rPr lang="en-US" altLang="zh-CN" sz="2400" b="1">
                <a:solidFill>
                  <a:srgbClr val="007F83"/>
                </a:solidFill>
                <a:latin typeface="Microsoft YaHei" panose="020B0503020204020204" pitchFamily="34" charset="-122"/>
                <a:ea typeface="Microsoft YaHei" panose="020B0503020204020204" pitchFamily="34" charset="-122"/>
              </a:rPr>
              <a:t>CA-HOFT </a:t>
            </a:r>
            <a:r>
              <a:rPr lang="zh-CN" altLang="en-US" sz="2400" b="1">
                <a:solidFill>
                  <a:srgbClr val="007F83"/>
                </a:solidFill>
                <a:latin typeface="Microsoft YaHei" panose="020B0503020204020204" pitchFamily="34" charset="-122"/>
                <a:ea typeface="Microsoft YaHei" panose="020B0503020204020204" pitchFamily="34" charset="-122"/>
              </a:rPr>
              <a:t>的可借鉴点</a:t>
            </a:r>
          </a:p>
        </p:txBody>
      </p:sp>
      <p:sp>
        <p:nvSpPr>
          <p:cNvPr id="6" name="文本框 5">
            <a:extLst>
              <a:ext uri="{FF2B5EF4-FFF2-40B4-BE49-F238E27FC236}">
                <a16:creationId xmlns:a16="http://schemas.microsoft.com/office/drawing/2014/main" id="{C054689C-96C3-DA17-4F05-5AE17FB2B1AD}"/>
              </a:ext>
            </a:extLst>
          </p:cNvPr>
          <p:cNvSpPr txBox="1"/>
          <p:nvPr/>
        </p:nvSpPr>
        <p:spPr>
          <a:xfrm>
            <a:off x="736600" y="2108200"/>
            <a:ext cx="10668000" cy="323165"/>
          </a:xfrm>
          <a:prstGeom prst="rect">
            <a:avLst/>
          </a:prstGeom>
          <a:noFill/>
        </p:spPr>
        <p:txBody>
          <a:bodyPr vert="horz" wrap="square" lIns="0" tIns="0" rIns="0" bIns="0" rtlCol="0">
            <a:spAutoFit/>
          </a:bodyPr>
          <a:lstStyle/>
          <a:p>
            <a:r>
              <a:rPr lang="zh-CN" altLang="en-US" sz="2100">
                <a:solidFill>
                  <a:srgbClr val="304553"/>
                </a:solidFill>
                <a:latin typeface="Microsoft YaHei" panose="020B0503020204020204" pitchFamily="34" charset="-122"/>
                <a:ea typeface="Microsoft YaHei" panose="020B0503020204020204" pitchFamily="34" charset="-122"/>
              </a:rPr>
              <a:t>训练时用干净视图与固定教师约束强遮挡学习；部署时保留单个学生网络。</a:t>
            </a:r>
          </a:p>
        </p:txBody>
      </p:sp>
      <p:sp>
        <p:nvSpPr>
          <p:cNvPr id="7" name="文本框 6">
            <a:extLst>
              <a:ext uri="{FF2B5EF4-FFF2-40B4-BE49-F238E27FC236}">
                <a16:creationId xmlns:a16="http://schemas.microsoft.com/office/drawing/2014/main" id="{9A41DE89-1D92-1976-75D5-0DAE26C6B27A}"/>
              </a:ext>
            </a:extLst>
          </p:cNvPr>
          <p:cNvSpPr txBox="1"/>
          <p:nvPr/>
        </p:nvSpPr>
        <p:spPr>
          <a:xfrm>
            <a:off x="736600" y="3530600"/>
            <a:ext cx="10668000" cy="369332"/>
          </a:xfrm>
          <a:prstGeom prst="rect">
            <a:avLst/>
          </a:prstGeom>
          <a:noFill/>
        </p:spPr>
        <p:txBody>
          <a:bodyPr vert="horz" wrap="square" lIns="0" tIns="0" rIns="0" bIns="0" rtlCol="0">
            <a:spAutoFit/>
          </a:bodyPr>
          <a:lstStyle/>
          <a:p>
            <a:r>
              <a:rPr lang="en-US" altLang="zh-CN" sz="2400" b="1">
                <a:solidFill>
                  <a:srgbClr val="007F83"/>
                </a:solidFill>
                <a:latin typeface="Microsoft YaHei" panose="020B0503020204020204" pitchFamily="34" charset="-122"/>
                <a:ea typeface="Microsoft YaHei" panose="020B0503020204020204" pitchFamily="34" charset="-122"/>
              </a:rPr>
              <a:t>CampusMateAI </a:t>
            </a:r>
            <a:r>
              <a:rPr lang="zh-CN" altLang="en-US" sz="2400" b="1">
                <a:solidFill>
                  <a:srgbClr val="007F83"/>
                </a:solidFill>
                <a:latin typeface="Microsoft YaHei" panose="020B0503020204020204" pitchFamily="34" charset="-122"/>
                <a:ea typeface="Microsoft YaHei" panose="020B0503020204020204" pitchFamily="34" charset="-122"/>
              </a:rPr>
              <a:t>的下一步</a:t>
            </a:r>
          </a:p>
        </p:txBody>
      </p:sp>
      <p:sp>
        <p:nvSpPr>
          <p:cNvPr id="8" name="文本框 7">
            <a:extLst>
              <a:ext uri="{FF2B5EF4-FFF2-40B4-BE49-F238E27FC236}">
                <a16:creationId xmlns:a16="http://schemas.microsoft.com/office/drawing/2014/main" id="{7C96EAA0-8B8F-21DF-F43E-7CF97419242B}"/>
              </a:ext>
            </a:extLst>
          </p:cNvPr>
          <p:cNvSpPr txBox="1"/>
          <p:nvPr/>
        </p:nvSpPr>
        <p:spPr>
          <a:xfrm>
            <a:off x="736600" y="4127500"/>
            <a:ext cx="10668000" cy="615553"/>
          </a:xfrm>
          <a:prstGeom prst="rect">
            <a:avLst/>
          </a:prstGeom>
          <a:noFill/>
        </p:spPr>
        <p:txBody>
          <a:bodyPr vert="horz" wrap="square" lIns="0" tIns="0" rIns="0" bIns="0" rtlCol="0">
            <a:spAutoFit/>
          </a:bodyPr>
          <a:lstStyle/>
          <a:p>
            <a:r>
              <a:rPr lang="zh-CN" altLang="en-US" sz="2000">
                <a:solidFill>
                  <a:srgbClr val="304553"/>
                </a:solidFill>
                <a:latin typeface="Microsoft YaHei" panose="020B0503020204020204" pitchFamily="34" charset="-122"/>
                <a:ea typeface="Microsoft YaHei" panose="020B0503020204020204" pitchFamily="34" charset="-122"/>
              </a:rPr>
              <a:t>完成 </a:t>
            </a:r>
            <a:r>
              <a:rPr lang="en-US" altLang="zh-CN" sz="2000">
                <a:solidFill>
                  <a:srgbClr val="304553"/>
                </a:solidFill>
                <a:latin typeface="Microsoft YaHei" panose="020B0503020204020204" pitchFamily="34" charset="-122"/>
                <a:ea typeface="Microsoft YaHei" panose="020B0503020204020204" pitchFamily="34" charset="-122"/>
              </a:rPr>
              <a:t>96×96 </a:t>
            </a:r>
            <a:r>
              <a:rPr lang="zh-CN" altLang="en-US" sz="2000">
                <a:solidFill>
                  <a:srgbClr val="304553"/>
                </a:solidFill>
                <a:latin typeface="Microsoft YaHei" panose="020B0503020204020204" pitchFamily="34" charset="-122"/>
                <a:ea typeface="Microsoft YaHei" panose="020B0503020204020204" pitchFamily="34" charset="-122"/>
              </a:rPr>
              <a:t>目标域对照、真实遮挡评估和 </a:t>
            </a:r>
            <a:r>
              <a:rPr lang="en-US" altLang="zh-CN" sz="2000">
                <a:solidFill>
                  <a:srgbClr val="304553"/>
                </a:solidFill>
                <a:latin typeface="Microsoft YaHei" panose="020B0503020204020204" pitchFamily="34" charset="-122"/>
                <a:ea typeface="Microsoft YaHei" panose="020B0503020204020204" pitchFamily="34" charset="-122"/>
              </a:rPr>
              <a:t>Android / HarmonyOS </a:t>
            </a:r>
            <a:r>
              <a:rPr lang="zh-CN" altLang="en-US" sz="2000">
                <a:solidFill>
                  <a:srgbClr val="304553"/>
                </a:solidFill>
                <a:latin typeface="Microsoft YaHei" panose="020B0503020204020204" pitchFamily="34" charset="-122"/>
                <a:ea typeface="Microsoft YaHei" panose="020B0503020204020204" pitchFamily="34" charset="-122"/>
              </a:rPr>
              <a:t>真机验收，再决定是否替换模型资产。</a:t>
            </a:r>
          </a:p>
        </p:txBody>
      </p:sp>
      <p:sp>
        <p:nvSpPr>
          <p:cNvPr id="9" name="文本框 8">
            <a:extLst>
              <a:ext uri="{FF2B5EF4-FFF2-40B4-BE49-F238E27FC236}">
                <a16:creationId xmlns:a16="http://schemas.microsoft.com/office/drawing/2014/main" id="{1933F22E-29A3-E5F2-8134-7F58FA0C5A2A}"/>
              </a:ext>
            </a:extLst>
          </p:cNvPr>
          <p:cNvSpPr txBox="1"/>
          <p:nvPr/>
        </p:nvSpPr>
        <p:spPr>
          <a:xfrm>
            <a:off x="736600" y="5803900"/>
            <a:ext cx="10668000" cy="200055"/>
          </a:xfrm>
          <a:prstGeom prst="rect">
            <a:avLst/>
          </a:prstGeom>
          <a:noFill/>
        </p:spPr>
        <p:txBody>
          <a:bodyPr vert="horz" wrap="square" lIns="0" tIns="0" rIns="0" bIns="0" rtlCol="0">
            <a:spAutoFit/>
          </a:bodyPr>
          <a:lstStyle/>
          <a:p>
            <a:r>
              <a:rPr lang="zh-CN" altLang="en-US" sz="1300">
                <a:solidFill>
                  <a:srgbClr val="61737E"/>
                </a:solidFill>
                <a:latin typeface="Microsoft YaHei" panose="020B0503020204020204" pitchFamily="34" charset="-122"/>
                <a:ea typeface="Microsoft YaHei" panose="020B0503020204020204" pitchFamily="34" charset="-122"/>
              </a:rPr>
              <a:t>论文 </a:t>
            </a:r>
            <a:r>
              <a:rPr lang="en-US" altLang="zh-CN" sz="1300">
                <a:solidFill>
                  <a:srgbClr val="61737E"/>
                </a:solidFill>
                <a:latin typeface="Microsoft YaHei" panose="020B0503020204020204" pitchFamily="34" charset="-122"/>
                <a:ea typeface="Microsoft YaHei" panose="020B0503020204020204" pitchFamily="34" charset="-122"/>
              </a:rPr>
              <a:t>DOI</a:t>
            </a:r>
            <a:r>
              <a:rPr lang="zh-CN" altLang="en-US" sz="1300">
                <a:solidFill>
                  <a:srgbClr val="61737E"/>
                </a:solidFill>
                <a:latin typeface="Microsoft YaHei" panose="020B0503020204020204" pitchFamily="34" charset="-122"/>
                <a:ea typeface="Microsoft YaHei" panose="020B0503020204020204" pitchFamily="34" charset="-122"/>
              </a:rPr>
              <a:t>：</a:t>
            </a:r>
            <a:r>
              <a:rPr lang="en-US" altLang="zh-CN" sz="1300">
                <a:solidFill>
                  <a:srgbClr val="61737E"/>
                </a:solidFill>
                <a:latin typeface="Microsoft YaHei" panose="020B0503020204020204" pitchFamily="34" charset="-122"/>
                <a:ea typeface="Microsoft YaHei" panose="020B0503020204020204" pitchFamily="34" charset="-122"/>
              </a:rPr>
              <a:t>10.3390/s26175500</a:t>
            </a:r>
            <a:endParaRPr lang="zh-CN" altLang="en-US" sz="1300">
              <a:solidFill>
                <a:srgbClr val="61737E"/>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31872542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5480</Words>
  <Application>Microsoft Office PowerPoint</Application>
  <PresentationFormat>自定义</PresentationFormat>
  <Paragraphs>435</Paragraphs>
  <Slides>22</Slides>
  <Notes>22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22</vt:i4>
      </vt:variant>
    </vt:vector>
  </HeadingPairs>
  <TitlesOfParts>
    <vt:vector size="27" baseType="lpstr">
      <vt:lpstr>等线</vt:lpstr>
      <vt:lpstr>等线 Light</vt:lpstr>
      <vt:lpstr>Microsoft YaHei</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EH Yao</dc:creator>
  <cp:lastModifiedBy>EH Yao</cp:lastModifiedBy>
  <cp:revision>1</cp:revision>
  <dcterms:created xsi:type="dcterms:W3CDTF">2026-09-27T12:47:24Z</dcterms:created>
  <dcterms:modified xsi:type="dcterms:W3CDTF">2026-09-27T12:47:24Z</dcterms:modified>
</cp:coreProperties>
</file>